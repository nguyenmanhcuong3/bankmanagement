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5"/>
  </p:notesMasterIdLst>
  <p:sldIdLst>
    <p:sldId id="265" r:id="rId4"/>
    <p:sldId id="258" r:id="rId5"/>
    <p:sldId id="266" r:id="rId6"/>
    <p:sldId id="268" r:id="rId7"/>
    <p:sldId id="267" r:id="rId8"/>
    <p:sldId id="270" r:id="rId9"/>
    <p:sldId id="271" r:id="rId10"/>
    <p:sldId id="272" r:id="rId11"/>
    <p:sldId id="273" r:id="rId12"/>
    <p:sldId id="274" r:id="rId13"/>
    <p:sldId id="275" r:id="rId14"/>
    <p:sldId id="276" r:id="rId16"/>
    <p:sldId id="281" r:id="rId17"/>
    <p:sldId id="277" r:id="rId18"/>
    <p:sldId id="278" r:id="rId19"/>
    <p:sldId id="279" r:id="rId20"/>
    <p:sldId id="26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3535"/>
    <a:srgbClr val="404040"/>
    <a:srgbClr val="202125"/>
    <a:srgbClr val="1A75EB"/>
    <a:srgbClr val="EA4335"/>
    <a:srgbClr val="3D81F4"/>
    <a:srgbClr val="FBBB01"/>
    <a:srgbClr val="2EA54E"/>
    <a:srgbClr val="F7B108"/>
    <a:srgbClr val="34A8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072" autoAdjust="0"/>
    <p:restoredTop sz="94660"/>
  </p:normalViewPr>
  <p:slideViewPr>
    <p:cSldViewPr snapToGrid="0">
      <p:cViewPr>
        <p:scale>
          <a:sx n="75" d="100"/>
          <a:sy n="75" d="100"/>
        </p:scale>
        <p:origin x="-58" y="2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notesMaster" Target="notesMasters/notes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26470453-EB2F-44BC-8DED-A0C95C6DBCD5}" type="datetimeFigureOut">
              <a:rPr lang="en-PH" smtClean="0"/>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Date Placeholder 3"/>
          <p:cNvSpPr>
            <a:spLocks noGrp="1"/>
          </p:cNvSpPr>
          <p:nvPr>
            <p:ph type="dt" sz="half" idx="10"/>
          </p:nvPr>
        </p:nvSpPr>
        <p:spPr/>
        <p:txBody>
          <a:bodyPr/>
          <a:lstStyle/>
          <a:p>
            <a:fld id="{26470453-EB2F-44BC-8DED-A0C95C6DBCD5}" type="datetimeFigureOut">
              <a:rPr lang="en-PH" smtClean="0"/>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6470453-EB2F-44BC-8DED-A0C95C6DBCD5}" type="datetimeFigureOut">
              <a:rPr lang="en-PH" smtClean="0"/>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5" name="Date Placeholder 4"/>
          <p:cNvSpPr>
            <a:spLocks noGrp="1"/>
          </p:cNvSpPr>
          <p:nvPr>
            <p:ph type="dt" sz="half" idx="10"/>
          </p:nvPr>
        </p:nvSpPr>
        <p:spPr/>
        <p:txBody>
          <a:bodyPr/>
          <a:lstStyle/>
          <a:p>
            <a:fld id="{26470453-EB2F-44BC-8DED-A0C95C6DBCD5}" type="datetimeFigureOut">
              <a:rPr lang="en-PH" smtClean="0"/>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7" name="Date Placeholder 6"/>
          <p:cNvSpPr>
            <a:spLocks noGrp="1"/>
          </p:cNvSpPr>
          <p:nvPr>
            <p:ph type="dt" sz="half" idx="10"/>
          </p:nvPr>
        </p:nvSpPr>
        <p:spPr/>
        <p:txBody>
          <a:bodyPr/>
          <a:lstStyle/>
          <a:p>
            <a:fld id="{26470453-EB2F-44BC-8DED-A0C95C6DBCD5}" type="datetimeFigureOut">
              <a:rPr lang="en-PH" smtClean="0"/>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26470453-EB2F-44BC-8DED-A0C95C6DBCD5}" type="datetimeFigureOut">
              <a:rPr lang="en-PH" smtClean="0"/>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470453-EB2F-44BC-8DED-A0C95C6DBCD5}" type="datetimeFigureOut">
              <a:rPr lang="en-PH" smtClean="0"/>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6470453-EB2F-44BC-8DED-A0C95C6DBCD5}" type="datetimeFigureOut">
              <a:rPr lang="en-PH" smtClean="0"/>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6470453-EB2F-44BC-8DED-A0C95C6DBCD5}" type="datetimeFigureOut">
              <a:rPr lang="en-PH" smtClean="0"/>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Date Placeholder 3"/>
          <p:cNvSpPr>
            <a:spLocks noGrp="1"/>
          </p:cNvSpPr>
          <p:nvPr>
            <p:ph type="dt" sz="half" idx="10"/>
          </p:nvPr>
        </p:nvSpPr>
        <p:spPr/>
        <p:txBody>
          <a:bodyPr/>
          <a:lstStyle/>
          <a:p>
            <a:fld id="{26470453-EB2F-44BC-8DED-A0C95C6DBCD5}" type="datetimeFigureOut">
              <a:rPr lang="en-PH" smtClean="0"/>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Date Placeholder 3"/>
          <p:cNvSpPr>
            <a:spLocks noGrp="1"/>
          </p:cNvSpPr>
          <p:nvPr>
            <p:ph type="dt" sz="half" idx="10"/>
          </p:nvPr>
        </p:nvSpPr>
        <p:spPr/>
        <p:txBody>
          <a:bodyPr/>
          <a:lstStyle/>
          <a:p>
            <a:fld id="{26470453-EB2F-44BC-8DED-A0C95C6DBCD5}" type="datetimeFigureOut">
              <a:rPr lang="en-PH" smtClean="0"/>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lIns="0" tIns="0" rIns="0" bIns="0">
            <a:normAutofit/>
          </a:bodyPr>
          <a:lstStyle>
            <a:lvl1pPr algn="l" fontAlgn="base">
              <a:defRPr sz="3200">
                <a:solidFill>
                  <a:schemeClr val="tx1">
                    <a:lumMod val="85000"/>
                    <a:lumOff val="15000"/>
                  </a:schemeClr>
                </a:solidFill>
                <a:latin typeface="Arial" panose="020B0604020202020204" pitchFamily="34" charset="0"/>
                <a:sym typeface="Arial" panose="020B0604020202020204" pitchFamily="34" charset="0"/>
              </a:defRPr>
            </a:lvl1pPr>
          </a:lstStyle>
          <a:p>
            <a:r>
              <a:rPr lang="en-US"/>
              <a:t>Click to add title</a:t>
            </a:r>
            <a:endParaRPr lang="en-US"/>
          </a:p>
        </p:txBody>
      </p:sp>
      <p:sp>
        <p:nvSpPr>
          <p:cNvPr id="3" name="日期占位符 2"/>
          <p:cNvSpPr>
            <a:spLocks noGrp="1"/>
          </p:cNvSpPr>
          <p:nvPr>
            <p:ph type="dt" sz="half" idx="10"/>
            <p:custDataLst>
              <p:tags r:id="rId3"/>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26470453-EB2F-44BC-8DED-A0C95C6DBCD5}" type="datetimeFigureOut">
              <a:rPr lang="en-PH" smtClean="0"/>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Date Placeholder 3"/>
          <p:cNvSpPr>
            <a:spLocks noGrp="1"/>
          </p:cNvSpPr>
          <p:nvPr>
            <p:ph type="dt" sz="half" idx="10"/>
          </p:nvPr>
        </p:nvSpPr>
        <p:spPr/>
        <p:txBody>
          <a:bodyPr/>
          <a:lstStyle/>
          <a:p>
            <a:fld id="{26470453-EB2F-44BC-8DED-A0C95C6DBCD5}" type="datetimeFigureOut">
              <a:rPr lang="en-PH" smtClean="0"/>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6470453-EB2F-44BC-8DED-A0C95C6DBCD5}" type="datetimeFigureOut">
              <a:rPr lang="en-PH" smtClean="0"/>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5" name="Date Placeholder 4"/>
          <p:cNvSpPr>
            <a:spLocks noGrp="1"/>
          </p:cNvSpPr>
          <p:nvPr>
            <p:ph type="dt" sz="half" idx="10"/>
          </p:nvPr>
        </p:nvSpPr>
        <p:spPr/>
        <p:txBody>
          <a:bodyPr/>
          <a:lstStyle/>
          <a:p>
            <a:fld id="{26470453-EB2F-44BC-8DED-A0C95C6DBCD5}" type="datetimeFigureOut">
              <a:rPr lang="en-PH" smtClean="0"/>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7" name="Date Placeholder 6"/>
          <p:cNvSpPr>
            <a:spLocks noGrp="1"/>
          </p:cNvSpPr>
          <p:nvPr>
            <p:ph type="dt" sz="half" idx="10"/>
          </p:nvPr>
        </p:nvSpPr>
        <p:spPr/>
        <p:txBody>
          <a:bodyPr/>
          <a:lstStyle/>
          <a:p>
            <a:fld id="{26470453-EB2F-44BC-8DED-A0C95C6DBCD5}" type="datetimeFigureOut">
              <a:rPr lang="en-PH" smtClean="0"/>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26470453-EB2F-44BC-8DED-A0C95C6DBCD5}" type="datetimeFigureOut">
              <a:rPr lang="en-PH" smtClean="0"/>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470453-EB2F-44BC-8DED-A0C95C6DBCD5}" type="datetimeFigureOut">
              <a:rPr lang="en-PH" smtClean="0"/>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6470453-EB2F-44BC-8DED-A0C95C6DBCD5}" type="datetimeFigureOut">
              <a:rPr lang="en-PH" smtClean="0"/>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6470453-EB2F-44BC-8DED-A0C95C6DBCD5}" type="datetimeFigureOut">
              <a:rPr lang="en-PH" smtClean="0"/>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Date Placeholder 3"/>
          <p:cNvSpPr>
            <a:spLocks noGrp="1"/>
          </p:cNvSpPr>
          <p:nvPr>
            <p:ph type="dt" sz="half" idx="10"/>
          </p:nvPr>
        </p:nvSpPr>
        <p:spPr/>
        <p:txBody>
          <a:bodyPr/>
          <a:lstStyle/>
          <a:p>
            <a:fld id="{26470453-EB2F-44BC-8DED-A0C95C6DBCD5}" type="datetimeFigureOut">
              <a:rPr lang="en-PH" smtClean="0"/>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Date Placeholder 3"/>
          <p:cNvSpPr>
            <a:spLocks noGrp="1"/>
          </p:cNvSpPr>
          <p:nvPr>
            <p:ph type="dt" sz="half" idx="10"/>
          </p:nvPr>
        </p:nvSpPr>
        <p:spPr/>
        <p:txBody>
          <a:bodyPr/>
          <a:lstStyle/>
          <a:p>
            <a:fld id="{26470453-EB2F-44BC-8DED-A0C95C6DBCD5}" type="datetimeFigureOut">
              <a:rPr lang="en-PH" smtClean="0"/>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5D923C1-D264-4B58-9885-80CD3DA42BF0}" type="slidenum">
              <a:rPr lang="en-PH" smtClean="0"/>
            </a:fld>
            <a:endParaRPr lang="en-PH"/>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470453-EB2F-44BC-8DED-A0C95C6DBCD5}" type="datetimeFigureOut">
              <a:rPr lang="en-PH" smtClean="0"/>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D923C1-D264-4B58-9885-80CD3DA42BF0}" type="slidenum">
              <a:rPr lang="en-PH" smtClean="0"/>
            </a:fld>
            <a:endParaRPr lang="en-PH"/>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470453-EB2F-44BC-8DED-A0C95C6DBCD5}" type="datetimeFigureOut">
              <a:rPr lang="en-PH" smtClean="0"/>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D923C1-D264-4B58-9885-80CD3DA42BF0}" type="slidenum">
              <a:rPr lang="en-PH" smtClean="0"/>
            </a:fld>
            <a:endParaRPr lang="en-PH"/>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jpeg"/><Relationship Id="rId8" Type="http://schemas.openxmlformats.org/officeDocument/2006/relationships/image" Target="../media/image8.jpeg"/><Relationship Id="rId7" Type="http://schemas.openxmlformats.org/officeDocument/2006/relationships/image" Target="../media/image7.jpeg"/><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svg"/><Relationship Id="rId12" Type="http://schemas.openxmlformats.org/officeDocument/2006/relationships/slideLayout" Target="../slideLayouts/slideLayout1.xml"/><Relationship Id="rId11" Type="http://schemas.microsoft.com/office/2007/relationships/hdphoto" Target="../media/image11.wdp"/><Relationship Id="rId10"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0.png"/><Relationship Id="rId8" Type="http://schemas.microsoft.com/office/2007/relationships/hdphoto" Target="../media/image13.wdp"/><Relationship Id="rId7" Type="http://schemas.openxmlformats.org/officeDocument/2006/relationships/image" Target="../media/image12.png"/><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2.svg"/><Relationship Id="rId14" Type="http://schemas.openxmlformats.org/officeDocument/2006/relationships/slideLayout" Target="../slideLayouts/slideLayout1.xml"/><Relationship Id="rId13" Type="http://schemas.openxmlformats.org/officeDocument/2006/relationships/image" Target="../media/image4.png"/><Relationship Id="rId12" Type="http://schemas.openxmlformats.org/officeDocument/2006/relationships/image" Target="../media/image3.png"/><Relationship Id="rId11" Type="http://schemas.openxmlformats.org/officeDocument/2006/relationships/image" Target="../media/image9.jpeg"/><Relationship Id="rId10" Type="http://schemas.microsoft.com/office/2007/relationships/hdphoto" Target="../media/image11.wdp"/><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microsoft.com/office/2007/relationships/hdphoto" Target="../media/image17.wdp"/><Relationship Id="rId3" Type="http://schemas.openxmlformats.org/officeDocument/2006/relationships/image" Target="../media/image16.png"/><Relationship Id="rId2" Type="http://schemas.microsoft.com/office/2007/relationships/hdphoto" Target="../media/image15.wdp"/><Relationship Id="rId12" Type="http://schemas.openxmlformats.org/officeDocument/2006/relationships/slideLayout" Target="../slideLayouts/slideLayout2.xml"/><Relationship Id="rId11" Type="http://schemas.openxmlformats.org/officeDocument/2006/relationships/image" Target="../media/image4.png"/><Relationship Id="rId10" Type="http://schemas.openxmlformats.org/officeDocument/2006/relationships/image" Target="../media/image3.png"/><Relationship Id="rId1" Type="http://schemas.openxmlformats.org/officeDocument/2006/relationships/image" Target="../media/image14.png"/></Relationships>
</file>

<file path=ppt/slides/_rels/slide4.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microsoft.com/office/2007/relationships/hdphoto" Target="../media/image17.wdp"/><Relationship Id="rId3" Type="http://schemas.openxmlformats.org/officeDocument/2006/relationships/image" Target="../media/image16.png"/><Relationship Id="rId2" Type="http://schemas.microsoft.com/office/2007/relationships/hdphoto" Target="../media/image15.wdp"/><Relationship Id="rId12" Type="http://schemas.openxmlformats.org/officeDocument/2006/relationships/slideLayout" Target="../slideLayouts/slideLayout2.xml"/><Relationship Id="rId11" Type="http://schemas.openxmlformats.org/officeDocument/2006/relationships/image" Target="../media/image4.png"/><Relationship Id="rId10" Type="http://schemas.openxmlformats.org/officeDocument/2006/relationships/image" Target="../media/image3.png"/><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microsoft.com/office/2007/relationships/hdphoto" Target="../media/image17.wdp"/><Relationship Id="rId3" Type="http://schemas.openxmlformats.org/officeDocument/2006/relationships/image" Target="../media/image16.png"/><Relationship Id="rId2" Type="http://schemas.openxmlformats.org/officeDocument/2006/relationships/image" Target="../media/image4.png"/><Relationship Id="rId10"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8.png"/><Relationship Id="rId2" Type="http://schemas.microsoft.com/office/2007/relationships/hdphoto" Target="../media/image17.wdp"/><Relationship Id="rId10" Type="http://schemas.openxmlformats.org/officeDocument/2006/relationships/slideLayout" Target="../slideLayouts/slideLayout2.xml"/><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8.png"/><Relationship Id="rId2" Type="http://schemas.microsoft.com/office/2007/relationships/hdphoto" Target="../media/image17.wdp"/><Relationship Id="rId10" Type="http://schemas.openxmlformats.org/officeDocument/2006/relationships/slideLayout" Target="../slideLayouts/slideLayout2.xml"/><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8.png"/><Relationship Id="rId2" Type="http://schemas.microsoft.com/office/2007/relationships/hdphoto" Target="../media/image17.wdp"/><Relationship Id="rId12" Type="http://schemas.openxmlformats.org/officeDocument/2006/relationships/slideLayout" Target="../slideLayouts/slideLayout2.xml"/><Relationship Id="rId11" Type="http://schemas.openxmlformats.org/officeDocument/2006/relationships/image" Target="../media/image24.png"/><Relationship Id="rId10" Type="http://schemas.openxmlformats.org/officeDocument/2006/relationships/image" Target="../media/image23.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jpeg"/><Relationship Id="rId7" Type="http://schemas.openxmlformats.org/officeDocument/2006/relationships/image" Target="../media/image19.png"/><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image17.wdp"/><Relationship Id="rId3" Type="http://schemas.openxmlformats.org/officeDocument/2006/relationships/image" Target="../media/image16.png"/><Relationship Id="rId2" Type="http://schemas.openxmlformats.org/officeDocument/2006/relationships/image" Target="../media/image24.png"/><Relationship Id="rId13" Type="http://schemas.openxmlformats.org/officeDocument/2006/relationships/slideLayout" Target="../slideLayouts/slideLayout2.xml"/><Relationship Id="rId12" Type="http://schemas.openxmlformats.org/officeDocument/2006/relationships/image" Target="../media/image29.png"/><Relationship Id="rId11" Type="http://schemas.openxmlformats.org/officeDocument/2006/relationships/image" Target="../media/image28.png"/><Relationship Id="rId10" Type="http://schemas.microsoft.com/office/2007/relationships/hdphoto" Target="../media/image27.wdp"/><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9" Type="http://schemas.microsoft.com/office/2007/relationships/hdphoto" Target="../media/image31.wdp"/><Relationship Id="rId8" Type="http://schemas.openxmlformats.org/officeDocument/2006/relationships/image" Target="../media/image30.png"/><Relationship Id="rId7" Type="http://schemas.openxmlformats.org/officeDocument/2006/relationships/image" Target="../media/image19.png"/><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image17.wdp"/><Relationship Id="rId3" Type="http://schemas.openxmlformats.org/officeDocument/2006/relationships/image" Target="../media/image16.png"/><Relationship Id="rId2" Type="http://schemas.openxmlformats.org/officeDocument/2006/relationships/image" Target="../media/image24.png"/><Relationship Id="rId16" Type="http://schemas.openxmlformats.org/officeDocument/2006/relationships/slideLayout" Target="../slideLayouts/slideLayout2.xml"/><Relationship Id="rId15" Type="http://schemas.microsoft.com/office/2007/relationships/hdphoto" Target="../media/image27.wdp"/><Relationship Id="rId14" Type="http://schemas.openxmlformats.org/officeDocument/2006/relationships/image" Target="../media/image26.png"/><Relationship Id="rId13" Type="http://schemas.openxmlformats.org/officeDocument/2006/relationships/image" Target="../media/image25.jpeg"/><Relationship Id="rId12" Type="http://schemas.openxmlformats.org/officeDocument/2006/relationships/image" Target="../media/image34.png"/><Relationship Id="rId11" Type="http://schemas.openxmlformats.org/officeDocument/2006/relationships/image" Target="../media/image33.png"/><Relationship Id="rId10" Type="http://schemas.openxmlformats.org/officeDocument/2006/relationships/image" Target="../media/image32.png"/><Relationship Id="rId1" Type="http://schemas.openxmlformats.org/officeDocument/2006/relationships/image" Target="../media/image23.png"/></Relationships>
</file>

<file path=ppt/slides/_rels/slide11.xml.rels><?xml version="1.0" encoding="UTF-8" standalone="yes"?>
<Relationships xmlns="http://schemas.openxmlformats.org/package/2006/relationships"><Relationship Id="rId9" Type="http://schemas.microsoft.com/office/2007/relationships/hdphoto" Target="../media/image31.wdp"/><Relationship Id="rId8" Type="http://schemas.openxmlformats.org/officeDocument/2006/relationships/image" Target="../media/image30.png"/><Relationship Id="rId7" Type="http://schemas.microsoft.com/office/2007/relationships/hdphoto" Target="../media/image27.wdp"/><Relationship Id="rId6" Type="http://schemas.openxmlformats.org/officeDocument/2006/relationships/image" Target="../media/image26.png"/><Relationship Id="rId5" Type="http://schemas.openxmlformats.org/officeDocument/2006/relationships/image" Target="../media/image25.jpeg"/><Relationship Id="rId4" Type="http://schemas.microsoft.com/office/2007/relationships/hdphoto" Target="../media/image17.wdp"/><Relationship Id="rId3" Type="http://schemas.openxmlformats.org/officeDocument/2006/relationships/image" Target="../media/image19.png"/><Relationship Id="rId2" Type="http://schemas.openxmlformats.org/officeDocument/2006/relationships/image" Target="../media/image4.png"/><Relationship Id="rId14" Type="http://schemas.openxmlformats.org/officeDocument/2006/relationships/notesSlide" Target="../notesSlides/notesSlide1.xml"/><Relationship Id="rId13" Type="http://schemas.openxmlformats.org/officeDocument/2006/relationships/slideLayout" Target="../slideLayouts/slideLayout2.xml"/><Relationship Id="rId12" Type="http://schemas.openxmlformats.org/officeDocument/2006/relationships/image" Target="../media/image34.png"/><Relationship Id="rId11" Type="http://schemas.openxmlformats.org/officeDocument/2006/relationships/image" Target="../media/image33.png"/><Relationship Id="rId10" Type="http://schemas.openxmlformats.org/officeDocument/2006/relationships/image" Target="../media/image32.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png"/><Relationship Id="rId7" Type="http://schemas.openxmlformats.org/officeDocument/2006/relationships/image" Target="../media/image32.png"/><Relationship Id="rId6" Type="http://schemas.microsoft.com/office/2007/relationships/hdphoto" Target="../media/image31.wdp"/><Relationship Id="rId5" Type="http://schemas.openxmlformats.org/officeDocument/2006/relationships/image" Target="../media/image30.png"/><Relationship Id="rId4" Type="http://schemas.microsoft.com/office/2007/relationships/hdphoto" Target="../media/image17.wdp"/><Relationship Id="rId3" Type="http://schemas.openxmlformats.org/officeDocument/2006/relationships/image" Target="../media/image19.png"/><Relationship Id="rId29" Type="http://schemas.openxmlformats.org/officeDocument/2006/relationships/slideLayout" Target="../slideLayouts/slideLayout2.xml"/><Relationship Id="rId28" Type="http://schemas.openxmlformats.org/officeDocument/2006/relationships/image" Target="../media/image50.svg"/><Relationship Id="rId27" Type="http://schemas.openxmlformats.org/officeDocument/2006/relationships/image" Target="../media/image49.png"/><Relationship Id="rId26" Type="http://schemas.openxmlformats.org/officeDocument/2006/relationships/image" Target="../media/image48.svg"/><Relationship Id="rId25" Type="http://schemas.openxmlformats.org/officeDocument/2006/relationships/image" Target="../media/image47.png"/><Relationship Id="rId24" Type="http://schemas.openxmlformats.org/officeDocument/2006/relationships/image" Target="../media/image46.svg"/><Relationship Id="rId23" Type="http://schemas.openxmlformats.org/officeDocument/2006/relationships/image" Target="../media/image45.png"/><Relationship Id="rId22" Type="http://schemas.openxmlformats.org/officeDocument/2006/relationships/image" Target="../media/image44.svg"/><Relationship Id="rId21" Type="http://schemas.openxmlformats.org/officeDocument/2006/relationships/image" Target="../media/image43.png"/><Relationship Id="rId20" Type="http://schemas.openxmlformats.org/officeDocument/2006/relationships/image" Target="../media/image42.svg"/><Relationship Id="rId2" Type="http://schemas.openxmlformats.org/officeDocument/2006/relationships/image" Target="../media/image4.png"/><Relationship Id="rId19" Type="http://schemas.openxmlformats.org/officeDocument/2006/relationships/image" Target="../media/image41.png"/><Relationship Id="rId18" Type="http://schemas.openxmlformats.org/officeDocument/2006/relationships/image" Target="../media/image40.svg"/><Relationship Id="rId17" Type="http://schemas.openxmlformats.org/officeDocument/2006/relationships/image" Target="../media/image39.png"/><Relationship Id="rId16" Type="http://schemas.openxmlformats.org/officeDocument/2006/relationships/image" Target="../media/image38.svg"/><Relationship Id="rId15" Type="http://schemas.openxmlformats.org/officeDocument/2006/relationships/image" Target="../media/image37.png"/><Relationship Id="rId14" Type="http://schemas.openxmlformats.org/officeDocument/2006/relationships/image" Target="../media/image36.svg"/><Relationship Id="rId13" Type="http://schemas.openxmlformats.org/officeDocument/2006/relationships/image" Target="../media/image35.png"/><Relationship Id="rId12" Type="http://schemas.microsoft.com/office/2007/relationships/hdphoto" Target="../media/image27.wdp"/><Relationship Id="rId11" Type="http://schemas.openxmlformats.org/officeDocument/2006/relationships/image" Target="../media/image26.png"/><Relationship Id="rId10" Type="http://schemas.openxmlformats.org/officeDocument/2006/relationships/image" Target="../media/image25.jpe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png"/><Relationship Id="rId7" Type="http://schemas.openxmlformats.org/officeDocument/2006/relationships/image" Target="../media/image32.png"/><Relationship Id="rId6" Type="http://schemas.microsoft.com/office/2007/relationships/hdphoto" Target="../media/image31.wdp"/><Relationship Id="rId5" Type="http://schemas.openxmlformats.org/officeDocument/2006/relationships/image" Target="../media/image30.png"/><Relationship Id="rId4" Type="http://schemas.microsoft.com/office/2007/relationships/hdphoto" Target="../media/image17.wdp"/><Relationship Id="rId30" Type="http://schemas.openxmlformats.org/officeDocument/2006/relationships/slideLayout" Target="../slideLayouts/slideLayout14.xml"/><Relationship Id="rId3" Type="http://schemas.openxmlformats.org/officeDocument/2006/relationships/image" Target="../media/image19.png"/><Relationship Id="rId29" Type="http://schemas.openxmlformats.org/officeDocument/2006/relationships/image" Target="../media/image51.png"/><Relationship Id="rId28" Type="http://schemas.openxmlformats.org/officeDocument/2006/relationships/image" Target="../media/image50.svg"/><Relationship Id="rId27" Type="http://schemas.openxmlformats.org/officeDocument/2006/relationships/image" Target="../media/image49.png"/><Relationship Id="rId26" Type="http://schemas.openxmlformats.org/officeDocument/2006/relationships/image" Target="../media/image48.svg"/><Relationship Id="rId25" Type="http://schemas.openxmlformats.org/officeDocument/2006/relationships/image" Target="../media/image47.png"/><Relationship Id="rId24" Type="http://schemas.openxmlformats.org/officeDocument/2006/relationships/image" Target="../media/image46.svg"/><Relationship Id="rId23" Type="http://schemas.openxmlformats.org/officeDocument/2006/relationships/image" Target="../media/image45.png"/><Relationship Id="rId22" Type="http://schemas.openxmlformats.org/officeDocument/2006/relationships/image" Target="../media/image44.svg"/><Relationship Id="rId21" Type="http://schemas.openxmlformats.org/officeDocument/2006/relationships/image" Target="../media/image43.png"/><Relationship Id="rId20" Type="http://schemas.openxmlformats.org/officeDocument/2006/relationships/image" Target="../media/image42.svg"/><Relationship Id="rId2" Type="http://schemas.openxmlformats.org/officeDocument/2006/relationships/image" Target="../media/image4.png"/><Relationship Id="rId19" Type="http://schemas.openxmlformats.org/officeDocument/2006/relationships/image" Target="../media/image41.png"/><Relationship Id="rId18" Type="http://schemas.openxmlformats.org/officeDocument/2006/relationships/image" Target="../media/image40.svg"/><Relationship Id="rId17" Type="http://schemas.openxmlformats.org/officeDocument/2006/relationships/image" Target="../media/image39.png"/><Relationship Id="rId16" Type="http://schemas.openxmlformats.org/officeDocument/2006/relationships/image" Target="../media/image38.svg"/><Relationship Id="rId15" Type="http://schemas.openxmlformats.org/officeDocument/2006/relationships/image" Target="../media/image37.png"/><Relationship Id="rId14" Type="http://schemas.openxmlformats.org/officeDocument/2006/relationships/image" Target="../media/image36.svg"/><Relationship Id="rId13" Type="http://schemas.openxmlformats.org/officeDocument/2006/relationships/image" Target="../media/image35.png"/><Relationship Id="rId12" Type="http://schemas.microsoft.com/office/2007/relationships/hdphoto" Target="../media/image27.wdp"/><Relationship Id="rId11" Type="http://schemas.openxmlformats.org/officeDocument/2006/relationships/image" Target="../media/image26.png"/><Relationship Id="rId10" Type="http://schemas.openxmlformats.org/officeDocument/2006/relationships/image" Target="../media/image25.jpe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png"/><Relationship Id="rId7" Type="http://schemas.openxmlformats.org/officeDocument/2006/relationships/image" Target="../media/image32.png"/><Relationship Id="rId6" Type="http://schemas.microsoft.com/office/2007/relationships/hdphoto" Target="../media/image31.wdp"/><Relationship Id="rId5" Type="http://schemas.openxmlformats.org/officeDocument/2006/relationships/image" Target="../media/image30.png"/><Relationship Id="rId4" Type="http://schemas.microsoft.com/office/2007/relationships/hdphoto" Target="../media/image17.wdp"/><Relationship Id="rId3" Type="http://schemas.openxmlformats.org/officeDocument/2006/relationships/image" Target="../media/image19.png"/><Relationship Id="rId27" Type="http://schemas.openxmlformats.org/officeDocument/2006/relationships/slideLayout" Target="../slideLayouts/slideLayout2.xml"/><Relationship Id="rId26" Type="http://schemas.openxmlformats.org/officeDocument/2006/relationships/image" Target="../media/image50.svg"/><Relationship Id="rId25" Type="http://schemas.openxmlformats.org/officeDocument/2006/relationships/image" Target="../media/image49.png"/><Relationship Id="rId24" Type="http://schemas.openxmlformats.org/officeDocument/2006/relationships/image" Target="../media/image48.svg"/><Relationship Id="rId23" Type="http://schemas.openxmlformats.org/officeDocument/2006/relationships/image" Target="../media/image47.png"/><Relationship Id="rId22" Type="http://schemas.openxmlformats.org/officeDocument/2006/relationships/image" Target="../media/image46.svg"/><Relationship Id="rId21" Type="http://schemas.openxmlformats.org/officeDocument/2006/relationships/image" Target="../media/image45.png"/><Relationship Id="rId20" Type="http://schemas.openxmlformats.org/officeDocument/2006/relationships/image" Target="../media/image44.svg"/><Relationship Id="rId2" Type="http://schemas.openxmlformats.org/officeDocument/2006/relationships/image" Target="../media/image4.png"/><Relationship Id="rId19" Type="http://schemas.openxmlformats.org/officeDocument/2006/relationships/image" Target="../media/image43.png"/><Relationship Id="rId18" Type="http://schemas.openxmlformats.org/officeDocument/2006/relationships/image" Target="../media/image42.svg"/><Relationship Id="rId17" Type="http://schemas.openxmlformats.org/officeDocument/2006/relationships/image" Target="../media/image41.png"/><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image" Target="../media/image38.svg"/><Relationship Id="rId13" Type="http://schemas.openxmlformats.org/officeDocument/2006/relationships/image" Target="../media/image37.png"/><Relationship Id="rId12" Type="http://schemas.openxmlformats.org/officeDocument/2006/relationships/image" Target="../media/image36.svg"/><Relationship Id="rId11" Type="http://schemas.openxmlformats.org/officeDocument/2006/relationships/image" Target="../media/image35.png"/><Relationship Id="rId10" Type="http://schemas.openxmlformats.org/officeDocument/2006/relationships/image" Target="../media/image25.jpe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38.svg"/><Relationship Id="rId7" Type="http://schemas.openxmlformats.org/officeDocument/2006/relationships/image" Target="../media/image37.png"/><Relationship Id="rId6" Type="http://schemas.openxmlformats.org/officeDocument/2006/relationships/image" Target="../media/image36.svg"/><Relationship Id="rId5" Type="http://schemas.openxmlformats.org/officeDocument/2006/relationships/image" Target="../media/image35.png"/><Relationship Id="rId4" Type="http://schemas.microsoft.com/office/2007/relationships/hdphoto" Target="../media/image17.wdp"/><Relationship Id="rId3" Type="http://schemas.openxmlformats.org/officeDocument/2006/relationships/image" Target="../media/image19.png"/><Relationship Id="rId26" Type="http://schemas.openxmlformats.org/officeDocument/2006/relationships/slideLayout" Target="../slideLayouts/slideLayout2.xml"/><Relationship Id="rId25" Type="http://schemas.openxmlformats.org/officeDocument/2006/relationships/image" Target="../media/image54.png"/><Relationship Id="rId24" Type="http://schemas.openxmlformats.org/officeDocument/2006/relationships/image" Target="../media/image24.png"/><Relationship Id="rId23" Type="http://schemas.openxmlformats.org/officeDocument/2006/relationships/image" Target="../media/image23.png"/><Relationship Id="rId22" Type="http://schemas.openxmlformats.org/officeDocument/2006/relationships/image" Target="../media/image53.png"/><Relationship Id="rId21" Type="http://schemas.openxmlformats.org/officeDocument/2006/relationships/image" Target="../media/image52.png"/><Relationship Id="rId20" Type="http://schemas.openxmlformats.org/officeDocument/2006/relationships/image" Target="../media/image50.svg"/><Relationship Id="rId2" Type="http://schemas.openxmlformats.org/officeDocument/2006/relationships/image" Target="../media/image4.png"/><Relationship Id="rId19" Type="http://schemas.openxmlformats.org/officeDocument/2006/relationships/image" Target="../media/image49.png"/><Relationship Id="rId18" Type="http://schemas.openxmlformats.org/officeDocument/2006/relationships/image" Target="../media/image48.svg"/><Relationship Id="rId17" Type="http://schemas.openxmlformats.org/officeDocument/2006/relationships/image" Target="../media/image47.png"/><Relationship Id="rId16" Type="http://schemas.openxmlformats.org/officeDocument/2006/relationships/image" Target="../media/image46.svg"/><Relationship Id="rId15" Type="http://schemas.openxmlformats.org/officeDocument/2006/relationships/image" Target="../media/image45.png"/><Relationship Id="rId14" Type="http://schemas.openxmlformats.org/officeDocument/2006/relationships/image" Target="../media/image44.svg"/><Relationship Id="rId13" Type="http://schemas.openxmlformats.org/officeDocument/2006/relationships/image" Target="../media/image43.png"/><Relationship Id="rId12" Type="http://schemas.openxmlformats.org/officeDocument/2006/relationships/image" Target="../media/image42.svg"/><Relationship Id="rId11" Type="http://schemas.openxmlformats.org/officeDocument/2006/relationships/image" Target="../media/image41.png"/><Relationship Id="rId10" Type="http://schemas.openxmlformats.org/officeDocument/2006/relationships/image" Target="../media/image40.sv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38.svg"/><Relationship Id="rId7" Type="http://schemas.openxmlformats.org/officeDocument/2006/relationships/image" Target="../media/image37.png"/><Relationship Id="rId6" Type="http://schemas.openxmlformats.org/officeDocument/2006/relationships/image" Target="../media/image36.svg"/><Relationship Id="rId5" Type="http://schemas.openxmlformats.org/officeDocument/2006/relationships/image" Target="../media/image35.png"/><Relationship Id="rId4" Type="http://schemas.microsoft.com/office/2007/relationships/hdphoto" Target="../media/image17.wdp"/><Relationship Id="rId3" Type="http://schemas.openxmlformats.org/officeDocument/2006/relationships/image" Target="../media/image19.png"/><Relationship Id="rId27" Type="http://schemas.openxmlformats.org/officeDocument/2006/relationships/slideLayout" Target="../slideLayouts/slideLayout2.xml"/><Relationship Id="rId26" Type="http://schemas.openxmlformats.org/officeDocument/2006/relationships/image" Target="../media/image25.jpeg"/><Relationship Id="rId25" Type="http://schemas.openxmlformats.org/officeDocument/2006/relationships/image" Target="../media/image54.png"/><Relationship Id="rId24" Type="http://schemas.openxmlformats.org/officeDocument/2006/relationships/image" Target="../media/image24.png"/><Relationship Id="rId23" Type="http://schemas.openxmlformats.org/officeDocument/2006/relationships/image" Target="../media/image23.png"/><Relationship Id="rId22" Type="http://schemas.openxmlformats.org/officeDocument/2006/relationships/image" Target="../media/image53.png"/><Relationship Id="rId21" Type="http://schemas.openxmlformats.org/officeDocument/2006/relationships/image" Target="../media/image52.png"/><Relationship Id="rId20" Type="http://schemas.openxmlformats.org/officeDocument/2006/relationships/image" Target="../media/image50.svg"/><Relationship Id="rId2" Type="http://schemas.openxmlformats.org/officeDocument/2006/relationships/image" Target="../media/image4.png"/><Relationship Id="rId19" Type="http://schemas.openxmlformats.org/officeDocument/2006/relationships/image" Target="../media/image49.png"/><Relationship Id="rId18" Type="http://schemas.openxmlformats.org/officeDocument/2006/relationships/image" Target="../media/image48.svg"/><Relationship Id="rId17" Type="http://schemas.openxmlformats.org/officeDocument/2006/relationships/image" Target="../media/image47.png"/><Relationship Id="rId16" Type="http://schemas.openxmlformats.org/officeDocument/2006/relationships/image" Target="../media/image46.svg"/><Relationship Id="rId15" Type="http://schemas.openxmlformats.org/officeDocument/2006/relationships/image" Target="../media/image45.png"/><Relationship Id="rId14" Type="http://schemas.openxmlformats.org/officeDocument/2006/relationships/image" Target="../media/image44.svg"/><Relationship Id="rId13" Type="http://schemas.openxmlformats.org/officeDocument/2006/relationships/image" Target="../media/image43.png"/><Relationship Id="rId12" Type="http://schemas.openxmlformats.org/officeDocument/2006/relationships/image" Target="../media/image42.svg"/><Relationship Id="rId11" Type="http://schemas.openxmlformats.org/officeDocument/2006/relationships/image" Target="../media/image41.png"/><Relationship Id="rId10" Type="http://schemas.openxmlformats.org/officeDocument/2006/relationships/image" Target="../media/image40.sv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image" Target="../media/image44.svg"/><Relationship Id="rId7" Type="http://schemas.openxmlformats.org/officeDocument/2006/relationships/image" Target="../media/image43.png"/><Relationship Id="rId6" Type="http://schemas.openxmlformats.org/officeDocument/2006/relationships/image" Target="../media/image38.svg"/><Relationship Id="rId5" Type="http://schemas.openxmlformats.org/officeDocument/2006/relationships/image" Target="../media/image37.png"/><Relationship Id="rId4" Type="http://schemas.microsoft.com/office/2007/relationships/hdphoto" Target="../media/image17.wdp"/><Relationship Id="rId3" Type="http://schemas.openxmlformats.org/officeDocument/2006/relationships/image" Target="../media/image19.png"/><Relationship Id="rId27" Type="http://schemas.openxmlformats.org/officeDocument/2006/relationships/slideLayout" Target="../slideLayouts/slideLayout1.xml"/><Relationship Id="rId26" Type="http://schemas.openxmlformats.org/officeDocument/2006/relationships/image" Target="../media/image25.jpeg"/><Relationship Id="rId25" Type="http://schemas.openxmlformats.org/officeDocument/2006/relationships/image" Target="../media/image54.png"/><Relationship Id="rId24" Type="http://schemas.openxmlformats.org/officeDocument/2006/relationships/image" Target="../media/image24.png"/><Relationship Id="rId23" Type="http://schemas.openxmlformats.org/officeDocument/2006/relationships/image" Target="../media/image23.png"/><Relationship Id="rId22" Type="http://schemas.openxmlformats.org/officeDocument/2006/relationships/image" Target="../media/image53.png"/><Relationship Id="rId21" Type="http://schemas.openxmlformats.org/officeDocument/2006/relationships/image" Target="../media/image52.png"/><Relationship Id="rId20" Type="http://schemas.openxmlformats.org/officeDocument/2006/relationships/image" Target="../media/image48.svg"/><Relationship Id="rId2" Type="http://schemas.openxmlformats.org/officeDocument/2006/relationships/image" Target="../media/image4.png"/><Relationship Id="rId19" Type="http://schemas.openxmlformats.org/officeDocument/2006/relationships/image" Target="../media/image47.png"/><Relationship Id="rId18" Type="http://schemas.openxmlformats.org/officeDocument/2006/relationships/image" Target="../media/image42.svg"/><Relationship Id="rId17" Type="http://schemas.openxmlformats.org/officeDocument/2006/relationships/image" Target="../media/image41.png"/><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image" Target="../media/image36.svg"/><Relationship Id="rId13" Type="http://schemas.openxmlformats.org/officeDocument/2006/relationships/image" Target="../media/image35.png"/><Relationship Id="rId12" Type="http://schemas.openxmlformats.org/officeDocument/2006/relationships/image" Target="../media/image50.svg"/><Relationship Id="rId11" Type="http://schemas.openxmlformats.org/officeDocument/2006/relationships/image" Target="../media/image49.png"/><Relationship Id="rId10" Type="http://schemas.openxmlformats.org/officeDocument/2006/relationships/image" Target="../media/image46.sv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16" name="TextBox 15"/>
          <p:cNvSpPr txBox="1"/>
          <p:nvPr/>
        </p:nvSpPr>
        <p:spPr>
          <a:xfrm>
            <a:off x="2553534" y="2428726"/>
            <a:ext cx="7086201" cy="1568450"/>
          </a:xfrm>
          <a:prstGeom prst="rect">
            <a:avLst/>
          </a:prstGeom>
          <a:noFill/>
        </p:spPr>
        <p:txBody>
          <a:bodyPr wrap="square" rtlCol="0">
            <a:spAutoFit/>
          </a:bodyPr>
          <a:lstStyle/>
          <a:p>
            <a:pPr algn="ctr"/>
            <a:r>
              <a:rPr lang="vi-VN" altLang="en-PH" sz="9600" b="1">
                <a:gradFill>
                  <a:gsLst>
                    <a:gs pos="0">
                      <a:srgbClr val="FBFB11"/>
                    </a:gs>
                    <a:gs pos="100000">
                      <a:srgbClr val="838309"/>
                    </a:gs>
                  </a:gsLst>
                  <a:lin scaled="0"/>
                </a:gradFill>
                <a:latin typeface="Times New Roman" panose="02020603050405020304" charset="0"/>
                <a:cs typeface="Times New Roman" panose="02020603050405020304" charset="0"/>
              </a:rPr>
              <a:t>Nhóm</a:t>
            </a:r>
            <a:r>
              <a:rPr lang="vi-VN" altLang="en-PH" sz="9600" b="1">
                <a:solidFill>
                  <a:srgbClr val="4285F4"/>
                </a:solidFill>
                <a:latin typeface="Times New Roman" panose="02020603050405020304" charset="0"/>
                <a:cs typeface="Times New Roman" panose="02020603050405020304" charset="0"/>
              </a:rPr>
              <a:t> </a:t>
            </a:r>
            <a:r>
              <a:rPr lang="vi-VN" altLang="en-PH" sz="9600" b="1">
                <a:gradFill>
                  <a:gsLst>
                    <a:gs pos="0">
                      <a:srgbClr val="14CD68"/>
                    </a:gs>
                    <a:gs pos="100000">
                      <a:srgbClr val="0B6E38"/>
                    </a:gs>
                  </a:gsLst>
                  <a:lin scaled="0"/>
                </a:gradFill>
                <a:latin typeface="Times New Roman" panose="02020603050405020304" charset="0"/>
                <a:cs typeface="Times New Roman" panose="02020603050405020304" charset="0"/>
              </a:rPr>
              <a:t>10</a:t>
            </a:r>
            <a:endParaRPr lang="vi-VN" altLang="en-PH" sz="9600" b="1">
              <a:gradFill>
                <a:gsLst>
                  <a:gs pos="0">
                    <a:srgbClr val="14CD68"/>
                  </a:gs>
                  <a:gs pos="100000">
                    <a:srgbClr val="0B6E38"/>
                  </a:gs>
                </a:gsLst>
                <a:lin scaled="0"/>
              </a:gradFill>
              <a:latin typeface="Times New Roman" panose="02020603050405020304" charset="0"/>
              <a:cs typeface="Times New Roman" panose="02020603050405020304" charset="0"/>
            </a:endParaRPr>
          </a:p>
        </p:txBody>
      </p:sp>
      <p:grpSp>
        <p:nvGrpSpPr>
          <p:cNvPr id="21" name="Group 20"/>
          <p:cNvGrpSpPr/>
          <p:nvPr/>
        </p:nvGrpSpPr>
        <p:grpSpPr>
          <a:xfrm>
            <a:off x="12739775" y="5734052"/>
            <a:ext cx="1269276" cy="338554"/>
            <a:chOff x="10072775" y="5734052"/>
            <a:chExt cx="1269276" cy="338554"/>
          </a:xfrm>
        </p:grpSpPr>
        <p:sp>
          <p:nvSpPr>
            <p:cNvPr id="26" name="Rectangle: Rounded Corners 25"/>
            <p:cNvSpPr/>
            <p:nvPr/>
          </p:nvSpPr>
          <p:spPr>
            <a:xfrm>
              <a:off x="10072775" y="5734052"/>
              <a:ext cx="1222928" cy="338554"/>
            </a:xfrm>
            <a:prstGeom prst="roundRect">
              <a:avLst>
                <a:gd name="adj" fmla="val 41127"/>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27" name="Group 26"/>
            <p:cNvGrpSpPr/>
            <p:nvPr/>
          </p:nvGrpSpPr>
          <p:grpSpPr>
            <a:xfrm>
              <a:off x="10207193" y="5749440"/>
              <a:ext cx="1134858" cy="307777"/>
              <a:chOff x="10207193" y="5749440"/>
              <a:chExt cx="1134858" cy="307777"/>
            </a:xfrm>
          </p:grpSpPr>
          <p:pic>
            <p:nvPicPr>
              <p:cNvPr id="28" name="Graphic 27" descr="Pencil with solid fill"/>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07193" y="5812945"/>
                <a:ext cx="180768" cy="180768"/>
              </a:xfrm>
              <a:prstGeom prst="rect">
                <a:avLst/>
              </a:prstGeom>
            </p:spPr>
          </p:pic>
          <p:sp>
            <p:nvSpPr>
              <p:cNvPr id="29" name="TextBox 28"/>
              <p:cNvSpPr txBox="1"/>
              <p:nvPr/>
            </p:nvSpPr>
            <p:spPr>
              <a:xfrm>
                <a:off x="10330373" y="5749440"/>
                <a:ext cx="1011678" cy="307777"/>
              </a:xfrm>
              <a:prstGeom prst="rect">
                <a:avLst/>
              </a:prstGeom>
              <a:noFill/>
            </p:spPr>
            <p:txBody>
              <a:bodyPr wrap="square" rtlCol="0">
                <a:spAutoFit/>
              </a:bodyPr>
              <a:lstStyle/>
              <a:p>
                <a:r>
                  <a:rPr lang="en-PH" sz="1400" dirty="0">
                    <a:solidFill>
                      <a:srgbClr val="4285F4"/>
                    </a:solidFill>
                    <a:latin typeface="+mj-lt"/>
                  </a:rPr>
                  <a:t>Your Team</a:t>
                </a:r>
                <a:endParaRPr lang="en-PH" sz="1400" dirty="0">
                  <a:solidFill>
                    <a:srgbClr val="4285F4"/>
                  </a:solidFill>
                  <a:latin typeface="+mj-lt"/>
                </a:endParaRPr>
              </a:p>
            </p:txBody>
          </p:sp>
        </p:grpSp>
      </p:grpSp>
      <p:grpSp>
        <p:nvGrpSpPr>
          <p:cNvPr id="47" name="Group 46"/>
          <p:cNvGrpSpPr/>
          <p:nvPr/>
        </p:nvGrpSpPr>
        <p:grpSpPr>
          <a:xfrm>
            <a:off x="-7370249" y="3178395"/>
            <a:ext cx="6654018" cy="550671"/>
            <a:chOff x="2768991" y="3077691"/>
            <a:chExt cx="6654018" cy="550671"/>
          </a:xfrm>
        </p:grpSpPr>
        <p:sp>
          <p:nvSpPr>
            <p:cNvPr id="48" name="Rectangle: Rounded Corners 47"/>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49" name="Picture 48"/>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50" name="Picture 49" descr="Icon&#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grpSp>
        <p:nvGrpSpPr>
          <p:cNvPr id="52" name="Group 51"/>
          <p:cNvGrpSpPr/>
          <p:nvPr/>
        </p:nvGrpSpPr>
        <p:grpSpPr>
          <a:xfrm>
            <a:off x="3679967" y="7955003"/>
            <a:ext cx="890613" cy="1142476"/>
            <a:chOff x="3679967" y="4315691"/>
            <a:chExt cx="890613" cy="1142476"/>
          </a:xfrm>
        </p:grpSpPr>
        <p:sp>
          <p:nvSpPr>
            <p:cNvPr id="53" name="Oval 52"/>
            <p:cNvSpPr/>
            <p:nvPr/>
          </p:nvSpPr>
          <p:spPr>
            <a:xfrm>
              <a:off x="3776803" y="4315691"/>
              <a:ext cx="696943" cy="679269"/>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4" name="TextBox 53"/>
            <p:cNvSpPr txBox="1"/>
            <p:nvPr/>
          </p:nvSpPr>
          <p:spPr>
            <a:xfrm>
              <a:off x="3679967" y="5088835"/>
              <a:ext cx="890613" cy="369332"/>
            </a:xfrm>
            <a:prstGeom prst="rect">
              <a:avLst/>
            </a:prstGeom>
            <a:noFill/>
          </p:spPr>
          <p:txBody>
            <a:bodyPr wrap="square" rtlCol="0">
              <a:spAutoFit/>
            </a:bodyPr>
            <a:lstStyle/>
            <a:p>
              <a:pPr algn="ctr"/>
              <a:r>
                <a:rPr lang="en-US">
                  <a:solidFill>
                    <a:schemeClr val="bg1"/>
                  </a:solidFill>
                  <a:latin typeface="Arial" panose="020B0604020202020204" pitchFamily="34" charset="0"/>
                  <a:cs typeface="Arial" panose="020B0604020202020204" pitchFamily="34" charset="0"/>
                </a:rPr>
                <a:t>Tên</a:t>
              </a:r>
              <a:r>
                <a:rPr lang="en-US">
                  <a:latin typeface="Arial" panose="020B0604020202020204" pitchFamily="34" charset="0"/>
                  <a:cs typeface="Arial" panose="020B0604020202020204" pitchFamily="34" charset="0"/>
                </a:rPr>
                <a:t> </a:t>
              </a:r>
              <a:endParaRPr lang="vi-VN">
                <a:latin typeface="Arial" panose="020B0604020202020204" pitchFamily="34" charset="0"/>
                <a:cs typeface="Arial" panose="020B0604020202020204" pitchFamily="34" charset="0"/>
              </a:endParaRPr>
            </a:p>
          </p:txBody>
        </p:sp>
      </p:grpSp>
      <p:grpSp>
        <p:nvGrpSpPr>
          <p:cNvPr id="55" name="Group 54"/>
          <p:cNvGrpSpPr/>
          <p:nvPr/>
        </p:nvGrpSpPr>
        <p:grpSpPr>
          <a:xfrm>
            <a:off x="5073338" y="9381467"/>
            <a:ext cx="890613" cy="1085085"/>
            <a:chOff x="5073338" y="4315691"/>
            <a:chExt cx="890613" cy="1085085"/>
          </a:xfrm>
        </p:grpSpPr>
        <p:sp>
          <p:nvSpPr>
            <p:cNvPr id="56" name="Oval 55"/>
            <p:cNvSpPr/>
            <p:nvPr/>
          </p:nvSpPr>
          <p:spPr>
            <a:xfrm>
              <a:off x="5170174" y="4315691"/>
              <a:ext cx="696943" cy="679269"/>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7" name="TextBox 56"/>
            <p:cNvSpPr txBox="1"/>
            <p:nvPr/>
          </p:nvSpPr>
          <p:spPr>
            <a:xfrm>
              <a:off x="5073338" y="5031444"/>
              <a:ext cx="890613" cy="369332"/>
            </a:xfrm>
            <a:prstGeom prst="rect">
              <a:avLst/>
            </a:prstGeom>
            <a:noFill/>
          </p:spPr>
          <p:txBody>
            <a:bodyPr wrap="square" rtlCol="0">
              <a:spAutoFit/>
            </a:bodyPr>
            <a:lstStyle/>
            <a:p>
              <a:pPr algn="ctr"/>
              <a:r>
                <a:rPr lang="en-US">
                  <a:solidFill>
                    <a:schemeClr val="bg1"/>
                  </a:solidFill>
                  <a:latin typeface="Arial" panose="020B0604020202020204" pitchFamily="34" charset="0"/>
                  <a:cs typeface="Arial" panose="020B0604020202020204" pitchFamily="34" charset="0"/>
                </a:rPr>
                <a:t>Tên</a:t>
              </a:r>
              <a:r>
                <a:rPr lang="en-US">
                  <a:latin typeface="Arial" panose="020B0604020202020204" pitchFamily="34" charset="0"/>
                  <a:cs typeface="Arial" panose="020B0604020202020204" pitchFamily="34" charset="0"/>
                </a:rPr>
                <a:t> </a:t>
              </a:r>
              <a:endParaRPr lang="vi-VN">
                <a:latin typeface="Arial" panose="020B0604020202020204" pitchFamily="34" charset="0"/>
                <a:cs typeface="Arial" panose="020B0604020202020204" pitchFamily="34" charset="0"/>
              </a:endParaRPr>
            </a:p>
          </p:txBody>
        </p:sp>
      </p:grpSp>
      <p:grpSp>
        <p:nvGrpSpPr>
          <p:cNvPr id="58" name="Group 57"/>
          <p:cNvGrpSpPr/>
          <p:nvPr/>
        </p:nvGrpSpPr>
        <p:grpSpPr>
          <a:xfrm>
            <a:off x="6466709" y="10807931"/>
            <a:ext cx="890613" cy="1099801"/>
            <a:chOff x="6466709" y="4315691"/>
            <a:chExt cx="890613" cy="1099801"/>
          </a:xfrm>
        </p:grpSpPr>
        <p:sp>
          <p:nvSpPr>
            <p:cNvPr id="59" name="Oval 58"/>
            <p:cNvSpPr/>
            <p:nvPr/>
          </p:nvSpPr>
          <p:spPr>
            <a:xfrm>
              <a:off x="6563545" y="4315691"/>
              <a:ext cx="696943" cy="679269"/>
            </a:xfrm>
            <a:prstGeom prst="ellipse">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0" name="TextBox 59"/>
            <p:cNvSpPr txBox="1"/>
            <p:nvPr/>
          </p:nvSpPr>
          <p:spPr>
            <a:xfrm>
              <a:off x="6466709" y="5046160"/>
              <a:ext cx="890613" cy="369332"/>
            </a:xfrm>
            <a:prstGeom prst="rect">
              <a:avLst/>
            </a:prstGeom>
            <a:noFill/>
          </p:spPr>
          <p:txBody>
            <a:bodyPr wrap="square" rtlCol="0">
              <a:spAutoFit/>
            </a:bodyPr>
            <a:lstStyle/>
            <a:p>
              <a:pPr algn="ctr"/>
              <a:r>
                <a:rPr lang="en-US">
                  <a:solidFill>
                    <a:schemeClr val="bg1"/>
                  </a:solidFill>
                  <a:latin typeface="Arial" panose="020B0604020202020204" pitchFamily="34" charset="0"/>
                  <a:cs typeface="Arial" panose="020B0604020202020204" pitchFamily="34" charset="0"/>
                </a:rPr>
                <a:t>Tên</a:t>
              </a:r>
              <a:r>
                <a:rPr lang="en-US">
                  <a:latin typeface="Arial" panose="020B0604020202020204" pitchFamily="34" charset="0"/>
                  <a:cs typeface="Arial" panose="020B0604020202020204" pitchFamily="34" charset="0"/>
                </a:rPr>
                <a:t> </a:t>
              </a:r>
              <a:endParaRPr lang="vi-VN">
                <a:latin typeface="Arial" panose="020B0604020202020204" pitchFamily="34" charset="0"/>
                <a:cs typeface="Arial" panose="020B0604020202020204" pitchFamily="34" charset="0"/>
              </a:endParaRPr>
            </a:p>
          </p:txBody>
        </p:sp>
      </p:grpSp>
      <p:grpSp>
        <p:nvGrpSpPr>
          <p:cNvPr id="61" name="Group 60"/>
          <p:cNvGrpSpPr/>
          <p:nvPr/>
        </p:nvGrpSpPr>
        <p:grpSpPr>
          <a:xfrm>
            <a:off x="7860080" y="11539451"/>
            <a:ext cx="890613" cy="1069836"/>
            <a:chOff x="7860080" y="4315691"/>
            <a:chExt cx="890613" cy="1069836"/>
          </a:xfrm>
        </p:grpSpPr>
        <p:sp>
          <p:nvSpPr>
            <p:cNvPr id="62" name="Oval 61"/>
            <p:cNvSpPr/>
            <p:nvPr/>
          </p:nvSpPr>
          <p:spPr>
            <a:xfrm>
              <a:off x="7956916" y="4315691"/>
              <a:ext cx="696943" cy="679269"/>
            </a:xfrm>
            <a:prstGeom prst="ellipse">
              <a:avLst/>
            </a:prstGeom>
            <a:blipFill dpi="0" rotWithShape="1">
              <a:blip r:embed="rId8">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3" name="TextBox 62"/>
            <p:cNvSpPr txBox="1"/>
            <p:nvPr/>
          </p:nvSpPr>
          <p:spPr>
            <a:xfrm>
              <a:off x="7860080" y="5016195"/>
              <a:ext cx="890613" cy="369332"/>
            </a:xfrm>
            <a:prstGeom prst="rect">
              <a:avLst/>
            </a:prstGeom>
            <a:noFill/>
          </p:spPr>
          <p:txBody>
            <a:bodyPr wrap="square" rtlCol="0">
              <a:spAutoFit/>
            </a:bodyPr>
            <a:lstStyle/>
            <a:p>
              <a:pPr algn="ctr"/>
              <a:r>
                <a:rPr lang="en-US">
                  <a:solidFill>
                    <a:schemeClr val="bg1"/>
                  </a:solidFill>
                  <a:latin typeface="Arial" panose="020B0604020202020204" pitchFamily="34" charset="0"/>
                  <a:cs typeface="Arial" panose="020B0604020202020204" pitchFamily="34" charset="0"/>
                </a:rPr>
                <a:t>Tên</a:t>
              </a:r>
              <a:r>
                <a:rPr lang="en-US">
                  <a:latin typeface="Arial" panose="020B0604020202020204" pitchFamily="34" charset="0"/>
                  <a:cs typeface="Arial" panose="020B0604020202020204" pitchFamily="34" charset="0"/>
                </a:rPr>
                <a:t> </a:t>
              </a:r>
              <a:endParaRPr lang="vi-VN">
                <a:latin typeface="Arial" panose="020B0604020202020204" pitchFamily="34" charset="0"/>
                <a:cs typeface="Arial" panose="020B0604020202020204" pitchFamily="34" charset="0"/>
              </a:endParaRPr>
            </a:p>
          </p:txBody>
        </p:sp>
      </p:grpSp>
      <p:sp>
        <p:nvSpPr>
          <p:cNvPr id="67" name="Rectangle 66"/>
          <p:cNvSpPr/>
          <p:nvPr/>
        </p:nvSpPr>
        <p:spPr>
          <a:xfrm>
            <a:off x="150703" y="19506"/>
            <a:ext cx="12041297" cy="1084365"/>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8" name="Oval 67"/>
          <p:cNvSpPr/>
          <p:nvPr/>
        </p:nvSpPr>
        <p:spPr>
          <a:xfrm>
            <a:off x="10426498" y="383187"/>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69" name="Oval 68"/>
          <p:cNvSpPr/>
          <p:nvPr/>
        </p:nvSpPr>
        <p:spPr>
          <a:xfrm>
            <a:off x="10866661" y="387047"/>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0" name="Oval 69"/>
          <p:cNvSpPr/>
          <p:nvPr/>
        </p:nvSpPr>
        <p:spPr>
          <a:xfrm>
            <a:off x="11277941" y="383187"/>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1" name="Oval 70"/>
          <p:cNvSpPr/>
          <p:nvPr/>
        </p:nvSpPr>
        <p:spPr>
          <a:xfrm>
            <a:off x="10785615" y="-1245606"/>
            <a:ext cx="703364" cy="691720"/>
          </a:xfrm>
          <a:prstGeom prst="ellipse">
            <a:avLst/>
          </a:prstGeom>
          <a:blipFill dpi="0" rotWithShape="1">
            <a:blip r:embed="rId9">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2" name="TextBox 71"/>
          <p:cNvSpPr txBox="1"/>
          <p:nvPr/>
        </p:nvSpPr>
        <p:spPr>
          <a:xfrm>
            <a:off x="8586735" y="-2019905"/>
            <a:ext cx="956602" cy="338554"/>
          </a:xfrm>
          <a:prstGeom prst="rect">
            <a:avLst/>
          </a:prstGeom>
          <a:noFill/>
        </p:spPr>
        <p:txBody>
          <a:bodyPr wrap="square" rtlCol="0">
            <a:spAutoFit/>
          </a:bodyPr>
          <a:lstStyle/>
          <a:p>
            <a:r>
              <a:rPr lang="en-PH" sz="1600" dirty="0">
                <a:solidFill>
                  <a:schemeClr val="bg1"/>
                </a:solidFill>
              </a:rPr>
              <a:t>Gmail</a:t>
            </a:r>
            <a:endParaRPr lang="en-PH" sz="1600" dirty="0">
              <a:solidFill>
                <a:schemeClr val="bg1"/>
              </a:solidFill>
            </a:endParaRPr>
          </a:p>
        </p:txBody>
      </p:sp>
      <p:sp>
        <p:nvSpPr>
          <p:cNvPr id="73" name="TextBox 72"/>
          <p:cNvSpPr txBox="1"/>
          <p:nvPr/>
        </p:nvSpPr>
        <p:spPr>
          <a:xfrm>
            <a:off x="9302842" y="-2019905"/>
            <a:ext cx="956603" cy="338554"/>
          </a:xfrm>
          <a:prstGeom prst="rect">
            <a:avLst/>
          </a:prstGeom>
          <a:noFill/>
        </p:spPr>
        <p:txBody>
          <a:bodyPr wrap="square" rtlCol="0">
            <a:spAutoFit/>
          </a:bodyPr>
          <a:lstStyle/>
          <a:p>
            <a:r>
              <a:rPr lang="en-PH" sz="1600" dirty="0">
                <a:solidFill>
                  <a:schemeClr val="bg1"/>
                </a:solidFill>
              </a:rPr>
              <a:t>Images</a:t>
            </a:r>
            <a:endParaRPr lang="en-PH" sz="1600" dirty="0">
              <a:solidFill>
                <a:schemeClr val="bg1"/>
              </a:solidFill>
            </a:endParaRPr>
          </a:p>
        </p:txBody>
      </p:sp>
      <p:pic>
        <p:nvPicPr>
          <p:cNvPr id="74" name="Picture 73"/>
          <p:cNvPicPr>
            <a:picLocks noChangeAspect="1"/>
          </p:cNvPicPr>
          <p:nvPr/>
        </p:nvPicPr>
        <p:blipFill>
          <a:blip r:embed="rId10">
            <a:duotone>
              <a:schemeClr val="accent3">
                <a:shade val="45000"/>
                <a:satMod val="135000"/>
              </a:schemeClr>
              <a:prstClr val="white"/>
            </a:duotone>
            <a:extLst>
              <a:ext uri="{BEBA8EAE-BF5A-486C-A8C5-ECC9F3942E4B}">
                <a14:imgProps xmlns:a14="http://schemas.microsoft.com/office/drawing/2010/main">
                  <a14:imgLayer r:embed="rId11">
                    <a14:imgEffect>
                      <a14:brightnessContrast bright="100000"/>
                    </a14:imgEffect>
                    <a14:imgEffect>
                      <a14:saturation sat="66000"/>
                    </a14:imgEffect>
                  </a14:imgLayer>
                </a14:imgProps>
              </a:ext>
              <a:ext uri="{28A0092B-C50C-407E-A947-70E740481C1C}">
                <a14:useLocalDpi xmlns:a14="http://schemas.microsoft.com/office/drawing/2010/main" val="0"/>
              </a:ext>
            </a:extLst>
          </a:blip>
          <a:stretch>
            <a:fillRect/>
          </a:stretch>
        </p:blipFill>
        <p:spPr>
          <a:xfrm>
            <a:off x="10212641" y="-2004833"/>
            <a:ext cx="339969" cy="339969"/>
          </a:xfrm>
          <a:prstGeom prst="rect">
            <a:avLst/>
          </a:prstGeom>
        </p:spPr>
      </p:pic>
      <p:grpSp>
        <p:nvGrpSpPr>
          <p:cNvPr id="75" name="Group 74"/>
          <p:cNvGrpSpPr/>
          <p:nvPr/>
        </p:nvGrpSpPr>
        <p:grpSpPr>
          <a:xfrm>
            <a:off x="-1" y="6732587"/>
            <a:ext cx="12192001" cy="130049"/>
            <a:chOff x="-1" y="6732587"/>
            <a:chExt cx="12192001" cy="130049"/>
          </a:xfrm>
        </p:grpSpPr>
        <p:sp>
          <p:nvSpPr>
            <p:cNvPr id="76" name="Rectangle 75"/>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7" name="Rectangle 76"/>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8" name="Rectangle 77"/>
            <p:cNvSpPr/>
            <p:nvPr/>
          </p:nvSpPr>
          <p:spPr>
            <a:xfrm>
              <a:off x="6096000"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9" name="Rectangle 78"/>
            <p:cNvSpPr/>
            <p:nvPr/>
          </p:nvSpPr>
          <p:spPr>
            <a:xfrm>
              <a:off x="8947052" y="6732587"/>
              <a:ext cx="3244948" cy="130049"/>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grpSp>
        <p:nvGrpSpPr>
          <p:cNvPr id="92" name="Group 91"/>
          <p:cNvGrpSpPr/>
          <p:nvPr/>
        </p:nvGrpSpPr>
        <p:grpSpPr>
          <a:xfrm>
            <a:off x="10335030" y="6303012"/>
            <a:ext cx="1269276" cy="338554"/>
            <a:chOff x="10072775" y="5734052"/>
            <a:chExt cx="1269276" cy="338554"/>
          </a:xfrm>
        </p:grpSpPr>
        <p:sp>
          <p:nvSpPr>
            <p:cNvPr id="32" name="Rectangle: Rounded Corners 31"/>
            <p:cNvSpPr/>
            <p:nvPr/>
          </p:nvSpPr>
          <p:spPr>
            <a:xfrm>
              <a:off x="10072775" y="5734052"/>
              <a:ext cx="1222928" cy="338554"/>
            </a:xfrm>
            <a:prstGeom prst="roundRect">
              <a:avLst>
                <a:gd name="adj" fmla="val 41127"/>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91" name="Group 90"/>
            <p:cNvGrpSpPr/>
            <p:nvPr/>
          </p:nvGrpSpPr>
          <p:grpSpPr>
            <a:xfrm>
              <a:off x="10207193" y="5749440"/>
              <a:ext cx="1134858" cy="306705"/>
              <a:chOff x="10207193" y="5749440"/>
              <a:chExt cx="1134858" cy="306705"/>
            </a:xfrm>
          </p:grpSpPr>
          <p:pic>
            <p:nvPicPr>
              <p:cNvPr id="34" name="Graphic 33" descr="Pencil with solid fill"/>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07193" y="5812945"/>
                <a:ext cx="180768" cy="180768"/>
              </a:xfrm>
              <a:prstGeom prst="rect">
                <a:avLst/>
              </a:prstGeom>
            </p:spPr>
          </p:pic>
          <p:sp>
            <p:nvSpPr>
              <p:cNvPr id="35" name="TextBox 34"/>
              <p:cNvSpPr txBox="1"/>
              <p:nvPr/>
            </p:nvSpPr>
            <p:spPr>
              <a:xfrm>
                <a:off x="10330373" y="5749440"/>
                <a:ext cx="1011678" cy="306705"/>
              </a:xfrm>
              <a:prstGeom prst="rect">
                <a:avLst/>
              </a:prstGeom>
              <a:noFill/>
            </p:spPr>
            <p:txBody>
              <a:bodyPr wrap="square" rtlCol="0">
                <a:spAutoFit/>
              </a:bodyPr>
              <a:lstStyle/>
              <a:p>
                <a:r>
                  <a:rPr lang="vi-VN" altLang="en-PH" sz="1400" dirty="0">
                    <a:solidFill>
                      <a:srgbClr val="4285F4"/>
                    </a:solidFill>
                    <a:latin typeface="Times New Roman" panose="02020603050405020304" charset="0"/>
                    <a:cs typeface="Times New Roman" panose="02020603050405020304" charset="0"/>
                  </a:rPr>
                  <a:t>Nhóm 10</a:t>
                </a:r>
                <a:endParaRPr lang="vi-VN" altLang="en-PH" sz="1400" dirty="0">
                  <a:solidFill>
                    <a:srgbClr val="4285F4"/>
                  </a:solidFill>
                  <a:latin typeface="Times New Roman" panose="02020603050405020304" charset="0"/>
                  <a:cs typeface="Times New Roman" panose="02020603050405020304" charset="0"/>
                </a:endParaRPr>
              </a:p>
            </p:txBody>
          </p:sp>
        </p:grpSp>
      </p:grpSp>
      <p:grpSp>
        <p:nvGrpSpPr>
          <p:cNvPr id="8" name="Group 7"/>
          <p:cNvGrpSpPr/>
          <p:nvPr/>
        </p:nvGrpSpPr>
        <p:grpSpPr>
          <a:xfrm>
            <a:off x="509905" y="4315460"/>
            <a:ext cx="2118360" cy="1757159"/>
            <a:chOff x="3679967" y="4315691"/>
            <a:chExt cx="890613" cy="978168"/>
          </a:xfrm>
        </p:grpSpPr>
        <p:sp>
          <p:nvSpPr>
            <p:cNvPr id="6" name="Oval 5"/>
            <p:cNvSpPr/>
            <p:nvPr/>
          </p:nvSpPr>
          <p:spPr>
            <a:xfrm>
              <a:off x="3776803" y="4315691"/>
              <a:ext cx="696943" cy="679269"/>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7" name="TextBox 6"/>
            <p:cNvSpPr txBox="1"/>
            <p:nvPr/>
          </p:nvSpPr>
          <p:spPr>
            <a:xfrm>
              <a:off x="3679967" y="5088835"/>
              <a:ext cx="890613" cy="205024"/>
            </a:xfrm>
            <a:prstGeom prst="rect">
              <a:avLst/>
            </a:prstGeom>
            <a:noFill/>
          </p:spPr>
          <p:txBody>
            <a:bodyPr wrap="square" rtlCol="0">
              <a:spAutoFit/>
            </a:bodyPr>
            <a:lstStyle/>
            <a:p>
              <a:pPr algn="ctr"/>
              <a:r>
                <a:rPr lang="vi-VN" altLang="en-US">
                  <a:solidFill>
                    <a:schemeClr val="bg1"/>
                  </a:solidFill>
                  <a:latin typeface="Times New Roman" panose="02020603050405020304" charset="0"/>
                  <a:cs typeface="Times New Roman" panose="02020603050405020304" charset="0"/>
                </a:rPr>
                <a:t>Đào Thế Dương</a:t>
              </a:r>
              <a:r>
                <a:rPr lang="en-US">
                  <a:latin typeface="Times New Roman" panose="02020603050405020304" charset="0"/>
                  <a:cs typeface="Times New Roman" panose="02020603050405020304" charset="0"/>
                </a:rPr>
                <a:t> </a:t>
              </a:r>
              <a:endParaRPr lang="vi-VN">
                <a:latin typeface="Times New Roman" panose="02020603050405020304" charset="0"/>
                <a:cs typeface="Times New Roman" panose="02020603050405020304" charset="0"/>
              </a:endParaRPr>
            </a:p>
          </p:txBody>
        </p:sp>
      </p:grpSp>
      <p:grpSp>
        <p:nvGrpSpPr>
          <p:cNvPr id="9" name="Group 8"/>
          <p:cNvGrpSpPr/>
          <p:nvPr/>
        </p:nvGrpSpPr>
        <p:grpSpPr>
          <a:xfrm>
            <a:off x="2889250" y="4427855"/>
            <a:ext cx="2898140" cy="1725107"/>
            <a:chOff x="5073338" y="4315691"/>
            <a:chExt cx="890613" cy="910041"/>
          </a:xfrm>
        </p:grpSpPr>
        <p:sp>
          <p:nvSpPr>
            <p:cNvPr id="47" name="Oval 46"/>
            <p:cNvSpPr/>
            <p:nvPr/>
          </p:nvSpPr>
          <p:spPr>
            <a:xfrm>
              <a:off x="5170174" y="4315691"/>
              <a:ext cx="696943" cy="679269"/>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1" name="TextBox 50"/>
            <p:cNvSpPr txBox="1"/>
            <p:nvPr/>
          </p:nvSpPr>
          <p:spPr>
            <a:xfrm>
              <a:off x="5073338" y="5031444"/>
              <a:ext cx="890613" cy="194288"/>
            </a:xfrm>
            <a:prstGeom prst="rect">
              <a:avLst/>
            </a:prstGeom>
            <a:noFill/>
          </p:spPr>
          <p:txBody>
            <a:bodyPr wrap="square" rtlCol="0">
              <a:spAutoFit/>
            </a:bodyPr>
            <a:lstStyle/>
            <a:p>
              <a:pPr algn="ctr"/>
              <a:r>
                <a:rPr lang="vi-VN" altLang="en-US">
                  <a:solidFill>
                    <a:schemeClr val="bg1"/>
                  </a:solidFill>
                  <a:latin typeface="Times New Roman" panose="02020603050405020304" charset="0"/>
                  <a:cs typeface="Times New Roman" panose="02020603050405020304" charset="0"/>
                </a:rPr>
                <a:t>Nguyễn Mạnh Cường</a:t>
              </a:r>
              <a:r>
                <a:rPr lang="en-US">
                  <a:solidFill>
                    <a:schemeClr val="bg1"/>
                  </a:solidFill>
                  <a:latin typeface="Times New Roman" panose="02020603050405020304" charset="0"/>
                  <a:cs typeface="Times New Roman" panose="02020603050405020304" charset="0"/>
                </a:rPr>
                <a:t> </a:t>
              </a:r>
              <a:endParaRPr lang="en-US">
                <a:solidFill>
                  <a:schemeClr val="bg1"/>
                </a:solidFill>
                <a:latin typeface="Times New Roman" panose="02020603050405020304" charset="0"/>
                <a:cs typeface="Times New Roman" panose="02020603050405020304" charset="0"/>
              </a:endParaRPr>
            </a:p>
          </p:txBody>
        </p:sp>
      </p:grpSp>
      <p:grpSp>
        <p:nvGrpSpPr>
          <p:cNvPr id="10" name="Group 9"/>
          <p:cNvGrpSpPr/>
          <p:nvPr/>
        </p:nvGrpSpPr>
        <p:grpSpPr>
          <a:xfrm>
            <a:off x="6315710" y="4427855"/>
            <a:ext cx="2434590" cy="1945005"/>
            <a:chOff x="6466709" y="4315691"/>
            <a:chExt cx="890613" cy="1093027"/>
          </a:xfrm>
        </p:grpSpPr>
        <p:sp>
          <p:nvSpPr>
            <p:cNvPr id="48" name="Oval 47"/>
            <p:cNvSpPr/>
            <p:nvPr/>
          </p:nvSpPr>
          <p:spPr>
            <a:xfrm>
              <a:off x="6563545" y="4315691"/>
              <a:ext cx="696943" cy="679269"/>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2" name="TextBox 51"/>
            <p:cNvSpPr txBox="1"/>
            <p:nvPr/>
          </p:nvSpPr>
          <p:spPr>
            <a:xfrm>
              <a:off x="6466709" y="5046160"/>
              <a:ext cx="890613" cy="362558"/>
            </a:xfrm>
            <a:prstGeom prst="rect">
              <a:avLst/>
            </a:prstGeom>
            <a:noFill/>
          </p:spPr>
          <p:txBody>
            <a:bodyPr wrap="square" rtlCol="0">
              <a:spAutoFit/>
            </a:bodyPr>
            <a:lstStyle/>
            <a:p>
              <a:pPr algn="ctr"/>
              <a:r>
                <a:rPr lang="vi-VN" altLang="en-US">
                  <a:solidFill>
                    <a:schemeClr val="bg1"/>
                  </a:solidFill>
                  <a:latin typeface="Times New Roman" panose="02020603050405020304" charset="0"/>
                  <a:cs typeface="Times New Roman" panose="02020603050405020304" charset="0"/>
                </a:rPr>
                <a:t>Trương Quang Nam</a:t>
              </a:r>
              <a:r>
                <a:rPr lang="en-US">
                  <a:latin typeface="Times New Roman" panose="02020603050405020304" charset="0"/>
                  <a:cs typeface="Times New Roman" panose="02020603050405020304" charset="0"/>
                </a:rPr>
                <a:t> </a:t>
              </a:r>
              <a:endParaRPr lang="vi-VN">
                <a:latin typeface="Times New Roman" panose="02020603050405020304" charset="0"/>
                <a:cs typeface="Times New Roman" panose="02020603050405020304" charset="0"/>
              </a:endParaRPr>
            </a:p>
          </p:txBody>
        </p:sp>
      </p:grpSp>
      <p:grpSp>
        <p:nvGrpSpPr>
          <p:cNvPr id="16" name="Group 15"/>
          <p:cNvGrpSpPr/>
          <p:nvPr/>
        </p:nvGrpSpPr>
        <p:grpSpPr>
          <a:xfrm>
            <a:off x="9278620" y="4315460"/>
            <a:ext cx="2484120" cy="1565787"/>
            <a:chOff x="7860080" y="4315691"/>
            <a:chExt cx="890613" cy="915951"/>
          </a:xfrm>
        </p:grpSpPr>
        <p:sp>
          <p:nvSpPr>
            <p:cNvPr id="49" name="Oval 48"/>
            <p:cNvSpPr/>
            <p:nvPr/>
          </p:nvSpPr>
          <p:spPr>
            <a:xfrm>
              <a:off x="7956916" y="4315691"/>
              <a:ext cx="696943" cy="679269"/>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3" name="TextBox 52"/>
            <p:cNvSpPr txBox="1"/>
            <p:nvPr/>
          </p:nvSpPr>
          <p:spPr>
            <a:xfrm>
              <a:off x="7860080" y="5016195"/>
              <a:ext cx="890613" cy="215447"/>
            </a:xfrm>
            <a:prstGeom prst="rect">
              <a:avLst/>
            </a:prstGeom>
            <a:noFill/>
          </p:spPr>
          <p:txBody>
            <a:bodyPr wrap="square" rtlCol="0">
              <a:spAutoFit/>
            </a:bodyPr>
            <a:lstStyle/>
            <a:p>
              <a:pPr algn="ctr"/>
              <a:r>
                <a:rPr lang="vi-VN" altLang="en-US">
                  <a:solidFill>
                    <a:schemeClr val="bg1"/>
                  </a:solidFill>
                  <a:latin typeface="Times New Roman" panose="02020603050405020304" charset="0"/>
                  <a:cs typeface="Times New Roman" panose="02020603050405020304" charset="0"/>
                </a:rPr>
                <a:t>Nguyễn Việt Hưng</a:t>
              </a:r>
              <a:r>
                <a:rPr lang="en-US">
                  <a:latin typeface="Times New Roman" panose="02020603050405020304" charset="0"/>
                  <a:cs typeface="Times New Roman" panose="02020603050405020304" charset="0"/>
                </a:rPr>
                <a:t> </a:t>
              </a:r>
              <a:endParaRPr lang="vi-VN">
                <a:latin typeface="Times New Roman" panose="02020603050405020304" charset="0"/>
                <a:cs typeface="Times New Roman" panose="02020603050405020304" charset="0"/>
              </a:endParaRPr>
            </a:p>
          </p:txBody>
        </p:sp>
      </p:grpSp>
      <p:pic>
        <p:nvPicPr>
          <p:cNvPr id="20" name="Picture 19" descr="Shape, arrow&#10;&#10;Description automatically generated"/>
          <p:cNvPicPr>
            <a:picLocks noChangeAspect="1"/>
          </p:cNvPicPr>
          <p:nvPr/>
        </p:nvPicPr>
        <p:blipFill>
          <a:blip r:embed="rId7">
            <a:extLst>
              <a:ext uri="{BEBA8EAE-BF5A-486C-A8C5-ECC9F3942E4B}">
                <a14:imgProps xmlns:a14="http://schemas.microsoft.com/office/drawing/2010/main">
                  <a14:imgLayer r:embed="rId8">
                    <a14:imgEffect>
                      <a14:backgroundRemoval t="6101" b="97082" l="8046" r="95690">
                        <a14:foregroundMark x1="8046" y1="6101" x2="11782" y2="11671"/>
                        <a14:foregroundMark x1="85057" y1="90981" x2="87931" y2="91512"/>
                        <a14:foregroundMark x1="95977" y1="85676" x2="95977" y2="85676"/>
                        <a14:foregroundMark x1="87069" y1="97082" x2="87069" y2="97082"/>
                      </a14:backgroundRemoval>
                    </a14:imgEffect>
                  </a14:imgLayer>
                </a14:imgProps>
              </a:ext>
              <a:ext uri="{28A0092B-C50C-407E-A947-70E740481C1C}">
                <a14:useLocalDpi xmlns:a14="http://schemas.microsoft.com/office/drawing/2010/main" val="0"/>
              </a:ext>
            </a:extLst>
          </a:blip>
          <a:stretch>
            <a:fillRect/>
          </a:stretch>
        </p:blipFill>
        <p:spPr>
          <a:xfrm>
            <a:off x="5518644" y="3619640"/>
            <a:ext cx="396027" cy="429029"/>
          </a:xfrm>
          <a:prstGeom prst="rect">
            <a:avLst/>
          </a:prstGeom>
        </p:spPr>
      </p:pic>
      <p:sp>
        <p:nvSpPr>
          <p:cNvPr id="60" name="Rectangle 59"/>
          <p:cNvSpPr/>
          <p:nvPr/>
        </p:nvSpPr>
        <p:spPr>
          <a:xfrm>
            <a:off x="150703" y="19503"/>
            <a:ext cx="12041297" cy="1084365"/>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62" name="TextBox 61"/>
          <p:cNvSpPr txBox="1"/>
          <p:nvPr/>
        </p:nvSpPr>
        <p:spPr>
          <a:xfrm>
            <a:off x="8586735" y="705007"/>
            <a:ext cx="956602" cy="338554"/>
          </a:xfrm>
          <a:prstGeom prst="rect">
            <a:avLst/>
          </a:prstGeom>
          <a:noFill/>
        </p:spPr>
        <p:txBody>
          <a:bodyPr wrap="square" rtlCol="0">
            <a:spAutoFit/>
          </a:bodyPr>
          <a:lstStyle/>
          <a:p>
            <a:r>
              <a:rPr lang="en-PH" sz="1600" dirty="0">
                <a:solidFill>
                  <a:schemeClr val="bg1"/>
                </a:solidFill>
                <a:latin typeface="Times New Roman" panose="02020603050405020304" charset="0"/>
                <a:cs typeface="Times New Roman" panose="02020603050405020304" charset="0"/>
              </a:rPr>
              <a:t>Gmail</a:t>
            </a:r>
            <a:endParaRPr lang="en-PH" sz="1600" dirty="0">
              <a:solidFill>
                <a:schemeClr val="bg1"/>
              </a:solidFill>
              <a:latin typeface="Times New Roman" panose="02020603050405020304" charset="0"/>
              <a:cs typeface="Times New Roman" panose="02020603050405020304" charset="0"/>
            </a:endParaRPr>
          </a:p>
        </p:txBody>
      </p:sp>
      <p:sp>
        <p:nvSpPr>
          <p:cNvPr id="63" name="TextBox 62"/>
          <p:cNvSpPr txBox="1"/>
          <p:nvPr/>
        </p:nvSpPr>
        <p:spPr>
          <a:xfrm>
            <a:off x="9302842" y="705007"/>
            <a:ext cx="956603" cy="338554"/>
          </a:xfrm>
          <a:prstGeom prst="rect">
            <a:avLst/>
          </a:prstGeom>
          <a:noFill/>
        </p:spPr>
        <p:txBody>
          <a:bodyPr wrap="square" rtlCol="0">
            <a:spAutoFit/>
          </a:bodyPr>
          <a:lstStyle/>
          <a:p>
            <a:r>
              <a:rPr lang="en-PH" sz="1600" dirty="0">
                <a:solidFill>
                  <a:schemeClr val="bg1"/>
                </a:solidFill>
                <a:latin typeface="Times New Roman" panose="02020603050405020304" charset="0"/>
                <a:cs typeface="Times New Roman" panose="02020603050405020304" charset="0"/>
              </a:rPr>
              <a:t>Images</a:t>
            </a:r>
            <a:endParaRPr lang="en-PH" sz="1600" dirty="0">
              <a:solidFill>
                <a:schemeClr val="bg1"/>
              </a:solidFill>
              <a:latin typeface="Times New Roman" panose="02020603050405020304" charset="0"/>
              <a:cs typeface="Times New Roman" panose="02020603050405020304" charset="0"/>
            </a:endParaRPr>
          </a:p>
        </p:txBody>
      </p:sp>
      <p:pic>
        <p:nvPicPr>
          <p:cNvPr id="64" name="Picture 63"/>
          <p:cNvPicPr>
            <a:picLocks noChangeAspect="1"/>
          </p:cNvPicPr>
          <p:nvPr/>
        </p:nvPicPr>
        <p:blipFill>
          <a:blip r:embed="rId9">
            <a:duotone>
              <a:schemeClr val="accent3">
                <a:shade val="45000"/>
                <a:satMod val="135000"/>
              </a:schemeClr>
              <a:prstClr val="white"/>
            </a:duotone>
            <a:extLst>
              <a:ext uri="{BEBA8EAE-BF5A-486C-A8C5-ECC9F3942E4B}">
                <a14:imgProps xmlns:a14="http://schemas.microsoft.com/office/drawing/2010/main">
                  <a14:imgLayer r:embed="rId10">
                    <a14:imgEffect>
                      <a14:brightnessContrast bright="100000"/>
                    </a14:imgEffect>
                    <a14:imgEffect>
                      <a14:saturation sat="66000"/>
                    </a14:imgEffect>
                  </a14:imgLayer>
                </a14:imgProps>
              </a:ext>
              <a:ext uri="{28A0092B-C50C-407E-A947-70E740481C1C}">
                <a14:useLocalDpi xmlns:a14="http://schemas.microsoft.com/office/drawing/2010/main" val="0"/>
              </a:ext>
            </a:extLst>
          </a:blip>
          <a:stretch>
            <a:fillRect/>
          </a:stretch>
        </p:blipFill>
        <p:spPr>
          <a:xfrm>
            <a:off x="10212641" y="720079"/>
            <a:ext cx="339969" cy="339969"/>
          </a:xfrm>
          <a:prstGeom prst="rect">
            <a:avLst/>
          </a:prstGeom>
        </p:spPr>
      </p:pic>
      <p:sp>
        <p:nvSpPr>
          <p:cNvPr id="65" name="Oval 64"/>
          <p:cNvSpPr/>
          <p:nvPr/>
        </p:nvSpPr>
        <p:spPr>
          <a:xfrm>
            <a:off x="594075" y="325123"/>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6" name="Oval 65"/>
          <p:cNvSpPr/>
          <p:nvPr/>
        </p:nvSpPr>
        <p:spPr>
          <a:xfrm>
            <a:off x="1034238" y="328983"/>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7" name="Oval 66"/>
          <p:cNvSpPr/>
          <p:nvPr/>
        </p:nvSpPr>
        <p:spPr>
          <a:xfrm>
            <a:off x="1445518" y="325123"/>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8" name="Oval 67"/>
          <p:cNvSpPr/>
          <p:nvPr/>
        </p:nvSpPr>
        <p:spPr>
          <a:xfrm>
            <a:off x="10746482" y="527801"/>
            <a:ext cx="703364" cy="691720"/>
          </a:xfrm>
          <a:prstGeom prst="ellipse">
            <a:avLst/>
          </a:prstGeom>
          <a:blipFill dpi="0" rotWithShape="1">
            <a:blip r:embed="rId11">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nvGrpSpPr>
          <p:cNvPr id="70" name="Group 69"/>
          <p:cNvGrpSpPr/>
          <p:nvPr/>
        </p:nvGrpSpPr>
        <p:grpSpPr>
          <a:xfrm>
            <a:off x="-1" y="6732587"/>
            <a:ext cx="12192000" cy="127731"/>
            <a:chOff x="-1" y="6732587"/>
            <a:chExt cx="12192000" cy="127731"/>
          </a:xfrm>
        </p:grpSpPr>
        <p:sp>
          <p:nvSpPr>
            <p:cNvPr id="71" name="Rectangle 70"/>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2" name="Rectangle 71"/>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3" name="Rectangle 72"/>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4" name="Rectangle 73"/>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grpSp>
        <p:nvGrpSpPr>
          <p:cNvPr id="39" name="Group 38"/>
          <p:cNvGrpSpPr/>
          <p:nvPr/>
        </p:nvGrpSpPr>
        <p:grpSpPr>
          <a:xfrm>
            <a:off x="2889319" y="3178395"/>
            <a:ext cx="6654018" cy="550671"/>
            <a:chOff x="2768991" y="3077691"/>
            <a:chExt cx="6654018" cy="550671"/>
          </a:xfrm>
        </p:grpSpPr>
        <p:sp>
          <p:nvSpPr>
            <p:cNvPr id="40" name="Rectangle: Rounded Corners 39"/>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41" name="Picture 40"/>
            <p:cNvPicPr>
              <a:picLocks noChangeAspect="1"/>
            </p:cNvPicPr>
            <p:nvPr/>
          </p:nvPicPr>
          <p:blipFill>
            <a:blip r:embed="rId1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42" name="Picture 41" descr="Icon&#10;&#10;Description automatically generated"/>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43" name="TextBox 42"/>
          <p:cNvSpPr txBox="1"/>
          <p:nvPr/>
        </p:nvSpPr>
        <p:spPr>
          <a:xfrm>
            <a:off x="3534162" y="3268187"/>
            <a:ext cx="5300471" cy="368300"/>
          </a:xfrm>
          <a:prstGeom prst="rect">
            <a:avLst/>
          </a:prstGeom>
          <a:noFill/>
        </p:spPr>
        <p:txBody>
          <a:bodyPr wrap="square" rtlCol="0">
            <a:spAutoFit/>
          </a:bodyPr>
          <a:lstStyle/>
          <a:p>
            <a:r>
              <a:rPr lang="vi-VN">
                <a:solidFill>
                  <a:schemeClr val="bg1">
                    <a:lumMod val="50000"/>
                  </a:schemeClr>
                </a:solidFill>
                <a:latin typeface="Times New Roman" panose="02020603050405020304" charset="0"/>
                <a:cs typeface="Times New Roman" panose="02020603050405020304" charset="0"/>
              </a:rPr>
              <a:t>Báo cáo bài tập lớn: Ứng dụng quản lý ngân hàng</a:t>
            </a:r>
            <a:endParaRPr lang="vi-VN">
              <a:solidFill>
                <a:schemeClr val="bg1">
                  <a:lumMod val="50000"/>
                </a:schemeClr>
              </a:solidFill>
              <a:latin typeface="Times New Roman" panose="02020603050405020304" charset="0"/>
              <a:cs typeface="Times New Roman" panose="02020603050405020304" charset="0"/>
            </a:endParaRPr>
          </a:p>
        </p:txBody>
      </p:sp>
      <p:sp>
        <p:nvSpPr>
          <p:cNvPr id="44" name="TextBox 43"/>
          <p:cNvSpPr txBox="1"/>
          <p:nvPr/>
        </p:nvSpPr>
        <p:spPr>
          <a:xfrm>
            <a:off x="2628464" y="839138"/>
            <a:ext cx="7086201" cy="3476625"/>
          </a:xfrm>
          <a:prstGeom prst="rect">
            <a:avLst/>
          </a:prstGeom>
          <a:noFill/>
        </p:spPr>
        <p:txBody>
          <a:bodyPr wrap="square" rtlCol="0">
            <a:spAutoFit/>
          </a:bodyPr>
          <a:lstStyle/>
          <a:p>
            <a:pPr algn="ctr"/>
            <a:r>
              <a:rPr lang="vi-VN" altLang="en-PH" sz="9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9600" b="1">
                <a:solidFill>
                  <a:srgbClr val="4285F4"/>
                </a:solidFill>
                <a:latin typeface="Times New Roman" panose="02020603050405020304" charset="0"/>
                <a:cs typeface="Times New Roman" panose="02020603050405020304" charset="0"/>
                <a:sym typeface="+mn-ea"/>
              </a:rPr>
              <a:t> </a:t>
            </a:r>
            <a:r>
              <a:rPr lang="vi-VN" altLang="en-PH" sz="9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9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600" b="1" dirty="0">
              <a:solidFill>
                <a:srgbClr val="2EA54E"/>
              </a:solidFill>
              <a:latin typeface="Times New Roman" panose="02020603050405020304" charset="0"/>
              <a:cs typeface="Times New Roman" panose="02020603050405020304" charset="0"/>
            </a:endParaRPr>
          </a:p>
          <a:p>
            <a:pPr algn="ctr"/>
            <a:endParaRPr lang="en-PH" sz="2800" dirty="0">
              <a:latin typeface="Times New Roman" panose="02020603050405020304" charset="0"/>
              <a:cs typeface="Times New Roman" panose="02020603050405020304" charset="0"/>
            </a:endParaRPr>
          </a:p>
        </p:txBody>
      </p:sp>
      <p:sp>
        <p:nvSpPr>
          <p:cNvPr id="2" name="TextBox 6"/>
          <p:cNvSpPr txBox="1"/>
          <p:nvPr/>
        </p:nvSpPr>
        <p:spPr>
          <a:xfrm>
            <a:off x="594360" y="6013564"/>
            <a:ext cx="2118360" cy="368300"/>
          </a:xfrm>
          <a:prstGeom prst="rect">
            <a:avLst/>
          </a:prstGeom>
          <a:noFill/>
        </p:spPr>
        <p:txBody>
          <a:bodyPr wrap="square" rtlCol="0">
            <a:spAutoFit/>
          </a:bodyPr>
          <a:p>
            <a:pPr algn="ctr"/>
            <a:r>
              <a:rPr lang="vi-VN" altLang="en-US">
                <a:solidFill>
                  <a:schemeClr val="bg1"/>
                </a:solidFill>
                <a:latin typeface="Times New Roman" panose="02020603050405020304" charset="0"/>
                <a:cs typeface="Times New Roman" panose="02020603050405020304" charset="0"/>
              </a:rPr>
              <a:t>221230778</a:t>
            </a:r>
            <a:r>
              <a:rPr lang="en-US">
                <a:latin typeface="Times New Roman" panose="02020603050405020304" charset="0"/>
                <a:cs typeface="Times New Roman" panose="02020603050405020304" charset="0"/>
              </a:rPr>
              <a:t> </a:t>
            </a:r>
            <a:endParaRPr lang="vi-VN">
              <a:latin typeface="Times New Roman" panose="02020603050405020304" charset="0"/>
              <a:cs typeface="Times New Roman" panose="02020603050405020304" charset="0"/>
            </a:endParaRPr>
          </a:p>
        </p:txBody>
      </p:sp>
      <p:sp>
        <p:nvSpPr>
          <p:cNvPr id="3" name="Text Box 2"/>
          <p:cNvSpPr txBox="1"/>
          <p:nvPr/>
        </p:nvSpPr>
        <p:spPr>
          <a:xfrm>
            <a:off x="3037840" y="6072505"/>
            <a:ext cx="2749550" cy="368300"/>
          </a:xfrm>
          <a:prstGeom prst="rect">
            <a:avLst/>
          </a:prstGeom>
          <a:noFill/>
        </p:spPr>
        <p:txBody>
          <a:bodyPr wrap="square" rtlCol="0" anchor="t">
            <a:spAutoFit/>
          </a:bodyPr>
          <a:p>
            <a:pPr algn="ctr"/>
            <a:r>
              <a:rPr lang="vi-VN" altLang="en-US">
                <a:solidFill>
                  <a:schemeClr val="bg1"/>
                </a:solidFill>
                <a:latin typeface="Times New Roman" panose="02020603050405020304" charset="0"/>
                <a:cs typeface="Times New Roman" panose="02020603050405020304" charset="0"/>
                <a:sym typeface="+mn-ea"/>
              </a:rPr>
              <a:t>221230765</a:t>
            </a:r>
            <a:r>
              <a:rPr lang="en-US">
                <a:latin typeface="Times New Roman" panose="02020603050405020304" charset="0"/>
                <a:cs typeface="Times New Roman" panose="02020603050405020304" charset="0"/>
                <a:sym typeface="+mn-ea"/>
              </a:rPr>
              <a:t> </a:t>
            </a:r>
            <a:endParaRPr lang="en-US">
              <a:latin typeface="Times New Roman" panose="02020603050405020304" charset="0"/>
              <a:cs typeface="Times New Roman" panose="02020603050405020304" charset="0"/>
              <a:sym typeface="+mn-ea"/>
            </a:endParaRPr>
          </a:p>
        </p:txBody>
      </p:sp>
      <p:sp>
        <p:nvSpPr>
          <p:cNvPr id="4" name="Text Box 3"/>
          <p:cNvSpPr txBox="1"/>
          <p:nvPr/>
        </p:nvSpPr>
        <p:spPr>
          <a:xfrm>
            <a:off x="6183630" y="6013450"/>
            <a:ext cx="2749550" cy="368300"/>
          </a:xfrm>
          <a:prstGeom prst="rect">
            <a:avLst/>
          </a:prstGeom>
          <a:noFill/>
        </p:spPr>
        <p:txBody>
          <a:bodyPr wrap="square" rtlCol="0" anchor="t">
            <a:spAutoFit/>
          </a:bodyPr>
          <a:p>
            <a:pPr algn="ctr"/>
            <a:r>
              <a:rPr lang="vi-VN" altLang="en-US">
                <a:solidFill>
                  <a:schemeClr val="bg1"/>
                </a:solidFill>
                <a:latin typeface="Times New Roman" panose="02020603050405020304" charset="0"/>
                <a:cs typeface="Times New Roman" panose="02020603050405020304" charset="0"/>
                <a:sym typeface="+mn-ea"/>
              </a:rPr>
              <a:t>221230941</a:t>
            </a:r>
            <a:r>
              <a:rPr lang="en-US">
                <a:latin typeface="Times New Roman" panose="02020603050405020304" charset="0"/>
                <a:cs typeface="Times New Roman" panose="02020603050405020304" charset="0"/>
                <a:sym typeface="+mn-ea"/>
              </a:rPr>
              <a:t> </a:t>
            </a:r>
            <a:endParaRPr lang="en-US">
              <a:latin typeface="Times New Roman" panose="02020603050405020304" charset="0"/>
              <a:cs typeface="Times New Roman" panose="02020603050405020304" charset="0"/>
              <a:sym typeface="+mn-ea"/>
            </a:endParaRPr>
          </a:p>
        </p:txBody>
      </p:sp>
      <p:sp>
        <p:nvSpPr>
          <p:cNvPr id="5" name="Text Box 4"/>
          <p:cNvSpPr txBox="1"/>
          <p:nvPr/>
        </p:nvSpPr>
        <p:spPr>
          <a:xfrm>
            <a:off x="9129395" y="5947410"/>
            <a:ext cx="2749550" cy="368300"/>
          </a:xfrm>
          <a:prstGeom prst="rect">
            <a:avLst/>
          </a:prstGeom>
          <a:noFill/>
        </p:spPr>
        <p:txBody>
          <a:bodyPr wrap="square" rtlCol="0" anchor="t">
            <a:spAutoFit/>
          </a:bodyPr>
          <a:p>
            <a:pPr algn="ctr"/>
            <a:r>
              <a:rPr lang="vi-VN" altLang="en-US">
                <a:solidFill>
                  <a:schemeClr val="bg1"/>
                </a:solidFill>
                <a:latin typeface="Times New Roman" panose="02020603050405020304" charset="0"/>
                <a:cs typeface="Times New Roman" panose="02020603050405020304" charset="0"/>
                <a:sym typeface="+mn-ea"/>
              </a:rPr>
              <a:t>221230870</a:t>
            </a:r>
            <a:r>
              <a:rPr lang="en-US">
                <a:latin typeface="Times New Roman" panose="02020603050405020304" charset="0"/>
                <a:cs typeface="Times New Roman" panose="02020603050405020304" charset="0"/>
                <a:sym typeface="+mn-ea"/>
              </a:rPr>
              <a:t> </a:t>
            </a:r>
            <a:endParaRPr lang="en-US">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250" fill="hold"/>
                                        <p:tgtEl>
                                          <p:spTgt spid="20"/>
                                        </p:tgtEl>
                                        <p:attrNameLst>
                                          <p:attrName>ppt_x</p:attrName>
                                        </p:attrNameLst>
                                      </p:cBhvr>
                                      <p:tavLst>
                                        <p:tav tm="0">
                                          <p:val>
                                            <p:strVal val="1+#ppt_w/2"/>
                                          </p:val>
                                        </p:tav>
                                        <p:tav tm="100000">
                                          <p:val>
                                            <p:strVal val="#ppt_x"/>
                                          </p:val>
                                        </p:tav>
                                      </p:tavLst>
                                    </p:anim>
                                    <p:anim calcmode="lin" valueType="num">
                                      <p:cBhvr additive="base">
                                        <p:cTn id="8" dur="1250" fill="hold"/>
                                        <p:tgtEl>
                                          <p:spTgt spid="20"/>
                                        </p:tgtEl>
                                        <p:attrNameLst>
                                          <p:attrName>ppt_y</p:attrName>
                                        </p:attrNameLst>
                                      </p:cBhvr>
                                      <p:tavLst>
                                        <p:tav tm="0">
                                          <p:val>
                                            <p:strVal val="1+#ppt_h/2"/>
                                          </p:val>
                                        </p:tav>
                                        <p:tav tm="100000">
                                          <p:val>
                                            <p:strVal val="#ppt_y"/>
                                          </p:val>
                                        </p:tav>
                                      </p:tavLst>
                                    </p:anim>
                                  </p:childTnLst>
                                </p:cTn>
                              </p:par>
                            </p:childTnLst>
                          </p:cTn>
                        </p:par>
                        <p:par>
                          <p:cTn id="9" fill="hold">
                            <p:stCondLst>
                              <p:cond delay="1500"/>
                            </p:stCondLst>
                            <p:childTnLst>
                              <p:par>
                                <p:cTn id="10" presetID="1" presetClass="entr" presetSubtype="0" fill="hold" nodeType="afterEffect">
                                  <p:stCondLst>
                                    <p:cond delay="0"/>
                                  </p:stCondLst>
                                  <p:iterate type="lt">
                                    <p:tmAbs val="80"/>
                                  </p:iterate>
                                  <p:childTnLst>
                                    <p:set>
                                      <p:cBhvr>
                                        <p:cTn id="11"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grpSp>
        <p:nvGrpSpPr>
          <p:cNvPr id="23" name="Group 22"/>
          <p:cNvGrpSpPr/>
          <p:nvPr/>
        </p:nvGrpSpPr>
        <p:grpSpPr>
          <a:xfrm>
            <a:off x="505185" y="1311212"/>
            <a:ext cx="5928271" cy="4980731"/>
            <a:chOff x="505185" y="1311212"/>
            <a:chExt cx="5928271" cy="4980731"/>
          </a:xfrm>
        </p:grpSpPr>
        <p:sp>
          <p:nvSpPr>
            <p:cNvPr id="20" name="Rectangle: Rounded Corners 19"/>
            <p:cNvSpPr/>
            <p:nvPr/>
          </p:nvSpPr>
          <p:spPr>
            <a:xfrm>
              <a:off x="505185" y="1311212"/>
              <a:ext cx="5928271" cy="4980731"/>
            </a:xfrm>
            <a:prstGeom prst="roundRect">
              <a:avLst>
                <a:gd name="adj" fmla="val 3843"/>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pic>
          <p:nvPicPr>
            <p:cNvPr id="22" name="Picture 21" descr="Logo&#10;&#10;Description automatically generated"/>
            <p:cNvPicPr>
              <a:picLocks noChangeAspect="1"/>
            </p:cNvPicPr>
            <p:nvPr/>
          </p:nvPicPr>
          <p:blipFill rotWithShape="1">
            <a:blip r:embed="rId1">
              <a:extLst>
                <a:ext uri="{BEBA8EAE-BF5A-486C-A8C5-ECC9F3942E4B}">
                  <a14:imgProps xmlns:a14="http://schemas.microsoft.com/office/drawing/2010/main">
                    <a14:imgLayer r:embed="rId2">
                      <a14:imgEffect>
                        <a14:backgroundRemoval t="10000" b="90000" l="10000" r="90000">
                          <a14:foregroundMark x1="55750" y1="49333" x2="60625" y2="59333"/>
                          <a14:backgroundMark x1="39500" y1="70833" x2="39500" y2="70833"/>
                        </a14:backgroundRemoval>
                      </a14:imgEffect>
                    </a14:imgLayer>
                  </a14:imgProps>
                </a:ext>
                <a:ext uri="{28A0092B-C50C-407E-A947-70E740481C1C}">
                  <a14:useLocalDpi xmlns:a14="http://schemas.microsoft.com/office/drawing/2010/main" val="0"/>
                </a:ext>
              </a:extLst>
            </a:blip>
            <a:srcRect l="28690" t="21587" r="28572" b="23651"/>
            <a:stretch>
              <a:fillRect/>
            </a:stretch>
          </p:blipFill>
          <p:spPr>
            <a:xfrm>
              <a:off x="631372" y="1439718"/>
              <a:ext cx="500743" cy="481215"/>
            </a:xfrm>
            <a:prstGeom prst="rect">
              <a:avLst/>
            </a:prstGeom>
          </p:spPr>
        </p:pic>
      </p:grpSp>
      <p:sp>
        <p:nvSpPr>
          <p:cNvPr id="25" name="Rectangle: Folded Corner 24"/>
          <p:cNvSpPr/>
          <p:nvPr/>
        </p:nvSpPr>
        <p:spPr>
          <a:xfrm>
            <a:off x="6953500" y="1611510"/>
            <a:ext cx="4893734" cy="711200"/>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charset="0"/>
              <a:cs typeface="Times New Roman" panose="02020603050405020304" charset="0"/>
            </a:endParaRPr>
          </a:p>
        </p:txBody>
      </p:sp>
      <p:sp>
        <p:nvSpPr>
          <p:cNvPr id="26" name="TextBox 25"/>
          <p:cNvSpPr txBox="1"/>
          <p:nvPr/>
        </p:nvSpPr>
        <p:spPr>
          <a:xfrm>
            <a:off x="7143652" y="1773187"/>
            <a:ext cx="3606800" cy="398780"/>
          </a:xfrm>
          <a:prstGeom prst="rect">
            <a:avLst/>
          </a:prstGeom>
          <a:noFill/>
        </p:spPr>
        <p:txBody>
          <a:bodyPr wrap="square" rtlCol="0">
            <a:spAutoFit/>
          </a:bodyPr>
          <a:lstStyle/>
          <a:p>
            <a:r>
              <a:rPr lang="vi-VN" altLang="en-PH" sz="2000" dirty="0">
                <a:solidFill>
                  <a:schemeClr val="bg1"/>
                </a:solidFill>
                <a:latin typeface="Times New Roman" panose="02020603050405020304" charset="0"/>
                <a:cs typeface="Times New Roman" panose="02020603050405020304" charset="0"/>
              </a:rPr>
              <a:t>Giới thiệu đề tài</a:t>
            </a:r>
            <a:endParaRPr lang="vi-VN" altLang="en-PH" sz="2000" dirty="0">
              <a:solidFill>
                <a:schemeClr val="bg1"/>
              </a:solidFill>
              <a:latin typeface="Times New Roman" panose="02020603050405020304" charset="0"/>
              <a:cs typeface="Times New Roman" panose="02020603050405020304" charset="0"/>
            </a:endParaRPr>
          </a:p>
        </p:txBody>
      </p:sp>
      <p:sp>
        <p:nvSpPr>
          <p:cNvPr id="28" name="Rectangle: Folded Corner 27"/>
          <p:cNvSpPr/>
          <p:nvPr/>
        </p:nvSpPr>
        <p:spPr>
          <a:xfrm>
            <a:off x="6953500" y="2619579"/>
            <a:ext cx="4893734" cy="711200"/>
          </a:xfrm>
          <a:prstGeom prst="foldedCorner">
            <a:avLst>
              <a:gd name="adj" fmla="val 47619"/>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29" name="TextBox 28"/>
          <p:cNvSpPr txBox="1"/>
          <p:nvPr/>
        </p:nvSpPr>
        <p:spPr>
          <a:xfrm>
            <a:off x="7143652" y="2757769"/>
            <a:ext cx="3606800" cy="398780"/>
          </a:xfrm>
          <a:prstGeom prst="rect">
            <a:avLst/>
          </a:prstGeom>
          <a:noFill/>
        </p:spPr>
        <p:txBody>
          <a:bodyPr wrap="square" rtlCol="0">
            <a:spAutoFit/>
          </a:bodyPr>
          <a:lstStyle/>
          <a:p>
            <a:r>
              <a:rPr lang="vi-VN" altLang="en-PH" sz="2000" dirty="0">
                <a:solidFill>
                  <a:schemeClr val="bg1"/>
                </a:solidFill>
                <a:latin typeface="Times New Roman" panose="02020603050405020304" charset="0"/>
                <a:cs typeface="Times New Roman" panose="02020603050405020304" charset="0"/>
                <a:sym typeface="+mn-ea"/>
              </a:rPr>
              <a:t>Người dùng (User)</a:t>
            </a:r>
            <a:endParaRPr lang="vi-VN" altLang="en-PH" sz="2000" dirty="0">
              <a:solidFill>
                <a:schemeClr val="bg1"/>
              </a:solidFill>
              <a:latin typeface="Times New Roman" panose="02020603050405020304" charset="0"/>
              <a:cs typeface="Times New Roman" panose="02020603050405020304" charset="0"/>
              <a:sym typeface="+mn-ea"/>
            </a:endParaRPr>
          </a:p>
        </p:txBody>
      </p:sp>
      <p:sp>
        <p:nvSpPr>
          <p:cNvPr id="31" name="Rectangle: Folded Corner 30"/>
          <p:cNvSpPr/>
          <p:nvPr/>
        </p:nvSpPr>
        <p:spPr>
          <a:xfrm>
            <a:off x="6960783" y="3720645"/>
            <a:ext cx="4893734" cy="711200"/>
          </a:xfrm>
          <a:prstGeom prst="foldedCorner">
            <a:avLst>
              <a:gd name="adj" fmla="val 47619"/>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2" name="TextBox 31"/>
          <p:cNvSpPr txBox="1"/>
          <p:nvPr/>
        </p:nvSpPr>
        <p:spPr>
          <a:xfrm>
            <a:off x="7179886" y="3869977"/>
            <a:ext cx="3606800" cy="398780"/>
          </a:xfrm>
          <a:prstGeom prst="rect">
            <a:avLst/>
          </a:prstGeom>
          <a:noFill/>
        </p:spPr>
        <p:txBody>
          <a:bodyPr wrap="square" rtlCol="0">
            <a:spAutoFit/>
          </a:bodyPr>
          <a:lstStyle/>
          <a:p>
            <a:r>
              <a:rPr lang="vi-VN" altLang="en-PH" sz="2000">
                <a:solidFill>
                  <a:schemeClr val="bg1"/>
                </a:solidFill>
                <a:latin typeface="Times New Roman" panose="02020603050405020304" charset="0"/>
                <a:cs typeface="Times New Roman" panose="02020603050405020304" charset="0"/>
                <a:sym typeface="+mn-ea"/>
              </a:rPr>
              <a:t>Quản trị viên (Admin)</a:t>
            </a:r>
            <a:endParaRPr lang="vi-VN" altLang="en-PH" sz="2000" dirty="0">
              <a:solidFill>
                <a:schemeClr val="bg1"/>
              </a:solidFill>
              <a:latin typeface="Times New Roman" panose="02020603050405020304" charset="0"/>
              <a:cs typeface="Times New Roman" panose="02020603050405020304" charset="0"/>
              <a:sym typeface="+mn-ea"/>
            </a:endParaRPr>
          </a:p>
        </p:txBody>
      </p:sp>
      <p:sp>
        <p:nvSpPr>
          <p:cNvPr id="34" name="Rectangle: Folded Corner 33"/>
          <p:cNvSpPr/>
          <p:nvPr/>
        </p:nvSpPr>
        <p:spPr>
          <a:xfrm>
            <a:off x="6960783" y="4728714"/>
            <a:ext cx="4893734" cy="711200"/>
          </a:xfrm>
          <a:prstGeom prst="foldedCorner">
            <a:avLst>
              <a:gd name="adj" fmla="val 47619"/>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5" name="TextBox 34"/>
          <p:cNvSpPr txBox="1"/>
          <p:nvPr/>
        </p:nvSpPr>
        <p:spPr>
          <a:xfrm>
            <a:off x="7179886" y="4878127"/>
            <a:ext cx="3606800" cy="398780"/>
          </a:xfrm>
          <a:prstGeom prst="rect">
            <a:avLst/>
          </a:prstGeom>
          <a:noFill/>
        </p:spPr>
        <p:txBody>
          <a:bodyPr wrap="square" rtlCol="0">
            <a:spAutoFit/>
          </a:bodyPr>
          <a:lstStyle/>
          <a:p>
            <a:r>
              <a:rPr lang="vi-VN" altLang="en-PH" sz="2000">
                <a:solidFill>
                  <a:schemeClr val="bg1"/>
                </a:solidFill>
                <a:latin typeface="Times New Roman" panose="02020603050405020304" charset="0"/>
                <a:cs typeface="Times New Roman" panose="02020603050405020304" charset="0"/>
                <a:sym typeface="+mn-ea"/>
              </a:rPr>
              <a:t>Tổng kết</a:t>
            </a:r>
            <a:endParaRPr lang="vi-VN" altLang="en-PH" sz="2000">
              <a:solidFill>
                <a:schemeClr val="bg1"/>
              </a:solidFill>
              <a:latin typeface="Times New Roman" panose="02020603050405020304" charset="0"/>
              <a:cs typeface="Times New Roman" panose="02020603050405020304" charset="0"/>
              <a:sym typeface="+mn-ea"/>
            </a:endParaRPr>
          </a:p>
        </p:txBody>
      </p:sp>
      <p:sp>
        <p:nvSpPr>
          <p:cNvPr id="41" name="Rectangle 40"/>
          <p:cNvSpPr/>
          <p:nvPr/>
        </p:nvSpPr>
        <p:spPr>
          <a:xfrm>
            <a:off x="442857" y="7164428"/>
            <a:ext cx="9005362" cy="4755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pic>
        <p:nvPicPr>
          <p:cNvPr id="53" name="Picture 52"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a:fillRect/>
          </a:stretch>
        </p:blipFill>
        <p:spPr>
          <a:xfrm rot="19778565">
            <a:off x="-1549748" y="3606558"/>
            <a:ext cx="951034" cy="799965"/>
          </a:xfrm>
          <a:prstGeom prst="rect">
            <a:avLst/>
          </a:prstGeom>
        </p:spPr>
      </p:pic>
      <p:pic>
        <p:nvPicPr>
          <p:cNvPr id="54" name="Picture 53" descr="Chart, logo, company name, bubble chart&#10;&#10;Description automatically generated"/>
          <p:cNvPicPr>
            <a:picLocks noChangeAspect="1"/>
          </p:cNvPicPr>
          <p:nvPr/>
        </p:nvPicPr>
        <p:blipFill rotWithShape="1">
          <a:blip r:embed="rId5">
            <a:extLst>
              <a:ext uri="{BEBA8EAE-BF5A-486C-A8C5-ECC9F3942E4B}">
                <a14:imgProps xmlns:a14="http://schemas.microsoft.com/office/drawing/2010/main">
                  <a14:imgLayer r:embed="rId4">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a:fillRect/>
          </a:stretch>
        </p:blipFill>
        <p:spPr>
          <a:xfrm rot="1302950">
            <a:off x="14474338" y="2516897"/>
            <a:ext cx="799475" cy="784100"/>
          </a:xfrm>
          <a:prstGeom prst="rect">
            <a:avLst/>
          </a:prstGeom>
        </p:spPr>
      </p:pic>
      <p:pic>
        <p:nvPicPr>
          <p:cNvPr id="55" name="Picture 54" descr="Chart, logo, company name, bubble chart&#10;&#10;Description automatically generated"/>
          <p:cNvPicPr>
            <a:picLocks noChangeAspect="1"/>
          </p:cNvPicPr>
          <p:nvPr/>
        </p:nvPicPr>
        <p:blipFill rotWithShape="1">
          <a:blip r:embed="rId6">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rot="946486">
            <a:off x="-1530585" y="7983489"/>
            <a:ext cx="912707" cy="740559"/>
          </a:xfrm>
          <a:prstGeom prst="rect">
            <a:avLst/>
          </a:prstGeom>
        </p:spPr>
      </p:pic>
      <p:pic>
        <p:nvPicPr>
          <p:cNvPr id="56" name="Picture 55" descr="Chart, logo, company name, bubble chart&#10;&#10;Description automatically generated"/>
          <p:cNvPicPr>
            <a:picLocks noChangeAspect="1"/>
          </p:cNvPicPr>
          <p:nvPr/>
        </p:nvPicPr>
        <p:blipFill rotWithShape="1">
          <a:blip r:embed="rId7">
            <a:extLst>
              <a:ext uri="{BEBA8EAE-BF5A-486C-A8C5-ECC9F3942E4B}">
                <a14:imgProps xmlns:a14="http://schemas.microsoft.com/office/drawing/2010/main">
                  <a14:imgLayer r:embed="rId4">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a:fillRect/>
          </a:stretch>
        </p:blipFill>
        <p:spPr>
          <a:xfrm rot="20058234">
            <a:off x="9139217" y="-2079301"/>
            <a:ext cx="795115" cy="775722"/>
          </a:xfrm>
          <a:prstGeom prst="rect">
            <a:avLst/>
          </a:prstGeom>
        </p:spPr>
      </p:pic>
      <p:pic>
        <p:nvPicPr>
          <p:cNvPr id="57" name="Picture 56" descr="Chart, logo, company name, bubble chart&#10;&#10;Description automatically generated"/>
          <p:cNvPicPr>
            <a:picLocks noChangeAspect="1"/>
          </p:cNvPicPr>
          <p:nvPr/>
        </p:nvPicPr>
        <p:blipFill rotWithShape="1">
          <a:blip r:embed="rId8">
            <a:extLst>
              <a:ext uri="{BEBA8EAE-BF5A-486C-A8C5-ECC9F3942E4B}">
                <a14:imgProps xmlns:a14="http://schemas.microsoft.com/office/drawing/2010/main">
                  <a14:imgLayer r:embed="rId4">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a:fillRect/>
          </a:stretch>
        </p:blipFill>
        <p:spPr>
          <a:xfrm rot="19651691">
            <a:off x="12196997" y="11525703"/>
            <a:ext cx="744261" cy="789097"/>
          </a:xfrm>
          <a:prstGeom prst="rect">
            <a:avLst/>
          </a:prstGeom>
        </p:spPr>
      </p:pic>
      <p:pic>
        <p:nvPicPr>
          <p:cNvPr id="58" name="Picture 57" descr="Chart, logo, company name, bubble chart&#10;&#10;Description automatically generated"/>
          <p:cNvPicPr>
            <a:picLocks noChangeAspect="1"/>
          </p:cNvPicPr>
          <p:nvPr/>
        </p:nvPicPr>
        <p:blipFill rotWithShape="1">
          <a:blip r:embed="rId9">
            <a:extLst>
              <a:ext uri="{BEBA8EAE-BF5A-486C-A8C5-ECC9F3942E4B}">
                <a14:imgProps xmlns:a14="http://schemas.microsoft.com/office/drawing/2010/main">
                  <a14:imgLayer r:embed="rId4">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a:fillRect/>
          </a:stretch>
        </p:blipFill>
        <p:spPr>
          <a:xfrm rot="20440538">
            <a:off x="-1558101" y="-3194771"/>
            <a:ext cx="722489" cy="900224"/>
          </a:xfrm>
          <a:prstGeom prst="rect">
            <a:avLst/>
          </a:prstGeom>
        </p:spPr>
      </p:pic>
      <p:sp>
        <p:nvSpPr>
          <p:cNvPr id="69" name="Rectangle 68"/>
          <p:cNvSpPr/>
          <p:nvPr/>
        </p:nvSpPr>
        <p:spPr>
          <a:xfrm>
            <a:off x="150703" y="-25103"/>
            <a:ext cx="12041297" cy="1084365"/>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nvGrpSpPr>
          <p:cNvPr id="70" name="Group 69"/>
          <p:cNvGrpSpPr/>
          <p:nvPr/>
        </p:nvGrpSpPr>
        <p:grpSpPr>
          <a:xfrm>
            <a:off x="3065043" y="346935"/>
            <a:ext cx="6654018" cy="550671"/>
            <a:chOff x="2768991" y="3077691"/>
            <a:chExt cx="6654018" cy="550671"/>
          </a:xfrm>
        </p:grpSpPr>
        <p:sp>
          <p:nvSpPr>
            <p:cNvPr id="71" name="Rectangle: Rounded Corners 70"/>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72" name="Picture 71"/>
            <p:cNvPicPr>
              <a:picLocks noChangeAspect="1"/>
            </p:cNvPicPr>
            <p:nvPr/>
          </p:nvPicPr>
          <p:blipFill>
            <a:blip r:embed="rId10">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3" name="Picture 72" descr="Icon&#10;&#10;Description automatically generated"/>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4" name="TextBox 73"/>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75" name="TextBox 74"/>
          <p:cNvSpPr txBox="1"/>
          <p:nvPr/>
        </p:nvSpPr>
        <p:spPr>
          <a:xfrm>
            <a:off x="3709886" y="436727"/>
            <a:ext cx="5300471" cy="36830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rPr>
              <a:t>Ứng dụng quả</a:t>
            </a:r>
            <a:r>
              <a:rPr lang="vi-VN" altLang="en-US">
                <a:solidFill>
                  <a:schemeClr val="bg1">
                    <a:lumMod val="50000"/>
                  </a:schemeClr>
                </a:solidFill>
                <a:latin typeface="Times New Roman" panose="02020603050405020304" charset="0"/>
                <a:cs typeface="Times New Roman" panose="02020603050405020304" charset="0"/>
              </a:rPr>
              <a:t>n lý ngân hàng</a:t>
            </a:r>
            <a:endParaRPr lang="vi-VN" altLang="en-US">
              <a:solidFill>
                <a:schemeClr val="bg1">
                  <a:lumMod val="50000"/>
                </a:schemeClr>
              </a:solidFill>
              <a:latin typeface="Times New Roman" panose="02020603050405020304" charset="0"/>
              <a:cs typeface="Times New Roman" panose="02020603050405020304" charset="0"/>
            </a:endParaRPr>
          </a:p>
        </p:txBody>
      </p:sp>
      <p:sp>
        <p:nvSpPr>
          <p:cNvPr id="76" name="Oval 75"/>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7" name="Oval 76"/>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8" name="Oval 77"/>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79" name="Group 78"/>
          <p:cNvGrpSpPr/>
          <p:nvPr/>
        </p:nvGrpSpPr>
        <p:grpSpPr>
          <a:xfrm rot="5400000" flipV="1">
            <a:off x="-3352257" y="3352257"/>
            <a:ext cx="6858002" cy="153487"/>
            <a:chOff x="-1" y="6732587"/>
            <a:chExt cx="12192000" cy="127731"/>
          </a:xfrm>
        </p:grpSpPr>
        <p:sp>
          <p:nvSpPr>
            <p:cNvPr id="80" name="Rectangle 79"/>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81" name="Rectangle 80"/>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82" name="Rectangle 81"/>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83" name="Rectangle 82"/>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ppt_x"/>
                                          </p:val>
                                        </p:tav>
                                        <p:tav tm="100000">
                                          <p:val>
                                            <p:strVal val="#ppt_x"/>
                                          </p:val>
                                        </p:tav>
                                      </p:tavLst>
                                    </p:anim>
                                    <p:anim calcmode="lin" valueType="num">
                                      <p:cBhvr additive="base">
                                        <p:cTn id="8" dur="10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decel="10000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1000" fill="hold"/>
                                        <p:tgtEl>
                                          <p:spTgt spid="25"/>
                                        </p:tgtEl>
                                        <p:attrNameLst>
                                          <p:attrName>ppt_x</p:attrName>
                                        </p:attrNameLst>
                                      </p:cBhvr>
                                      <p:tavLst>
                                        <p:tav tm="0">
                                          <p:val>
                                            <p:strVal val="1+#ppt_w/2"/>
                                          </p:val>
                                        </p:tav>
                                        <p:tav tm="100000">
                                          <p:val>
                                            <p:strVal val="#ppt_x"/>
                                          </p:val>
                                        </p:tav>
                                      </p:tavLst>
                                    </p:anim>
                                    <p:anim calcmode="lin" valueType="num">
                                      <p:cBhvr additive="base">
                                        <p:cTn id="14" dur="1000" fill="hold"/>
                                        <p:tgtEl>
                                          <p:spTgt spid="25"/>
                                        </p:tgtEl>
                                        <p:attrNameLst>
                                          <p:attrName>ppt_y</p:attrName>
                                        </p:attrNameLst>
                                      </p:cBhvr>
                                      <p:tavLst>
                                        <p:tav tm="0">
                                          <p:val>
                                            <p:strVal val="#ppt_y"/>
                                          </p:val>
                                        </p:tav>
                                        <p:tav tm="100000">
                                          <p:val>
                                            <p:strVal val="#ppt_y"/>
                                          </p:val>
                                        </p:tav>
                                      </p:tavLst>
                                    </p:anim>
                                  </p:childTnLst>
                                </p:cTn>
                              </p:par>
                              <p:par>
                                <p:cTn id="15" presetID="2" presetClass="entr" presetSubtype="2" decel="10000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1000" fill="hold"/>
                                        <p:tgtEl>
                                          <p:spTgt spid="26"/>
                                        </p:tgtEl>
                                        <p:attrNameLst>
                                          <p:attrName>ppt_x</p:attrName>
                                        </p:attrNameLst>
                                      </p:cBhvr>
                                      <p:tavLst>
                                        <p:tav tm="0">
                                          <p:val>
                                            <p:strVal val="1+#ppt_w/2"/>
                                          </p:val>
                                        </p:tav>
                                        <p:tav tm="100000">
                                          <p:val>
                                            <p:strVal val="#ppt_x"/>
                                          </p:val>
                                        </p:tav>
                                      </p:tavLst>
                                    </p:anim>
                                    <p:anim calcmode="lin" valueType="num">
                                      <p:cBhvr additive="base">
                                        <p:cTn id="18" dur="10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decel="10000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1000" fill="hold"/>
                                        <p:tgtEl>
                                          <p:spTgt spid="28"/>
                                        </p:tgtEl>
                                        <p:attrNameLst>
                                          <p:attrName>ppt_x</p:attrName>
                                        </p:attrNameLst>
                                      </p:cBhvr>
                                      <p:tavLst>
                                        <p:tav tm="0">
                                          <p:val>
                                            <p:strVal val="1+#ppt_w/2"/>
                                          </p:val>
                                        </p:tav>
                                        <p:tav tm="100000">
                                          <p:val>
                                            <p:strVal val="#ppt_x"/>
                                          </p:val>
                                        </p:tav>
                                      </p:tavLst>
                                    </p:anim>
                                    <p:anim calcmode="lin" valueType="num">
                                      <p:cBhvr additive="base">
                                        <p:cTn id="24" dur="1000" fill="hold"/>
                                        <p:tgtEl>
                                          <p:spTgt spid="28"/>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1000" fill="hold"/>
                                        <p:tgtEl>
                                          <p:spTgt spid="29"/>
                                        </p:tgtEl>
                                        <p:attrNameLst>
                                          <p:attrName>ppt_x</p:attrName>
                                        </p:attrNameLst>
                                      </p:cBhvr>
                                      <p:tavLst>
                                        <p:tav tm="0">
                                          <p:val>
                                            <p:strVal val="1+#ppt_w/2"/>
                                          </p:val>
                                        </p:tav>
                                        <p:tav tm="100000">
                                          <p:val>
                                            <p:strVal val="#ppt_x"/>
                                          </p:val>
                                        </p:tav>
                                      </p:tavLst>
                                    </p:anim>
                                    <p:anim calcmode="lin" valueType="num">
                                      <p:cBhvr additive="base">
                                        <p:cTn id="28" dur="10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decel="10000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additive="base">
                                        <p:cTn id="33" dur="1000" fill="hold"/>
                                        <p:tgtEl>
                                          <p:spTgt spid="31"/>
                                        </p:tgtEl>
                                        <p:attrNameLst>
                                          <p:attrName>ppt_x</p:attrName>
                                        </p:attrNameLst>
                                      </p:cBhvr>
                                      <p:tavLst>
                                        <p:tav tm="0">
                                          <p:val>
                                            <p:strVal val="1+#ppt_w/2"/>
                                          </p:val>
                                        </p:tav>
                                        <p:tav tm="100000">
                                          <p:val>
                                            <p:strVal val="#ppt_x"/>
                                          </p:val>
                                        </p:tav>
                                      </p:tavLst>
                                    </p:anim>
                                    <p:anim calcmode="lin" valueType="num">
                                      <p:cBhvr additive="base">
                                        <p:cTn id="34" dur="1000" fill="hold"/>
                                        <p:tgtEl>
                                          <p:spTgt spid="31"/>
                                        </p:tgtEl>
                                        <p:attrNameLst>
                                          <p:attrName>ppt_y</p:attrName>
                                        </p:attrNameLst>
                                      </p:cBhvr>
                                      <p:tavLst>
                                        <p:tav tm="0">
                                          <p:val>
                                            <p:strVal val="#ppt_y"/>
                                          </p:val>
                                        </p:tav>
                                        <p:tav tm="100000">
                                          <p:val>
                                            <p:strVal val="#ppt_y"/>
                                          </p:val>
                                        </p:tav>
                                      </p:tavLst>
                                    </p:anim>
                                  </p:childTnLst>
                                </p:cTn>
                              </p:par>
                              <p:par>
                                <p:cTn id="35" presetID="2" presetClass="entr" presetSubtype="2" decel="10000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1000" fill="hold"/>
                                        <p:tgtEl>
                                          <p:spTgt spid="32"/>
                                        </p:tgtEl>
                                        <p:attrNameLst>
                                          <p:attrName>ppt_x</p:attrName>
                                        </p:attrNameLst>
                                      </p:cBhvr>
                                      <p:tavLst>
                                        <p:tav tm="0">
                                          <p:val>
                                            <p:strVal val="1+#ppt_w/2"/>
                                          </p:val>
                                        </p:tav>
                                        <p:tav tm="100000">
                                          <p:val>
                                            <p:strVal val="#ppt_x"/>
                                          </p:val>
                                        </p:tav>
                                      </p:tavLst>
                                    </p:anim>
                                    <p:anim calcmode="lin" valueType="num">
                                      <p:cBhvr additive="base">
                                        <p:cTn id="38" dur="10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decel="10000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additive="base">
                                        <p:cTn id="43" dur="1000" fill="hold"/>
                                        <p:tgtEl>
                                          <p:spTgt spid="34"/>
                                        </p:tgtEl>
                                        <p:attrNameLst>
                                          <p:attrName>ppt_x</p:attrName>
                                        </p:attrNameLst>
                                      </p:cBhvr>
                                      <p:tavLst>
                                        <p:tav tm="0">
                                          <p:val>
                                            <p:strVal val="1+#ppt_w/2"/>
                                          </p:val>
                                        </p:tav>
                                        <p:tav tm="100000">
                                          <p:val>
                                            <p:strVal val="#ppt_x"/>
                                          </p:val>
                                        </p:tav>
                                      </p:tavLst>
                                    </p:anim>
                                    <p:anim calcmode="lin" valueType="num">
                                      <p:cBhvr additive="base">
                                        <p:cTn id="44" dur="1000" fill="hold"/>
                                        <p:tgtEl>
                                          <p:spTgt spid="34"/>
                                        </p:tgtEl>
                                        <p:attrNameLst>
                                          <p:attrName>ppt_y</p:attrName>
                                        </p:attrNameLst>
                                      </p:cBhvr>
                                      <p:tavLst>
                                        <p:tav tm="0">
                                          <p:val>
                                            <p:strVal val="#ppt_y"/>
                                          </p:val>
                                        </p:tav>
                                        <p:tav tm="100000">
                                          <p:val>
                                            <p:strVal val="#ppt_y"/>
                                          </p:val>
                                        </p:tav>
                                      </p:tavLst>
                                    </p:anim>
                                  </p:childTnLst>
                                </p:cTn>
                              </p:par>
                              <p:par>
                                <p:cTn id="45" presetID="2" presetClass="entr" presetSubtype="2" decel="10000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1000" fill="hold"/>
                                        <p:tgtEl>
                                          <p:spTgt spid="35"/>
                                        </p:tgtEl>
                                        <p:attrNameLst>
                                          <p:attrName>ppt_x</p:attrName>
                                        </p:attrNameLst>
                                      </p:cBhvr>
                                      <p:tavLst>
                                        <p:tav tm="0">
                                          <p:val>
                                            <p:strVal val="1+#ppt_w/2"/>
                                          </p:val>
                                        </p:tav>
                                        <p:tav tm="100000">
                                          <p:val>
                                            <p:strVal val="#ppt_x"/>
                                          </p:val>
                                        </p:tav>
                                      </p:tavLst>
                                    </p:anim>
                                    <p:anim calcmode="lin" valueType="num">
                                      <p:cBhvr additive="base">
                                        <p:cTn id="48" dur="10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8" grpId="0" animBg="1"/>
      <p:bldP spid="29" grpId="0"/>
      <p:bldP spid="31" grpId="0" animBg="1"/>
      <p:bldP spid="32" grpId="0"/>
      <p:bldP spid="34" grpId="0" animBg="1"/>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grpSp>
        <p:nvGrpSpPr>
          <p:cNvPr id="23" name="Group 22"/>
          <p:cNvGrpSpPr/>
          <p:nvPr/>
        </p:nvGrpSpPr>
        <p:grpSpPr>
          <a:xfrm>
            <a:off x="-6365896" y="1311212"/>
            <a:ext cx="5928271" cy="4980731"/>
            <a:chOff x="505185" y="1311212"/>
            <a:chExt cx="5928271" cy="4980731"/>
          </a:xfrm>
        </p:grpSpPr>
        <p:sp>
          <p:nvSpPr>
            <p:cNvPr id="20" name="Rectangle: Rounded Corners 19"/>
            <p:cNvSpPr/>
            <p:nvPr/>
          </p:nvSpPr>
          <p:spPr>
            <a:xfrm>
              <a:off x="505185" y="1311212"/>
              <a:ext cx="5928271" cy="4980731"/>
            </a:xfrm>
            <a:prstGeom prst="roundRect">
              <a:avLst>
                <a:gd name="adj" fmla="val 3843"/>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pic>
          <p:nvPicPr>
            <p:cNvPr id="22" name="Picture 21" descr="Logo&#10;&#10;Description automatically generated"/>
            <p:cNvPicPr>
              <a:picLocks noChangeAspect="1"/>
            </p:cNvPicPr>
            <p:nvPr/>
          </p:nvPicPr>
          <p:blipFill rotWithShape="1">
            <a:blip r:embed="rId1">
              <a:extLst>
                <a:ext uri="{BEBA8EAE-BF5A-486C-A8C5-ECC9F3942E4B}">
                  <a14:imgProps xmlns:a14="http://schemas.microsoft.com/office/drawing/2010/main">
                    <a14:imgLayer r:embed="rId2">
                      <a14:imgEffect>
                        <a14:backgroundRemoval t="10000" b="90000" l="10000" r="90000">
                          <a14:foregroundMark x1="55750" y1="49333" x2="60625" y2="59333"/>
                          <a14:backgroundMark x1="39500" y1="70833" x2="39500" y2="70833"/>
                        </a14:backgroundRemoval>
                      </a14:imgEffect>
                    </a14:imgLayer>
                  </a14:imgProps>
                </a:ext>
                <a:ext uri="{28A0092B-C50C-407E-A947-70E740481C1C}">
                  <a14:useLocalDpi xmlns:a14="http://schemas.microsoft.com/office/drawing/2010/main" val="0"/>
                </a:ext>
              </a:extLst>
            </a:blip>
            <a:srcRect l="28690" t="21587" r="28572" b="23651"/>
            <a:stretch>
              <a:fillRect/>
            </a:stretch>
          </p:blipFill>
          <p:spPr>
            <a:xfrm>
              <a:off x="631372" y="1439718"/>
              <a:ext cx="500743" cy="481215"/>
            </a:xfrm>
            <a:prstGeom prst="rect">
              <a:avLst/>
            </a:prstGeom>
          </p:spPr>
        </p:pic>
      </p:grpSp>
      <p:sp>
        <p:nvSpPr>
          <p:cNvPr id="25" name="Rectangle: Folded Corner 24"/>
          <p:cNvSpPr/>
          <p:nvPr/>
        </p:nvSpPr>
        <p:spPr>
          <a:xfrm>
            <a:off x="3743795" y="3100161"/>
            <a:ext cx="4893734" cy="1667193"/>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charset="0"/>
              <a:cs typeface="Times New Roman" panose="02020603050405020304" charset="0"/>
            </a:endParaRPr>
          </a:p>
        </p:txBody>
      </p:sp>
      <p:sp>
        <p:nvSpPr>
          <p:cNvPr id="26" name="TextBox 25"/>
          <p:cNvSpPr txBox="1"/>
          <p:nvPr/>
        </p:nvSpPr>
        <p:spPr>
          <a:xfrm>
            <a:off x="3583940" y="3100070"/>
            <a:ext cx="5081270" cy="922020"/>
          </a:xfrm>
          <a:prstGeom prst="rect">
            <a:avLst/>
          </a:prstGeom>
          <a:noFill/>
        </p:spPr>
        <p:txBody>
          <a:bodyPr wrap="square" rtlCol="0">
            <a:spAutoFit/>
          </a:bodyPr>
          <a:lstStyle/>
          <a:p>
            <a:pPr algn="ctr"/>
            <a:r>
              <a:rPr lang="vi-VN" altLang="en-PH" sz="5400" dirty="0">
                <a:solidFill>
                  <a:schemeClr val="bg1"/>
                </a:solidFill>
                <a:latin typeface="Times New Roman" panose="02020603050405020304" charset="0"/>
                <a:cs typeface="Times New Roman" panose="02020603050405020304" charset="0"/>
                <a:sym typeface="+mn-ea"/>
              </a:rPr>
              <a:t>Giới thiệu đề tài</a:t>
            </a:r>
            <a:endParaRPr lang="vi-VN" altLang="en-PH" sz="5400" b="1" dirty="0">
              <a:solidFill>
                <a:schemeClr val="bg1"/>
              </a:solidFill>
              <a:latin typeface="Times New Roman" panose="02020603050405020304" charset="0"/>
              <a:cs typeface="Times New Roman" panose="02020603050405020304" charset="0"/>
              <a:sym typeface="+mn-ea"/>
            </a:endParaRPr>
          </a:p>
        </p:txBody>
      </p:sp>
      <p:sp>
        <p:nvSpPr>
          <p:cNvPr id="41" name="Rectangle 40"/>
          <p:cNvSpPr/>
          <p:nvPr/>
        </p:nvSpPr>
        <p:spPr>
          <a:xfrm>
            <a:off x="442857" y="7164428"/>
            <a:ext cx="9005362" cy="4755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nvGrpSpPr>
          <p:cNvPr id="42" name="Group 41"/>
          <p:cNvGrpSpPr/>
          <p:nvPr/>
        </p:nvGrpSpPr>
        <p:grpSpPr>
          <a:xfrm rot="5400000" flipV="1">
            <a:off x="-3352257" y="3352257"/>
            <a:ext cx="6858002" cy="153487"/>
            <a:chOff x="-1" y="6732587"/>
            <a:chExt cx="12192000" cy="127731"/>
          </a:xfrm>
        </p:grpSpPr>
        <p:sp>
          <p:nvSpPr>
            <p:cNvPr id="43" name="Rectangle 42"/>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44" name="Rectangle 43"/>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45" name="Rectangle 44"/>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46" name="Rectangle 45"/>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47" name="Picture 46"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a:fillRect/>
          </a:stretch>
        </p:blipFill>
        <p:spPr>
          <a:xfrm rot="19778565">
            <a:off x="2354207" y="2357787"/>
            <a:ext cx="951034" cy="799965"/>
          </a:xfrm>
          <a:prstGeom prst="rect">
            <a:avLst/>
          </a:prstGeom>
        </p:spPr>
      </p:pic>
      <p:pic>
        <p:nvPicPr>
          <p:cNvPr id="48" name="Picture 47" descr="Chart, logo, company name, bubble chart&#10;&#10;Description automatically generated"/>
          <p:cNvPicPr>
            <a:picLocks noChangeAspect="1"/>
          </p:cNvPicPr>
          <p:nvPr/>
        </p:nvPicPr>
        <p:blipFill rotWithShape="1">
          <a:blip r:embed="rId5">
            <a:extLst>
              <a:ext uri="{BEBA8EAE-BF5A-486C-A8C5-ECC9F3942E4B}">
                <a14:imgProps xmlns:a14="http://schemas.microsoft.com/office/drawing/2010/main">
                  <a14:imgLayer r:embed="rId4">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a:fillRect/>
          </a:stretch>
        </p:blipFill>
        <p:spPr>
          <a:xfrm rot="1302950">
            <a:off x="9900901" y="2018748"/>
            <a:ext cx="799475" cy="784100"/>
          </a:xfrm>
          <a:prstGeom prst="rect">
            <a:avLst/>
          </a:prstGeom>
        </p:spPr>
      </p:pic>
      <p:pic>
        <p:nvPicPr>
          <p:cNvPr id="49" name="Picture 48" descr="Chart, logo, company name, bubble chart&#10;&#10;Description automatically generated"/>
          <p:cNvPicPr>
            <a:picLocks noChangeAspect="1"/>
          </p:cNvPicPr>
          <p:nvPr/>
        </p:nvPicPr>
        <p:blipFill rotWithShape="1">
          <a:blip r:embed="rId6">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rot="946486">
            <a:off x="1760904" y="4728050"/>
            <a:ext cx="912707" cy="740559"/>
          </a:xfrm>
          <a:prstGeom prst="rect">
            <a:avLst/>
          </a:prstGeom>
        </p:spPr>
      </p:pic>
      <p:pic>
        <p:nvPicPr>
          <p:cNvPr id="50" name="Picture 49" descr="Chart, logo, company name, bubble chart&#10;&#10;Description automatically generated"/>
          <p:cNvPicPr>
            <a:picLocks noChangeAspect="1"/>
          </p:cNvPicPr>
          <p:nvPr/>
        </p:nvPicPr>
        <p:blipFill rotWithShape="1">
          <a:blip r:embed="rId7">
            <a:extLst>
              <a:ext uri="{BEBA8EAE-BF5A-486C-A8C5-ECC9F3942E4B}">
                <a14:imgProps xmlns:a14="http://schemas.microsoft.com/office/drawing/2010/main">
                  <a14:imgLayer r:embed="rId4">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a:fillRect/>
          </a:stretch>
        </p:blipFill>
        <p:spPr>
          <a:xfrm rot="20058234">
            <a:off x="9050661" y="4972415"/>
            <a:ext cx="795115" cy="775722"/>
          </a:xfrm>
          <a:prstGeom prst="rect">
            <a:avLst/>
          </a:prstGeom>
        </p:spPr>
      </p:pic>
      <p:pic>
        <p:nvPicPr>
          <p:cNvPr id="51" name="Picture 50" descr="Chart, logo, company name, bubble chart&#10;&#10;Description automatically generated"/>
          <p:cNvPicPr>
            <a:picLocks noChangeAspect="1"/>
          </p:cNvPicPr>
          <p:nvPr/>
        </p:nvPicPr>
        <p:blipFill rotWithShape="1">
          <a:blip r:embed="rId8">
            <a:extLst>
              <a:ext uri="{BEBA8EAE-BF5A-486C-A8C5-ECC9F3942E4B}">
                <a14:imgProps xmlns:a14="http://schemas.microsoft.com/office/drawing/2010/main">
                  <a14:imgLayer r:embed="rId4">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a:fillRect/>
          </a:stretch>
        </p:blipFill>
        <p:spPr>
          <a:xfrm rot="19651691">
            <a:off x="5328691" y="5499448"/>
            <a:ext cx="744261" cy="789097"/>
          </a:xfrm>
          <a:prstGeom prst="rect">
            <a:avLst/>
          </a:prstGeom>
        </p:spPr>
      </p:pic>
      <p:pic>
        <p:nvPicPr>
          <p:cNvPr id="52" name="Picture 51" descr="Chart, logo, company name, bubble chart&#10;&#10;Description automatically generated"/>
          <p:cNvPicPr>
            <a:picLocks noChangeAspect="1"/>
          </p:cNvPicPr>
          <p:nvPr/>
        </p:nvPicPr>
        <p:blipFill rotWithShape="1">
          <a:blip r:embed="rId9">
            <a:extLst>
              <a:ext uri="{BEBA8EAE-BF5A-486C-A8C5-ECC9F3942E4B}">
                <a14:imgProps xmlns:a14="http://schemas.microsoft.com/office/drawing/2010/main">
                  <a14:imgLayer r:embed="rId4">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a:fillRect/>
          </a:stretch>
        </p:blipFill>
        <p:spPr>
          <a:xfrm rot="20440538">
            <a:off x="5829418" y="1817226"/>
            <a:ext cx="722489" cy="900224"/>
          </a:xfrm>
          <a:prstGeom prst="rect">
            <a:avLst/>
          </a:prstGeom>
        </p:spPr>
      </p:pic>
      <p:sp>
        <p:nvSpPr>
          <p:cNvPr id="36" name="Rectangle: Folded Corner 35"/>
          <p:cNvSpPr/>
          <p:nvPr/>
        </p:nvSpPr>
        <p:spPr>
          <a:xfrm>
            <a:off x="15114812" y="2619579"/>
            <a:ext cx="4893734" cy="711200"/>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7" name="TextBox 36"/>
          <p:cNvSpPr txBox="1"/>
          <p:nvPr/>
        </p:nvSpPr>
        <p:spPr>
          <a:xfrm>
            <a:off x="15304964" y="2757769"/>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2</a:t>
            </a:r>
            <a:endParaRPr lang="en-PH" sz="2000" dirty="0">
              <a:solidFill>
                <a:schemeClr val="bg1"/>
              </a:solidFill>
              <a:latin typeface="Times New Roman" panose="02020603050405020304" charset="0"/>
              <a:cs typeface="Times New Roman" panose="02020603050405020304" charset="0"/>
            </a:endParaRPr>
          </a:p>
        </p:txBody>
      </p:sp>
      <p:sp>
        <p:nvSpPr>
          <p:cNvPr id="38" name="Rectangle: Folded Corner 37"/>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9" name="TextBox 38"/>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3</a:t>
            </a:r>
            <a:endParaRPr lang="en-PH" sz="2000" dirty="0">
              <a:solidFill>
                <a:schemeClr val="bg1"/>
              </a:solidFill>
              <a:latin typeface="Times New Roman" panose="02020603050405020304" charset="0"/>
              <a:cs typeface="Times New Roman" panose="02020603050405020304" charset="0"/>
            </a:endParaRPr>
          </a:p>
        </p:txBody>
      </p:sp>
      <p:sp>
        <p:nvSpPr>
          <p:cNvPr id="40" name="Rectangle: Folded Corner 39"/>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53" name="TextBox 52"/>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4</a:t>
            </a:r>
            <a:endParaRPr lang="en-PH" sz="2000" dirty="0">
              <a:solidFill>
                <a:schemeClr val="bg1"/>
              </a:solidFill>
              <a:latin typeface="Times New Roman" panose="02020603050405020304" charset="0"/>
              <a:cs typeface="Times New Roman" panose="02020603050405020304" charset="0"/>
            </a:endParaRPr>
          </a:p>
        </p:txBody>
      </p:sp>
      <p:sp>
        <p:nvSpPr>
          <p:cNvPr id="64" name="Rectangle 63"/>
          <p:cNvSpPr/>
          <p:nvPr/>
        </p:nvSpPr>
        <p:spPr>
          <a:xfrm>
            <a:off x="150703" y="19503"/>
            <a:ext cx="12041297" cy="1084365"/>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nvGrpSpPr>
          <p:cNvPr id="65" name="Group 64"/>
          <p:cNvGrpSpPr/>
          <p:nvPr/>
        </p:nvGrpSpPr>
        <p:grpSpPr>
          <a:xfrm>
            <a:off x="3065043" y="346935"/>
            <a:ext cx="6654018" cy="550671"/>
            <a:chOff x="2768991" y="3077691"/>
            <a:chExt cx="6654018" cy="550671"/>
          </a:xfrm>
        </p:grpSpPr>
        <p:sp>
          <p:nvSpPr>
            <p:cNvPr id="66" name="Rectangle: Rounded Corners 65"/>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67" name="Picture 66"/>
            <p:cNvPicPr>
              <a:picLocks noChangeAspect="1"/>
            </p:cNvPicPr>
            <p:nvPr/>
          </p:nvPicPr>
          <p:blipFill>
            <a:blip r:embed="rId10">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68" name="Picture 67" descr="Icon&#10;&#10;Description automatically generated"/>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69" name="TextBox 68"/>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70" name="TextBox 69"/>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sp>
        <p:nvSpPr>
          <p:cNvPr id="71" name="Oval 70"/>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2" name="Oval 71"/>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3" name="Oval 72"/>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6" name="Rectangle: Folded Corner 25"/>
          <p:cNvSpPr/>
          <p:nvPr/>
        </p:nvSpPr>
        <p:spPr>
          <a:xfrm>
            <a:off x="15114812" y="2619579"/>
            <a:ext cx="4893734" cy="711200"/>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27" name="TextBox 26"/>
          <p:cNvSpPr txBox="1"/>
          <p:nvPr/>
        </p:nvSpPr>
        <p:spPr>
          <a:xfrm>
            <a:off x="15304964" y="2757769"/>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2</a:t>
            </a:r>
            <a:endParaRPr lang="en-PH" sz="2000" dirty="0">
              <a:solidFill>
                <a:schemeClr val="bg1"/>
              </a:solidFill>
              <a:latin typeface="Times New Roman" panose="02020603050405020304" charset="0"/>
              <a:cs typeface="Times New Roman" panose="02020603050405020304" charset="0"/>
            </a:endParaRPr>
          </a:p>
        </p:txBody>
      </p:sp>
      <p:sp>
        <p:nvSpPr>
          <p:cNvPr id="29" name="Rectangle: Folded Corner 28"/>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0" name="TextBox 29"/>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3</a:t>
            </a:r>
            <a:endParaRPr lang="en-PH" sz="2000" dirty="0">
              <a:solidFill>
                <a:schemeClr val="bg1"/>
              </a:solidFill>
              <a:latin typeface="Times New Roman" panose="02020603050405020304" charset="0"/>
              <a:cs typeface="Times New Roman" panose="02020603050405020304" charset="0"/>
            </a:endParaRPr>
          </a:p>
        </p:txBody>
      </p:sp>
      <p:sp>
        <p:nvSpPr>
          <p:cNvPr id="32" name="Rectangle: Folded Corner 31"/>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3" name="TextBox 32"/>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4</a:t>
            </a:r>
            <a:endParaRPr lang="en-PH" sz="2000" dirty="0">
              <a:solidFill>
                <a:schemeClr val="bg1"/>
              </a:solidFill>
              <a:latin typeface="Times New Roman" panose="02020603050405020304" charset="0"/>
              <a:cs typeface="Times New Roman" panose="02020603050405020304" charset="0"/>
            </a:endParaRPr>
          </a:p>
        </p:txBody>
      </p:sp>
      <p:sp>
        <p:nvSpPr>
          <p:cNvPr id="40" name="Rectangle 39"/>
          <p:cNvSpPr/>
          <p:nvPr/>
        </p:nvSpPr>
        <p:spPr>
          <a:xfrm>
            <a:off x="442857" y="1311211"/>
            <a:ext cx="9005362"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5" name="Rectangle: Folded Corner 44"/>
          <p:cNvSpPr/>
          <p:nvPr/>
        </p:nvSpPr>
        <p:spPr>
          <a:xfrm>
            <a:off x="442856" y="1303651"/>
            <a:ext cx="2030179"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charset="0"/>
              <a:cs typeface="Times New Roman" panose="02020603050405020304" charset="0"/>
            </a:endParaRPr>
          </a:p>
        </p:txBody>
      </p:sp>
      <p:sp>
        <p:nvSpPr>
          <p:cNvPr id="46" name="TextBox 45"/>
          <p:cNvSpPr txBox="1"/>
          <p:nvPr/>
        </p:nvSpPr>
        <p:spPr>
          <a:xfrm>
            <a:off x="510274" y="1389073"/>
            <a:ext cx="1496291" cy="398780"/>
          </a:xfrm>
          <a:prstGeom prst="rect">
            <a:avLst/>
          </a:prstGeom>
          <a:noFill/>
        </p:spPr>
        <p:txBody>
          <a:bodyPr wrap="square" rtlCol="0">
            <a:spAutoFit/>
          </a:bodyPr>
          <a:lstStyle/>
          <a:p>
            <a:r>
              <a:rPr lang="vi-VN" altLang="en-PH" sz="2000">
                <a:solidFill>
                  <a:schemeClr val="bg1"/>
                </a:solidFill>
                <a:latin typeface="Times New Roman" panose="02020603050405020304" charset="0"/>
                <a:cs typeface="Times New Roman" panose="02020603050405020304" charset="0"/>
              </a:rPr>
              <a:t>Đề tài</a:t>
            </a:r>
            <a:endParaRPr lang="vi-VN" altLang="en-PH" sz="2000">
              <a:solidFill>
                <a:schemeClr val="bg1"/>
              </a:solidFill>
              <a:latin typeface="Times New Roman" panose="02020603050405020304" charset="0"/>
              <a:cs typeface="Times New Roman" panose="02020603050405020304" charset="0"/>
            </a:endParaRPr>
          </a:p>
        </p:txBody>
      </p:sp>
      <p:sp>
        <p:nvSpPr>
          <p:cNvPr id="51" name="TextBox 50"/>
          <p:cNvSpPr txBox="1"/>
          <p:nvPr/>
        </p:nvSpPr>
        <p:spPr>
          <a:xfrm>
            <a:off x="442595" y="2011680"/>
            <a:ext cx="8926830" cy="3107690"/>
          </a:xfrm>
          <a:prstGeom prst="rect">
            <a:avLst/>
          </a:prstGeom>
          <a:noFill/>
        </p:spPr>
        <p:txBody>
          <a:bodyPr wrap="square" rtlCol="0">
            <a:spAutoFit/>
          </a:bodyPr>
          <a:lstStyle/>
          <a:p>
            <a:r>
              <a:rPr lang="vi-VN" altLang="en-US" sz="2800">
                <a:latin typeface="Times New Roman" panose="02020603050405020304" charset="0"/>
                <a:cs typeface="Times New Roman" panose="02020603050405020304" charset="0"/>
                <a:sym typeface="+mn-ea"/>
              </a:rPr>
              <a:t>-</a:t>
            </a:r>
            <a:r>
              <a:rPr lang="en-US" altLang="en-US" sz="2800">
                <a:latin typeface="Times New Roman" panose="02020603050405020304" charset="0"/>
                <a:cs typeface="Times New Roman" panose="02020603050405020304" charset="0"/>
                <a:sym typeface="+mn-ea"/>
              </a:rPr>
              <a:t>Chương trình quản lý ngân hàng là giải pháp số hóa toàn </a:t>
            </a:r>
            <a:r>
              <a:rPr lang="vi-VN" altLang="en-US" sz="2800">
                <a:latin typeface="Times New Roman" panose="02020603050405020304" charset="0"/>
                <a:cs typeface="Times New Roman" panose="02020603050405020304" charset="0"/>
                <a:sym typeface="+mn-ea"/>
              </a:rPr>
              <a:t>     </a:t>
            </a:r>
            <a:r>
              <a:rPr lang="en-US" altLang="en-US" sz="2800">
                <a:latin typeface="Times New Roman" panose="02020603050405020304" charset="0"/>
                <a:cs typeface="Times New Roman" panose="02020603050405020304" charset="0"/>
                <a:sym typeface="+mn-ea"/>
              </a:rPr>
              <a:t>diện, hỗ trợ tối ưu hóa các dịch vụ tài chính. </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a:t>
            </a:r>
            <a:r>
              <a:rPr lang="en-US" altLang="en-US" sz="2800">
                <a:latin typeface="Times New Roman" panose="02020603050405020304" charset="0"/>
                <a:cs typeface="Times New Roman" panose="02020603050405020304" charset="0"/>
                <a:sym typeface="+mn-ea"/>
              </a:rPr>
              <a:t>Hệ thống được xây dựng với hai nhóm người dùng chính: Người dùng và Quản trị viên. </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a:t>
            </a:r>
            <a:r>
              <a:rPr lang="en-US" altLang="en-US" sz="2800">
                <a:latin typeface="Times New Roman" panose="02020603050405020304" charset="0"/>
                <a:cs typeface="Times New Roman" panose="02020603050405020304" charset="0"/>
                <a:sym typeface="+mn-ea"/>
              </a:rPr>
              <a:t>Người dùng có thể dễ dàng thực hiện các thao tác như đăng ký tài khoản, vay vốn, giao dịch, và gửi tiết kiệm. </a:t>
            </a:r>
            <a:endParaRPr lang="en-US" altLang="en-US" sz="2800">
              <a:latin typeface="Times New Roman" panose="02020603050405020304" charset="0"/>
              <a:cs typeface="Times New Roman" panose="02020603050405020304" charset="0"/>
            </a:endParaRPr>
          </a:p>
          <a:p>
            <a:endParaRPr lang="vi-VN" sz="2800" b="1">
              <a:latin typeface="SVN-Product Sans" panose="020B0403030502040203" pitchFamily="34" charset="0"/>
            </a:endParaRPr>
          </a:p>
        </p:txBody>
      </p:sp>
      <p:sp>
        <p:nvSpPr>
          <p:cNvPr id="62" name="Rectangle 61"/>
          <p:cNvSpPr/>
          <p:nvPr/>
        </p:nvSpPr>
        <p:spPr>
          <a:xfrm>
            <a:off x="127845" y="-2138"/>
            <a:ext cx="12064155" cy="1139459"/>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63" name="TextBox 62"/>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64" name="Oval 63"/>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5" name="Oval 64"/>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6" name="Oval 65"/>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67" name="Group 66"/>
          <p:cNvGrpSpPr/>
          <p:nvPr/>
        </p:nvGrpSpPr>
        <p:grpSpPr>
          <a:xfrm>
            <a:off x="3065043" y="346935"/>
            <a:ext cx="6654018" cy="550671"/>
            <a:chOff x="2768991" y="3077691"/>
            <a:chExt cx="6654018" cy="550671"/>
          </a:xfrm>
        </p:grpSpPr>
        <p:sp>
          <p:nvSpPr>
            <p:cNvPr id="68" name="Rectangle: Rounded Corners 67"/>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69" name="Picture 68"/>
            <p:cNvPicPr>
              <a:picLocks noChangeAspect="1"/>
            </p:cNvPicPr>
            <p:nvPr/>
          </p:nvPicPr>
          <p:blipFill>
            <a:blip r:embed="rId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0" name="Picture 69" descr="Icon&#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1" name="TextBox 70"/>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grpSp>
        <p:nvGrpSpPr>
          <p:cNvPr id="72" name="Group 71"/>
          <p:cNvGrpSpPr/>
          <p:nvPr/>
        </p:nvGrpSpPr>
        <p:grpSpPr>
          <a:xfrm rot="5400000" flipV="1">
            <a:off x="-3375115" y="3352257"/>
            <a:ext cx="6858002" cy="153487"/>
            <a:chOff x="-1" y="6732587"/>
            <a:chExt cx="12192000" cy="127731"/>
          </a:xfrm>
        </p:grpSpPr>
        <p:sp>
          <p:nvSpPr>
            <p:cNvPr id="73" name="Rectangle 72"/>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4" name="Rectangle 73"/>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5" name="Rectangle 74"/>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6" name="Rectangle 75"/>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77" name="Picture 76"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a:fillRect/>
          </a:stretch>
        </p:blipFill>
        <p:spPr>
          <a:xfrm rot="19778565">
            <a:off x="9585169" y="1119484"/>
            <a:ext cx="951034" cy="799965"/>
          </a:xfrm>
          <a:prstGeom prst="rect">
            <a:avLst/>
          </a:prstGeom>
        </p:spPr>
      </p:pic>
      <p:pic>
        <p:nvPicPr>
          <p:cNvPr id="78" name="Picture 77" descr="Chart, logo, company name, bubble chart&#10;&#10;Description automatically generated"/>
          <p:cNvPicPr>
            <a:picLocks noChangeAspect="1"/>
          </p:cNvPicPr>
          <p:nvPr/>
        </p:nvPicPr>
        <p:blipFill rotWithShape="1">
          <a:blip r:embed="rId5">
            <a:extLst>
              <a:ext uri="{BEBA8EAE-BF5A-486C-A8C5-ECC9F3942E4B}">
                <a14:imgProps xmlns:a14="http://schemas.microsoft.com/office/drawing/2010/main">
                  <a14:imgLayer r:embed="rId4">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a:fillRect/>
          </a:stretch>
        </p:blipFill>
        <p:spPr>
          <a:xfrm rot="1302950">
            <a:off x="10789844" y="1639545"/>
            <a:ext cx="799475" cy="784100"/>
          </a:xfrm>
          <a:prstGeom prst="rect">
            <a:avLst/>
          </a:prstGeom>
        </p:spPr>
      </p:pic>
      <p:pic>
        <p:nvPicPr>
          <p:cNvPr id="79" name="Picture 78" descr="Chart, logo, company name, bubble chart&#10;&#10;Description automatically generated"/>
          <p:cNvPicPr>
            <a:picLocks noChangeAspect="1"/>
          </p:cNvPicPr>
          <p:nvPr/>
        </p:nvPicPr>
        <p:blipFill rotWithShape="1">
          <a:blip r:embed="rId6">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rot="946486">
            <a:off x="9751337" y="2480103"/>
            <a:ext cx="912707" cy="740559"/>
          </a:xfrm>
          <a:prstGeom prst="rect">
            <a:avLst/>
          </a:prstGeom>
        </p:spPr>
      </p:pic>
      <p:pic>
        <p:nvPicPr>
          <p:cNvPr id="80" name="Picture 79" descr="Chart, logo, company name, bubble chart&#10;&#10;Description automatically generated"/>
          <p:cNvPicPr>
            <a:picLocks noChangeAspect="1"/>
          </p:cNvPicPr>
          <p:nvPr/>
        </p:nvPicPr>
        <p:blipFill rotWithShape="1">
          <a:blip r:embed="rId7">
            <a:extLst>
              <a:ext uri="{BEBA8EAE-BF5A-486C-A8C5-ECC9F3942E4B}">
                <a14:imgProps xmlns:a14="http://schemas.microsoft.com/office/drawing/2010/main">
                  <a14:imgLayer r:embed="rId4">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a:fillRect/>
          </a:stretch>
        </p:blipFill>
        <p:spPr>
          <a:xfrm rot="20058234">
            <a:off x="10802014" y="3290876"/>
            <a:ext cx="795115" cy="775722"/>
          </a:xfrm>
          <a:prstGeom prst="rect">
            <a:avLst/>
          </a:prstGeom>
        </p:spPr>
      </p:pic>
      <p:pic>
        <p:nvPicPr>
          <p:cNvPr id="81" name="Picture 80" descr="Chart, logo, company name, bubble chart&#10;&#10;Description automatically generated"/>
          <p:cNvPicPr>
            <a:picLocks noChangeAspect="1"/>
          </p:cNvPicPr>
          <p:nvPr/>
        </p:nvPicPr>
        <p:blipFill rotWithShape="1">
          <a:blip r:embed="rId8">
            <a:extLst>
              <a:ext uri="{BEBA8EAE-BF5A-486C-A8C5-ECC9F3942E4B}">
                <a14:imgProps xmlns:a14="http://schemas.microsoft.com/office/drawing/2010/main">
                  <a14:imgLayer r:embed="rId4">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a:fillRect/>
          </a:stretch>
        </p:blipFill>
        <p:spPr>
          <a:xfrm rot="19651691">
            <a:off x="9731551" y="4120864"/>
            <a:ext cx="744261" cy="789097"/>
          </a:xfrm>
          <a:prstGeom prst="rect">
            <a:avLst/>
          </a:prstGeom>
        </p:spPr>
      </p:pic>
      <p:pic>
        <p:nvPicPr>
          <p:cNvPr id="82" name="Picture 81" descr="Chart, logo, company name, bubble chart&#10;&#10;Description automatically generated"/>
          <p:cNvPicPr>
            <a:picLocks noChangeAspect="1"/>
          </p:cNvPicPr>
          <p:nvPr/>
        </p:nvPicPr>
        <p:blipFill rotWithShape="1">
          <a:blip r:embed="rId9">
            <a:extLst>
              <a:ext uri="{BEBA8EAE-BF5A-486C-A8C5-ECC9F3942E4B}">
                <a14:imgProps xmlns:a14="http://schemas.microsoft.com/office/drawing/2010/main">
                  <a14:imgLayer r:embed="rId4">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a:fillRect/>
          </a:stretch>
        </p:blipFill>
        <p:spPr>
          <a:xfrm rot="20440538">
            <a:off x="10711599" y="4989801"/>
            <a:ext cx="722489" cy="90022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80"/>
                                  </p:iterate>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6" name="Rectangle: Folded Corner 25"/>
          <p:cNvSpPr/>
          <p:nvPr/>
        </p:nvSpPr>
        <p:spPr>
          <a:xfrm>
            <a:off x="15114812" y="2619579"/>
            <a:ext cx="4893734" cy="711200"/>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27" name="TextBox 26"/>
          <p:cNvSpPr txBox="1"/>
          <p:nvPr/>
        </p:nvSpPr>
        <p:spPr>
          <a:xfrm>
            <a:off x="15304964" y="2757769"/>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2</a:t>
            </a:r>
            <a:endParaRPr lang="en-PH" sz="2000" dirty="0">
              <a:solidFill>
                <a:schemeClr val="bg1"/>
              </a:solidFill>
              <a:latin typeface="Times New Roman" panose="02020603050405020304" charset="0"/>
              <a:cs typeface="Times New Roman" panose="02020603050405020304" charset="0"/>
            </a:endParaRPr>
          </a:p>
        </p:txBody>
      </p:sp>
      <p:sp>
        <p:nvSpPr>
          <p:cNvPr id="29" name="Rectangle: Folded Corner 28"/>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0" name="TextBox 29"/>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3</a:t>
            </a:r>
            <a:endParaRPr lang="en-PH" sz="2000" dirty="0">
              <a:solidFill>
                <a:schemeClr val="bg1"/>
              </a:solidFill>
              <a:latin typeface="Times New Roman" panose="02020603050405020304" charset="0"/>
              <a:cs typeface="Times New Roman" panose="02020603050405020304" charset="0"/>
            </a:endParaRPr>
          </a:p>
        </p:txBody>
      </p:sp>
      <p:sp>
        <p:nvSpPr>
          <p:cNvPr id="32" name="Rectangle: Folded Corner 31"/>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3" name="TextBox 32"/>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4</a:t>
            </a:r>
            <a:endParaRPr lang="en-PH" sz="2000" dirty="0">
              <a:solidFill>
                <a:schemeClr val="bg1"/>
              </a:solidFill>
              <a:latin typeface="Times New Roman" panose="02020603050405020304" charset="0"/>
              <a:cs typeface="Times New Roman" panose="02020603050405020304" charset="0"/>
            </a:endParaRPr>
          </a:p>
        </p:txBody>
      </p:sp>
      <p:sp>
        <p:nvSpPr>
          <p:cNvPr id="40" name="Rectangle 39"/>
          <p:cNvSpPr/>
          <p:nvPr/>
        </p:nvSpPr>
        <p:spPr>
          <a:xfrm>
            <a:off x="442856" y="1311211"/>
            <a:ext cx="11501425"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pic>
        <p:nvPicPr>
          <p:cNvPr id="43" name="Picture 42" descr="Chart, logo, company name, bubble chart&#10;&#10;Description automatically generated"/>
          <p:cNvPicPr>
            <a:picLocks noChangeAspect="1"/>
          </p:cNvPicPr>
          <p:nvPr/>
        </p:nvPicPr>
        <p:blipFill rotWithShape="1">
          <a:blip r:embed="rId1">
            <a:extLst>
              <a:ext uri="{BEBA8EAE-BF5A-486C-A8C5-ECC9F3942E4B}">
                <a14:imgProps xmlns:a14="http://schemas.microsoft.com/office/drawing/2010/main">
                  <a14:imgLayer r:embed="rId2">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a:fillRect/>
          </a:stretch>
        </p:blipFill>
        <p:spPr>
          <a:xfrm>
            <a:off x="422488" y="5913735"/>
            <a:ext cx="784843" cy="660173"/>
          </a:xfrm>
          <a:prstGeom prst="rect">
            <a:avLst/>
          </a:prstGeom>
        </p:spPr>
      </p:pic>
      <p:pic>
        <p:nvPicPr>
          <p:cNvPr id="44" name="Picture 43"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2">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a:fillRect/>
          </a:stretch>
        </p:blipFill>
        <p:spPr>
          <a:xfrm rot="1302950">
            <a:off x="11357195" y="1406299"/>
            <a:ext cx="530083" cy="519889"/>
          </a:xfrm>
          <a:prstGeom prst="rect">
            <a:avLst/>
          </a:prstGeom>
        </p:spPr>
      </p:pic>
      <p:sp>
        <p:nvSpPr>
          <p:cNvPr id="45" name="Rectangle: Folded Corner 44"/>
          <p:cNvSpPr/>
          <p:nvPr/>
        </p:nvSpPr>
        <p:spPr>
          <a:xfrm>
            <a:off x="442856" y="1303651"/>
            <a:ext cx="2030179"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charset="0"/>
              <a:cs typeface="Times New Roman" panose="02020603050405020304" charset="0"/>
            </a:endParaRPr>
          </a:p>
        </p:txBody>
      </p:sp>
      <p:sp>
        <p:nvSpPr>
          <p:cNvPr id="46" name="TextBox 45"/>
          <p:cNvSpPr txBox="1"/>
          <p:nvPr/>
        </p:nvSpPr>
        <p:spPr>
          <a:xfrm>
            <a:off x="510274" y="1389073"/>
            <a:ext cx="1496291" cy="398780"/>
          </a:xfrm>
          <a:prstGeom prst="rect">
            <a:avLst/>
          </a:prstGeom>
          <a:noFill/>
        </p:spPr>
        <p:txBody>
          <a:bodyPr wrap="square" rtlCol="0">
            <a:spAutoFit/>
          </a:bodyPr>
          <a:lstStyle/>
          <a:p>
            <a:r>
              <a:rPr lang="vi-VN" altLang="en-PH" sz="2000">
                <a:solidFill>
                  <a:schemeClr val="bg1"/>
                </a:solidFill>
                <a:latin typeface="Times New Roman" panose="02020603050405020304" charset="0"/>
                <a:cs typeface="Times New Roman" panose="02020603050405020304" charset="0"/>
                <a:sym typeface="+mn-ea"/>
              </a:rPr>
              <a:t>Đề tài</a:t>
            </a:r>
            <a:endParaRPr lang="vi-VN" altLang="en-PH" sz="2000" dirty="0">
              <a:solidFill>
                <a:schemeClr val="bg1"/>
              </a:solidFill>
              <a:latin typeface="Times New Roman" panose="02020603050405020304" charset="0"/>
              <a:cs typeface="Times New Roman" panose="02020603050405020304" charset="0"/>
              <a:sym typeface="+mn-ea"/>
            </a:endParaRPr>
          </a:p>
        </p:txBody>
      </p:sp>
      <p:pic>
        <p:nvPicPr>
          <p:cNvPr id="48" name="Picture 47" descr="Chart, logo, company name, bubble chart&#10;&#10;Description automatically generated"/>
          <p:cNvPicPr>
            <a:picLocks noChangeAspect="1"/>
          </p:cNvPicPr>
          <p:nvPr/>
        </p:nvPicPr>
        <p:blipFill rotWithShape="1">
          <a:blip r:embed="rId4">
            <a:extLst>
              <a:ext uri="{BEBA8EAE-BF5A-486C-A8C5-ECC9F3942E4B}">
                <a14:imgProps xmlns:a14="http://schemas.microsoft.com/office/drawing/2010/main">
                  <a14:imgLayer r:embed="rId2">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a:fillRect/>
          </a:stretch>
        </p:blipFill>
        <p:spPr>
          <a:xfrm>
            <a:off x="12192000" y="2900217"/>
            <a:ext cx="528207" cy="515324"/>
          </a:xfrm>
          <a:prstGeom prst="rect">
            <a:avLst/>
          </a:prstGeom>
        </p:spPr>
      </p:pic>
      <p:pic>
        <p:nvPicPr>
          <p:cNvPr id="49" name="Picture 48" descr="Chart, logo, company name, bubble chart&#10;&#10;Description automatically generated"/>
          <p:cNvPicPr>
            <a:picLocks noChangeAspect="1"/>
          </p:cNvPicPr>
          <p:nvPr/>
        </p:nvPicPr>
        <p:blipFill rotWithShape="1">
          <a:blip r:embed="rId5">
            <a:extLst>
              <a:ext uri="{BEBA8EAE-BF5A-486C-A8C5-ECC9F3942E4B}">
                <a14:imgProps xmlns:a14="http://schemas.microsoft.com/office/drawing/2010/main">
                  <a14:imgLayer r:embed="rId2">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a:fillRect/>
          </a:stretch>
        </p:blipFill>
        <p:spPr>
          <a:xfrm rot="20517629">
            <a:off x="11313929" y="5984968"/>
            <a:ext cx="553141" cy="586464"/>
          </a:xfrm>
          <a:prstGeom prst="rect">
            <a:avLst/>
          </a:prstGeom>
        </p:spPr>
      </p:pic>
      <p:pic>
        <p:nvPicPr>
          <p:cNvPr id="50" name="Picture 49" descr="Chart, logo, company name, bubble chart&#10;&#10;Description automatically generated"/>
          <p:cNvPicPr>
            <a:picLocks noChangeAspect="1"/>
          </p:cNvPicPr>
          <p:nvPr/>
        </p:nvPicPr>
        <p:blipFill rotWithShape="1">
          <a:blip r:embed="rId6">
            <a:extLst>
              <a:ext uri="{BEBA8EAE-BF5A-486C-A8C5-ECC9F3942E4B}">
                <a14:imgProps xmlns:a14="http://schemas.microsoft.com/office/drawing/2010/main">
                  <a14:imgLayer r:embed="rId2">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a:fillRect/>
          </a:stretch>
        </p:blipFill>
        <p:spPr>
          <a:xfrm>
            <a:off x="2540453" y="1325647"/>
            <a:ext cx="471592" cy="587605"/>
          </a:xfrm>
          <a:prstGeom prst="rect">
            <a:avLst/>
          </a:prstGeom>
        </p:spPr>
      </p:pic>
      <p:sp>
        <p:nvSpPr>
          <p:cNvPr id="51" name="TextBox 50"/>
          <p:cNvSpPr txBox="1"/>
          <p:nvPr/>
        </p:nvSpPr>
        <p:spPr>
          <a:xfrm>
            <a:off x="442595" y="2020570"/>
            <a:ext cx="11365865" cy="1814830"/>
          </a:xfrm>
          <a:prstGeom prst="rect">
            <a:avLst/>
          </a:prstGeom>
          <a:noFill/>
        </p:spPr>
        <p:txBody>
          <a:bodyPr wrap="square" rtlCol="0">
            <a:spAutoFit/>
          </a:bodyPr>
          <a:lstStyle/>
          <a:p>
            <a:r>
              <a:rPr lang="en-US" altLang="en-US" sz="2800">
                <a:latin typeface="Times New Roman" panose="02020603050405020304" charset="0"/>
                <a:cs typeface="Times New Roman" panose="02020603050405020304" charset="0"/>
              </a:rPr>
              <a:t>Quản trị viên </a:t>
            </a:r>
            <a:r>
              <a:rPr lang=""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ảm nhận vai trò giám sát, phê duyệt và thống kê, </a:t>
            </a:r>
            <a:r>
              <a:rPr lang=""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ảm bảo hoạt </a:t>
            </a:r>
            <a:r>
              <a:rPr lang=""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ộng ngân hàng diễn ra hiệu quả. </a:t>
            </a:r>
            <a:endParaRPr lang="en-US" altLang="en-US" sz="2800">
              <a:latin typeface="Times New Roman" panose="02020603050405020304" charset="0"/>
              <a:cs typeface="Times New Roman" panose="02020603050405020304" charset="0"/>
            </a:endParaRPr>
          </a:p>
          <a:p>
            <a:r>
              <a:rPr lang="en-US" altLang="en-US" sz="2800">
                <a:latin typeface="Times New Roman" panose="02020603050405020304" charset="0"/>
                <a:cs typeface="Times New Roman" panose="02020603050405020304" charset="0"/>
              </a:rPr>
              <a:t>Với giao diện thân thiện và tính n</a:t>
            </a:r>
            <a:r>
              <a:rPr lang="" altLang="en-US" sz="2800">
                <a:latin typeface="Times New Roman" panose="02020603050405020304" charset="0"/>
                <a:cs typeface="Times New Roman" panose="02020603050405020304" charset="0"/>
              </a:rPr>
              <a:t>ă</a:t>
            </a:r>
            <a:r>
              <a:rPr lang="en-US" altLang="en-US" sz="2800">
                <a:latin typeface="Times New Roman" panose="02020603050405020304" charset="0"/>
                <a:cs typeface="Times New Roman" panose="02020603050405020304" charset="0"/>
              </a:rPr>
              <a:t>ng linh hoạt, ch</a:t>
            </a:r>
            <a:r>
              <a:rPr lang=""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ơng trình h</a:t>
            </a:r>
            <a:r>
              <a:rPr lang=""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ớng tới việc nâng cao trải nghiệm khách hàng và cải thiện hiệu quả quản l</a:t>
            </a:r>
            <a:r>
              <a:rPr lang="" altLang="en-US" sz="2800">
                <a:latin typeface="Times New Roman" panose="02020603050405020304" charset="0"/>
                <a:cs typeface="Times New Roman" panose="02020603050405020304" charset="0"/>
              </a:rPr>
              <a:t>ý</a:t>
            </a:r>
            <a:r>
              <a:rPr lang="en-US" altLang="en-US" sz="2800">
                <a:latin typeface="Times New Roman" panose="02020603050405020304" charset="0"/>
                <a:cs typeface="Times New Roman" panose="02020603050405020304" charset="0"/>
              </a:rPr>
              <a:t> ngân hàng.</a:t>
            </a:r>
            <a:endParaRPr lang="vi-VN" sz="2800">
              <a:latin typeface="Times New Roman" panose="02020603050405020304" charset="0"/>
              <a:cs typeface="Times New Roman" panose="02020603050405020304" charset="0"/>
            </a:endParaRPr>
          </a:p>
        </p:txBody>
      </p:sp>
      <p:sp>
        <p:nvSpPr>
          <p:cNvPr id="62" name="Rectangle 61"/>
          <p:cNvSpPr/>
          <p:nvPr/>
        </p:nvSpPr>
        <p:spPr>
          <a:xfrm>
            <a:off x="127845" y="-42810"/>
            <a:ext cx="12064155" cy="118013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63" name="TextBox 62"/>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64" name="Oval 63"/>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5" name="Oval 64"/>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6" name="Oval 65"/>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67" name="Group 66"/>
          <p:cNvGrpSpPr/>
          <p:nvPr/>
        </p:nvGrpSpPr>
        <p:grpSpPr>
          <a:xfrm>
            <a:off x="3065043" y="346935"/>
            <a:ext cx="6654018" cy="550671"/>
            <a:chOff x="2768991" y="3077691"/>
            <a:chExt cx="6654018" cy="550671"/>
          </a:xfrm>
        </p:grpSpPr>
        <p:sp>
          <p:nvSpPr>
            <p:cNvPr id="68" name="Rectangle: Rounded Corners 67"/>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69" name="Picture 68"/>
            <p:cNvPicPr>
              <a:picLocks noChangeAspect="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0" name="Picture 69" descr="Icon&#10;&#10;Description automatically generated"/>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1" name="TextBox 70"/>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grpSp>
        <p:nvGrpSpPr>
          <p:cNvPr id="72" name="Group 71"/>
          <p:cNvGrpSpPr/>
          <p:nvPr/>
        </p:nvGrpSpPr>
        <p:grpSpPr>
          <a:xfrm rot="5400000" flipV="1">
            <a:off x="-3375115" y="3352257"/>
            <a:ext cx="6858002" cy="153487"/>
            <a:chOff x="-1" y="6732587"/>
            <a:chExt cx="12192000" cy="127731"/>
          </a:xfrm>
        </p:grpSpPr>
        <p:sp>
          <p:nvSpPr>
            <p:cNvPr id="73" name="Rectangle 72"/>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4" name="Rectangle 73"/>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5" name="Rectangle 74"/>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6" name="Rectangle 75"/>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36" name="Picture 35" descr="Chart, logo, company name, bubble chart&#10;&#10;Description automatically generated"/>
          <p:cNvPicPr>
            <a:picLocks noChangeAspect="1"/>
          </p:cNvPicPr>
          <p:nvPr/>
        </p:nvPicPr>
        <p:blipFill rotWithShape="1">
          <a:blip r:embed="rId9">
            <a:extLst>
              <a:ext uri="{BEBA8EAE-BF5A-486C-A8C5-ECC9F3942E4B}">
                <a14:imgProps xmlns:a14="http://schemas.microsoft.com/office/drawing/2010/main">
                  <a14:imgLayer r:embed="rId2">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80"/>
                                  </p:iterate>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9" name="Rectangle: Folded Corner 28"/>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0" name="TextBox 29"/>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3</a:t>
            </a:r>
            <a:endParaRPr lang="en-PH" sz="2000" dirty="0">
              <a:solidFill>
                <a:schemeClr val="bg1"/>
              </a:solidFill>
              <a:latin typeface="Times New Roman" panose="02020603050405020304" charset="0"/>
              <a:cs typeface="Times New Roman" panose="02020603050405020304" charset="0"/>
            </a:endParaRPr>
          </a:p>
        </p:txBody>
      </p:sp>
      <p:sp>
        <p:nvSpPr>
          <p:cNvPr id="32" name="Rectangle: Folded Corner 31"/>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3" name="TextBox 32"/>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4</a:t>
            </a:r>
            <a:endParaRPr lang="en-PH" sz="2000" dirty="0">
              <a:solidFill>
                <a:schemeClr val="bg1"/>
              </a:solidFill>
              <a:latin typeface="Times New Roman" panose="02020603050405020304" charset="0"/>
              <a:cs typeface="Times New Roman" panose="02020603050405020304" charset="0"/>
            </a:endParaRPr>
          </a:p>
        </p:txBody>
      </p:sp>
      <p:sp>
        <p:nvSpPr>
          <p:cNvPr id="40" name="Rectangle 39"/>
          <p:cNvSpPr/>
          <p:nvPr/>
        </p:nvSpPr>
        <p:spPr>
          <a:xfrm>
            <a:off x="442856" y="-5557443"/>
            <a:ext cx="11501425"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pic>
        <p:nvPicPr>
          <p:cNvPr id="43" name="Picture 42" descr="Chart, logo, company name, bubble chart&#10;&#10;Description automatically generated"/>
          <p:cNvPicPr>
            <a:picLocks noChangeAspect="1"/>
          </p:cNvPicPr>
          <p:nvPr/>
        </p:nvPicPr>
        <p:blipFill rotWithShape="1">
          <a:blip r:embed="rId1">
            <a:extLst>
              <a:ext uri="{BEBA8EAE-BF5A-486C-A8C5-ECC9F3942E4B}">
                <a14:imgProps xmlns:a14="http://schemas.microsoft.com/office/drawing/2010/main">
                  <a14:imgLayer r:embed="rId2">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a:fillRect/>
          </a:stretch>
        </p:blipFill>
        <p:spPr>
          <a:xfrm>
            <a:off x="422488" y="-954919"/>
            <a:ext cx="784843" cy="660173"/>
          </a:xfrm>
          <a:prstGeom prst="rect">
            <a:avLst/>
          </a:prstGeom>
        </p:spPr>
      </p:pic>
      <p:pic>
        <p:nvPicPr>
          <p:cNvPr id="44" name="Picture 43"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2">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a:fillRect/>
          </a:stretch>
        </p:blipFill>
        <p:spPr>
          <a:xfrm rot="1302950">
            <a:off x="11357195" y="-5462355"/>
            <a:ext cx="530083" cy="519889"/>
          </a:xfrm>
          <a:prstGeom prst="rect">
            <a:avLst/>
          </a:prstGeom>
        </p:spPr>
      </p:pic>
      <p:sp>
        <p:nvSpPr>
          <p:cNvPr id="45" name="Rectangle: Folded Corner 44"/>
          <p:cNvSpPr/>
          <p:nvPr/>
        </p:nvSpPr>
        <p:spPr>
          <a:xfrm>
            <a:off x="442856" y="-5565003"/>
            <a:ext cx="2030179"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charset="0"/>
              <a:cs typeface="Times New Roman" panose="02020603050405020304" charset="0"/>
            </a:endParaRPr>
          </a:p>
        </p:txBody>
      </p:sp>
      <p:sp>
        <p:nvSpPr>
          <p:cNvPr id="46" name="TextBox 45"/>
          <p:cNvSpPr txBox="1"/>
          <p:nvPr/>
        </p:nvSpPr>
        <p:spPr>
          <a:xfrm>
            <a:off x="510274" y="-5479581"/>
            <a:ext cx="1496291" cy="441533"/>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1</a:t>
            </a:r>
            <a:endParaRPr lang="en-PH" sz="2000" dirty="0">
              <a:solidFill>
                <a:schemeClr val="bg1"/>
              </a:solidFill>
              <a:latin typeface="Times New Roman" panose="02020603050405020304" charset="0"/>
              <a:cs typeface="Times New Roman" panose="02020603050405020304" charset="0"/>
            </a:endParaRPr>
          </a:p>
        </p:txBody>
      </p:sp>
      <p:pic>
        <p:nvPicPr>
          <p:cNvPr id="48" name="Picture 47" descr="Chart, logo, company name, bubble chart&#10;&#10;Description automatically generated"/>
          <p:cNvPicPr>
            <a:picLocks noChangeAspect="1"/>
          </p:cNvPicPr>
          <p:nvPr/>
        </p:nvPicPr>
        <p:blipFill rotWithShape="1">
          <a:blip r:embed="rId4">
            <a:extLst>
              <a:ext uri="{BEBA8EAE-BF5A-486C-A8C5-ECC9F3942E4B}">
                <a14:imgProps xmlns:a14="http://schemas.microsoft.com/office/drawing/2010/main">
                  <a14:imgLayer r:embed="rId2">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a:fillRect/>
          </a:stretch>
        </p:blipFill>
        <p:spPr>
          <a:xfrm>
            <a:off x="12192000" y="2900217"/>
            <a:ext cx="528207" cy="515324"/>
          </a:xfrm>
          <a:prstGeom prst="rect">
            <a:avLst/>
          </a:prstGeom>
        </p:spPr>
      </p:pic>
      <p:pic>
        <p:nvPicPr>
          <p:cNvPr id="49" name="Picture 48" descr="Chart, logo, company name, bubble chart&#10;&#10;Description automatically generated"/>
          <p:cNvPicPr>
            <a:picLocks noChangeAspect="1"/>
          </p:cNvPicPr>
          <p:nvPr/>
        </p:nvPicPr>
        <p:blipFill rotWithShape="1">
          <a:blip r:embed="rId5">
            <a:extLst>
              <a:ext uri="{BEBA8EAE-BF5A-486C-A8C5-ECC9F3942E4B}">
                <a14:imgProps xmlns:a14="http://schemas.microsoft.com/office/drawing/2010/main">
                  <a14:imgLayer r:embed="rId2">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a:fillRect/>
          </a:stretch>
        </p:blipFill>
        <p:spPr>
          <a:xfrm rot="20517629">
            <a:off x="11313929" y="-883686"/>
            <a:ext cx="553141" cy="586464"/>
          </a:xfrm>
          <a:prstGeom prst="rect">
            <a:avLst/>
          </a:prstGeom>
        </p:spPr>
      </p:pic>
      <p:pic>
        <p:nvPicPr>
          <p:cNvPr id="50" name="Picture 49" descr="Chart, logo, company name, bubble chart&#10;&#10;Description automatically generated"/>
          <p:cNvPicPr>
            <a:picLocks noChangeAspect="1"/>
          </p:cNvPicPr>
          <p:nvPr/>
        </p:nvPicPr>
        <p:blipFill rotWithShape="1">
          <a:blip r:embed="rId6">
            <a:extLst>
              <a:ext uri="{BEBA8EAE-BF5A-486C-A8C5-ECC9F3942E4B}">
                <a14:imgProps xmlns:a14="http://schemas.microsoft.com/office/drawing/2010/main">
                  <a14:imgLayer r:embed="rId2">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a:fillRect/>
          </a:stretch>
        </p:blipFill>
        <p:spPr>
          <a:xfrm>
            <a:off x="2540453" y="-5543007"/>
            <a:ext cx="471592" cy="587605"/>
          </a:xfrm>
          <a:prstGeom prst="rect">
            <a:avLst/>
          </a:prstGeom>
        </p:spPr>
      </p:pic>
      <p:sp>
        <p:nvSpPr>
          <p:cNvPr id="62" name="Rectangle 61"/>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63" name="TextBox 62"/>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64" name="Oval 63"/>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5" name="Oval 64"/>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6" name="Oval 65"/>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67" name="Group 66"/>
          <p:cNvGrpSpPr/>
          <p:nvPr/>
        </p:nvGrpSpPr>
        <p:grpSpPr>
          <a:xfrm>
            <a:off x="3065043" y="346935"/>
            <a:ext cx="6654018" cy="550671"/>
            <a:chOff x="2768991" y="3077691"/>
            <a:chExt cx="6654018" cy="550671"/>
          </a:xfrm>
        </p:grpSpPr>
        <p:sp>
          <p:nvSpPr>
            <p:cNvPr id="68" name="Rectangle: Rounded Corners 67"/>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69" name="Picture 68"/>
            <p:cNvPicPr>
              <a:picLocks noChangeAspect="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0" name="Picture 69" descr="Icon&#10;&#10;Description automatically generated"/>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1" name="TextBox 70"/>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grpSp>
        <p:nvGrpSpPr>
          <p:cNvPr id="72" name="Group 71"/>
          <p:cNvGrpSpPr/>
          <p:nvPr/>
        </p:nvGrpSpPr>
        <p:grpSpPr>
          <a:xfrm rot="5400000" flipV="1">
            <a:off x="-3375115" y="3352257"/>
            <a:ext cx="6858002" cy="153487"/>
            <a:chOff x="-1" y="6732587"/>
            <a:chExt cx="12192000" cy="127731"/>
          </a:xfrm>
        </p:grpSpPr>
        <p:sp>
          <p:nvSpPr>
            <p:cNvPr id="73" name="Rectangle 72"/>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4" name="Rectangle 73"/>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5" name="Rectangle 74"/>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6" name="Rectangle 75"/>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36" name="Picture 35" descr="Chart, logo, company name, bubble chart&#10;&#10;Description automatically generated"/>
          <p:cNvPicPr>
            <a:picLocks noChangeAspect="1"/>
          </p:cNvPicPr>
          <p:nvPr/>
        </p:nvPicPr>
        <p:blipFill rotWithShape="1">
          <a:blip r:embed="rId9">
            <a:extLst>
              <a:ext uri="{BEBA8EAE-BF5A-486C-A8C5-ECC9F3942E4B}">
                <a14:imgProps xmlns:a14="http://schemas.microsoft.com/office/drawing/2010/main">
                  <a14:imgLayer r:embed="rId2">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grpSp>
        <p:nvGrpSpPr>
          <p:cNvPr id="3" name="Group 2"/>
          <p:cNvGrpSpPr/>
          <p:nvPr/>
        </p:nvGrpSpPr>
        <p:grpSpPr>
          <a:xfrm>
            <a:off x="2679795" y="1788570"/>
            <a:ext cx="147393" cy="3489667"/>
            <a:chOff x="2661323" y="1779640"/>
            <a:chExt cx="150703" cy="3498597"/>
          </a:xfrm>
          <a:solidFill>
            <a:srgbClr val="2EA54E"/>
          </a:solidFill>
        </p:grpSpPr>
        <p:sp>
          <p:nvSpPr>
            <p:cNvPr id="2" name="Rectangle 1"/>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37" name="Rectangle 36"/>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39" name="Group 38"/>
          <p:cNvGrpSpPr/>
          <p:nvPr/>
        </p:nvGrpSpPr>
        <p:grpSpPr>
          <a:xfrm rot="5400000">
            <a:off x="6132636" y="1673342"/>
            <a:ext cx="152055" cy="7057736"/>
            <a:chOff x="2661323" y="1779640"/>
            <a:chExt cx="150703" cy="3498597"/>
          </a:xfrm>
          <a:solidFill>
            <a:srgbClr val="FBBB01"/>
          </a:solidFill>
        </p:grpSpPr>
        <p:sp>
          <p:nvSpPr>
            <p:cNvPr id="41" name="Rectangle 40"/>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2" name="Rectangle 41"/>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54" name="Group 53"/>
          <p:cNvGrpSpPr/>
          <p:nvPr/>
        </p:nvGrpSpPr>
        <p:grpSpPr>
          <a:xfrm>
            <a:off x="9587820" y="1788570"/>
            <a:ext cx="147393" cy="3489667"/>
            <a:chOff x="2661323" y="1779640"/>
            <a:chExt cx="150703" cy="3498597"/>
          </a:xfrm>
          <a:solidFill>
            <a:srgbClr val="3D81F4"/>
          </a:solidFill>
        </p:grpSpPr>
        <p:sp>
          <p:nvSpPr>
            <p:cNvPr id="55" name="Rectangle 54"/>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6" name="Rectangle 55"/>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57" name="Group 56"/>
          <p:cNvGrpSpPr/>
          <p:nvPr/>
        </p:nvGrpSpPr>
        <p:grpSpPr>
          <a:xfrm rot="5400000">
            <a:off x="6129706" y="-1661340"/>
            <a:ext cx="152054" cy="7051877"/>
            <a:chOff x="2661323" y="1779640"/>
            <a:chExt cx="150703" cy="3498597"/>
          </a:xfrm>
          <a:solidFill>
            <a:srgbClr val="EA4335"/>
          </a:solidFill>
        </p:grpSpPr>
        <p:sp>
          <p:nvSpPr>
            <p:cNvPr id="58" name="Rectangle 57"/>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9" name="Rectangle 58"/>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sp>
        <p:nvSpPr>
          <p:cNvPr id="60" name="Rectangle: Folded Corner 59"/>
          <p:cNvSpPr/>
          <p:nvPr/>
        </p:nvSpPr>
        <p:spPr>
          <a:xfrm>
            <a:off x="4257710" y="2900217"/>
            <a:ext cx="4282263" cy="1377615"/>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1" name="TextBox 60"/>
          <p:cNvSpPr txBox="1"/>
          <p:nvPr/>
        </p:nvSpPr>
        <p:spPr>
          <a:xfrm>
            <a:off x="4485737" y="3057634"/>
            <a:ext cx="3606800" cy="1198880"/>
          </a:xfrm>
          <a:prstGeom prst="rect">
            <a:avLst/>
          </a:prstGeom>
          <a:noFill/>
        </p:spPr>
        <p:txBody>
          <a:bodyPr wrap="square" rtlCol="0">
            <a:spAutoFit/>
          </a:bodyPr>
          <a:lstStyle/>
          <a:p>
            <a:pPr algn="ctr"/>
            <a:r>
              <a:rPr lang="vi-VN" altLang="en-PH" sz="3600" b="1" dirty="0">
                <a:solidFill>
                  <a:schemeClr val="bg1"/>
                </a:solidFill>
                <a:latin typeface="Times New Roman" panose="02020603050405020304" charset="0"/>
                <a:cs typeface="Times New Roman" panose="02020603050405020304" charset="0"/>
              </a:rPr>
              <a:t>Người dùng (User)</a:t>
            </a:r>
            <a:endParaRPr lang="vi-VN" altLang="en-PH" sz="3600" b="1" dirty="0">
              <a:solidFill>
                <a:schemeClr val="bg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000"/>
                                        <p:tgtEl>
                                          <p:spTgt spid="3"/>
                                        </p:tgtEl>
                                      </p:cBhvr>
                                    </p:animEffect>
                                  </p:childTnLst>
                                </p:cTn>
                              </p:par>
                              <p:par>
                                <p:cTn id="8" presetID="22" presetClass="entr" presetSubtype="8" fill="hold" nodeType="withEffect">
                                  <p:stCondLst>
                                    <p:cond delay="800"/>
                                  </p:stCondLst>
                                  <p:childTnLst>
                                    <p:set>
                                      <p:cBhvr>
                                        <p:cTn id="9" dur="1" fill="hold">
                                          <p:stCondLst>
                                            <p:cond delay="0"/>
                                          </p:stCondLst>
                                        </p:cTn>
                                        <p:tgtEl>
                                          <p:spTgt spid="57"/>
                                        </p:tgtEl>
                                        <p:attrNameLst>
                                          <p:attrName>style.visibility</p:attrName>
                                        </p:attrNameLst>
                                      </p:cBhvr>
                                      <p:to>
                                        <p:strVal val="visible"/>
                                      </p:to>
                                    </p:set>
                                    <p:animEffect transition="in" filter="wipe(left)">
                                      <p:cBhvr>
                                        <p:cTn id="10" dur="1000"/>
                                        <p:tgtEl>
                                          <p:spTgt spid="57"/>
                                        </p:tgtEl>
                                      </p:cBhvr>
                                    </p:animEffect>
                                  </p:childTnLst>
                                </p:cTn>
                              </p:par>
                              <p:par>
                                <p:cTn id="11" presetID="22" presetClass="entr" presetSubtype="1" fill="hold" nodeType="withEffect">
                                  <p:stCondLst>
                                    <p:cond delay="1700"/>
                                  </p:stCondLst>
                                  <p:childTnLst>
                                    <p:set>
                                      <p:cBhvr>
                                        <p:cTn id="12" dur="1" fill="hold">
                                          <p:stCondLst>
                                            <p:cond delay="0"/>
                                          </p:stCondLst>
                                        </p:cTn>
                                        <p:tgtEl>
                                          <p:spTgt spid="54"/>
                                        </p:tgtEl>
                                        <p:attrNameLst>
                                          <p:attrName>style.visibility</p:attrName>
                                        </p:attrNameLst>
                                      </p:cBhvr>
                                      <p:to>
                                        <p:strVal val="visible"/>
                                      </p:to>
                                    </p:set>
                                    <p:animEffect transition="in" filter="wipe(up)">
                                      <p:cBhvr>
                                        <p:cTn id="13" dur="1000"/>
                                        <p:tgtEl>
                                          <p:spTgt spid="54"/>
                                        </p:tgtEl>
                                      </p:cBhvr>
                                    </p:animEffect>
                                  </p:childTnLst>
                                </p:cTn>
                              </p:par>
                              <p:par>
                                <p:cTn id="14" presetID="22" presetClass="entr" presetSubtype="2" fill="hold" nodeType="withEffect">
                                  <p:stCondLst>
                                    <p:cond delay="2500"/>
                                  </p:stCondLst>
                                  <p:childTnLst>
                                    <p:set>
                                      <p:cBhvr>
                                        <p:cTn id="15" dur="1" fill="hold">
                                          <p:stCondLst>
                                            <p:cond delay="0"/>
                                          </p:stCondLst>
                                        </p:cTn>
                                        <p:tgtEl>
                                          <p:spTgt spid="39"/>
                                        </p:tgtEl>
                                        <p:attrNameLst>
                                          <p:attrName>style.visibility</p:attrName>
                                        </p:attrNameLst>
                                      </p:cBhvr>
                                      <p:to>
                                        <p:strVal val="visible"/>
                                      </p:to>
                                    </p:set>
                                    <p:animEffect transition="in" filter="wipe(right)">
                                      <p:cBhvr>
                                        <p:cTn id="16"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9" name="Rectangle: Folded Corner 28"/>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0" name="TextBox 29"/>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3</a:t>
            </a:r>
            <a:endParaRPr lang="en-PH" sz="2000" dirty="0">
              <a:solidFill>
                <a:schemeClr val="bg1"/>
              </a:solidFill>
              <a:latin typeface="Times New Roman" panose="02020603050405020304" charset="0"/>
              <a:cs typeface="Times New Roman" panose="02020603050405020304" charset="0"/>
            </a:endParaRPr>
          </a:p>
        </p:txBody>
      </p:sp>
      <p:sp>
        <p:nvSpPr>
          <p:cNvPr id="32" name="Rectangle: Folded Corner 31"/>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3" name="TextBox 32"/>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4</a:t>
            </a:r>
            <a:endParaRPr lang="en-PH" sz="2000" dirty="0">
              <a:solidFill>
                <a:schemeClr val="bg1"/>
              </a:solidFill>
              <a:latin typeface="Times New Roman" panose="02020603050405020304" charset="0"/>
              <a:cs typeface="Times New Roman" panose="02020603050405020304" charset="0"/>
            </a:endParaRPr>
          </a:p>
        </p:txBody>
      </p:sp>
      <p:sp>
        <p:nvSpPr>
          <p:cNvPr id="40" name="Rectangle 39"/>
          <p:cNvSpPr/>
          <p:nvPr/>
        </p:nvSpPr>
        <p:spPr>
          <a:xfrm>
            <a:off x="442856" y="1115904"/>
            <a:ext cx="11501425"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pic>
        <p:nvPicPr>
          <p:cNvPr id="43" name="Picture 42" descr="Chart, logo, company name, bubble chart&#10;&#10;Description automatically generated"/>
          <p:cNvPicPr>
            <a:picLocks noChangeAspect="1"/>
          </p:cNvPicPr>
          <p:nvPr/>
        </p:nvPicPr>
        <p:blipFill rotWithShape="1">
          <a:blip r:embed="rId1">
            <a:extLst>
              <a:ext uri="{BEBA8EAE-BF5A-486C-A8C5-ECC9F3942E4B}">
                <a14:imgProps xmlns:a14="http://schemas.microsoft.com/office/drawing/2010/main">
                  <a14:imgLayer r:embed="rId2">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a:fillRect/>
          </a:stretch>
        </p:blipFill>
        <p:spPr>
          <a:xfrm>
            <a:off x="422488" y="-954919"/>
            <a:ext cx="784843" cy="660173"/>
          </a:xfrm>
          <a:prstGeom prst="rect">
            <a:avLst/>
          </a:prstGeom>
        </p:spPr>
      </p:pic>
      <p:pic>
        <p:nvPicPr>
          <p:cNvPr id="44" name="Picture 43"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2">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a:fillRect/>
          </a:stretch>
        </p:blipFill>
        <p:spPr>
          <a:xfrm rot="1302950">
            <a:off x="11357195" y="-5462355"/>
            <a:ext cx="530083" cy="519889"/>
          </a:xfrm>
          <a:prstGeom prst="rect">
            <a:avLst/>
          </a:prstGeom>
        </p:spPr>
      </p:pic>
      <p:sp>
        <p:nvSpPr>
          <p:cNvPr id="45" name="Rectangle: Folded Corner 44"/>
          <p:cNvSpPr/>
          <p:nvPr/>
        </p:nvSpPr>
        <p:spPr>
          <a:xfrm>
            <a:off x="442856" y="-5565003"/>
            <a:ext cx="2030179"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charset="0"/>
              <a:cs typeface="Times New Roman" panose="02020603050405020304" charset="0"/>
            </a:endParaRPr>
          </a:p>
        </p:txBody>
      </p:sp>
      <p:sp>
        <p:nvSpPr>
          <p:cNvPr id="46" name="TextBox 45"/>
          <p:cNvSpPr txBox="1"/>
          <p:nvPr/>
        </p:nvSpPr>
        <p:spPr>
          <a:xfrm>
            <a:off x="510274" y="-5479581"/>
            <a:ext cx="1496291" cy="441533"/>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1</a:t>
            </a:r>
            <a:endParaRPr lang="en-PH" sz="2000" dirty="0">
              <a:solidFill>
                <a:schemeClr val="bg1"/>
              </a:solidFill>
              <a:latin typeface="Times New Roman" panose="02020603050405020304" charset="0"/>
              <a:cs typeface="Times New Roman" panose="02020603050405020304" charset="0"/>
            </a:endParaRPr>
          </a:p>
        </p:txBody>
      </p:sp>
      <p:pic>
        <p:nvPicPr>
          <p:cNvPr id="48" name="Picture 47" descr="Chart, logo, company name, bubble chart&#10;&#10;Description automatically generated"/>
          <p:cNvPicPr>
            <a:picLocks noChangeAspect="1"/>
          </p:cNvPicPr>
          <p:nvPr/>
        </p:nvPicPr>
        <p:blipFill rotWithShape="1">
          <a:blip r:embed="rId4">
            <a:extLst>
              <a:ext uri="{BEBA8EAE-BF5A-486C-A8C5-ECC9F3942E4B}">
                <a14:imgProps xmlns:a14="http://schemas.microsoft.com/office/drawing/2010/main">
                  <a14:imgLayer r:embed="rId2">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a:fillRect/>
          </a:stretch>
        </p:blipFill>
        <p:spPr>
          <a:xfrm>
            <a:off x="12192000" y="2900217"/>
            <a:ext cx="528207" cy="515324"/>
          </a:xfrm>
          <a:prstGeom prst="rect">
            <a:avLst/>
          </a:prstGeom>
        </p:spPr>
      </p:pic>
      <p:pic>
        <p:nvPicPr>
          <p:cNvPr id="49" name="Picture 48" descr="Chart, logo, company name, bubble chart&#10;&#10;Description automatically generated"/>
          <p:cNvPicPr>
            <a:picLocks noChangeAspect="1"/>
          </p:cNvPicPr>
          <p:nvPr/>
        </p:nvPicPr>
        <p:blipFill rotWithShape="1">
          <a:blip r:embed="rId5">
            <a:extLst>
              <a:ext uri="{BEBA8EAE-BF5A-486C-A8C5-ECC9F3942E4B}">
                <a14:imgProps xmlns:a14="http://schemas.microsoft.com/office/drawing/2010/main">
                  <a14:imgLayer r:embed="rId2">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a:fillRect/>
          </a:stretch>
        </p:blipFill>
        <p:spPr>
          <a:xfrm rot="20517629">
            <a:off x="11313929" y="-883686"/>
            <a:ext cx="553141" cy="586464"/>
          </a:xfrm>
          <a:prstGeom prst="rect">
            <a:avLst/>
          </a:prstGeom>
        </p:spPr>
      </p:pic>
      <p:pic>
        <p:nvPicPr>
          <p:cNvPr id="50" name="Picture 49" descr="Chart, logo, company name, bubble chart&#10;&#10;Description automatically generated"/>
          <p:cNvPicPr>
            <a:picLocks noChangeAspect="1"/>
          </p:cNvPicPr>
          <p:nvPr/>
        </p:nvPicPr>
        <p:blipFill rotWithShape="1">
          <a:blip r:embed="rId6">
            <a:extLst>
              <a:ext uri="{BEBA8EAE-BF5A-486C-A8C5-ECC9F3942E4B}">
                <a14:imgProps xmlns:a14="http://schemas.microsoft.com/office/drawing/2010/main">
                  <a14:imgLayer r:embed="rId2">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a:fillRect/>
          </a:stretch>
        </p:blipFill>
        <p:spPr>
          <a:xfrm>
            <a:off x="2540453" y="-5543007"/>
            <a:ext cx="471592" cy="587605"/>
          </a:xfrm>
          <a:prstGeom prst="rect">
            <a:avLst/>
          </a:prstGeom>
        </p:spPr>
      </p:pic>
      <p:sp>
        <p:nvSpPr>
          <p:cNvPr id="62" name="Rectangle 61"/>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63" name="TextBox 62"/>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64" name="Oval 63"/>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5" name="Oval 64"/>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6" name="Oval 65"/>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67" name="Group 66"/>
          <p:cNvGrpSpPr/>
          <p:nvPr/>
        </p:nvGrpSpPr>
        <p:grpSpPr>
          <a:xfrm>
            <a:off x="3065043" y="346935"/>
            <a:ext cx="6654018" cy="550671"/>
            <a:chOff x="2768991" y="3077691"/>
            <a:chExt cx="6654018" cy="550671"/>
          </a:xfrm>
        </p:grpSpPr>
        <p:sp>
          <p:nvSpPr>
            <p:cNvPr id="68" name="Rectangle: Rounded Corners 67"/>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69" name="Picture 68"/>
            <p:cNvPicPr>
              <a:picLocks noChangeAspect="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0" name="Picture 69" descr="Icon&#10;&#10;Description automatically generated"/>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1" name="TextBox 70"/>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grpSp>
        <p:nvGrpSpPr>
          <p:cNvPr id="72" name="Group 71"/>
          <p:cNvGrpSpPr/>
          <p:nvPr/>
        </p:nvGrpSpPr>
        <p:grpSpPr>
          <a:xfrm rot="5400000" flipV="1">
            <a:off x="-3375115" y="3352257"/>
            <a:ext cx="6858002" cy="153487"/>
            <a:chOff x="-1" y="6732587"/>
            <a:chExt cx="12192000" cy="127731"/>
          </a:xfrm>
        </p:grpSpPr>
        <p:sp>
          <p:nvSpPr>
            <p:cNvPr id="73" name="Rectangle 72"/>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4" name="Rectangle 73"/>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5" name="Rectangle 74"/>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76" name="Rectangle 75"/>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36" name="Picture 35" descr="Chart, logo, company name, bubble chart&#10;&#10;Description automatically generated"/>
          <p:cNvPicPr>
            <a:picLocks noChangeAspect="1"/>
          </p:cNvPicPr>
          <p:nvPr/>
        </p:nvPicPr>
        <p:blipFill rotWithShape="1">
          <a:blip r:embed="rId9">
            <a:extLst>
              <a:ext uri="{BEBA8EAE-BF5A-486C-A8C5-ECC9F3942E4B}">
                <a14:imgProps xmlns:a14="http://schemas.microsoft.com/office/drawing/2010/main">
                  <a14:imgLayer r:embed="rId2">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grpSp>
        <p:nvGrpSpPr>
          <p:cNvPr id="3" name="Group 2"/>
          <p:cNvGrpSpPr/>
          <p:nvPr/>
        </p:nvGrpSpPr>
        <p:grpSpPr>
          <a:xfrm>
            <a:off x="422489" y="1131970"/>
            <a:ext cx="164976" cy="5289441"/>
            <a:chOff x="2661323" y="1779640"/>
            <a:chExt cx="150703" cy="3498597"/>
          </a:xfrm>
          <a:solidFill>
            <a:srgbClr val="2EA54E"/>
          </a:solidFill>
        </p:grpSpPr>
        <p:sp>
          <p:nvSpPr>
            <p:cNvPr id="2" name="Rectangle 1"/>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37" name="Rectangle 36"/>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39" name="Group 38"/>
          <p:cNvGrpSpPr/>
          <p:nvPr/>
        </p:nvGrpSpPr>
        <p:grpSpPr>
          <a:xfrm rot="5400000">
            <a:off x="6100468" y="592520"/>
            <a:ext cx="165830" cy="11521794"/>
            <a:chOff x="2661323" y="1779640"/>
            <a:chExt cx="150703" cy="3498597"/>
          </a:xfrm>
          <a:solidFill>
            <a:srgbClr val="FBBB01"/>
          </a:solidFill>
        </p:grpSpPr>
        <p:sp>
          <p:nvSpPr>
            <p:cNvPr id="41" name="Rectangle 40"/>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2" name="Rectangle 41"/>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54" name="Group 53"/>
          <p:cNvGrpSpPr/>
          <p:nvPr/>
        </p:nvGrpSpPr>
        <p:grpSpPr>
          <a:xfrm>
            <a:off x="11799669" y="1130824"/>
            <a:ext cx="164976" cy="5305507"/>
            <a:chOff x="2661323" y="1779640"/>
            <a:chExt cx="150703" cy="3498597"/>
          </a:xfrm>
          <a:solidFill>
            <a:srgbClr val="3D81F4"/>
          </a:solidFill>
        </p:grpSpPr>
        <p:sp>
          <p:nvSpPr>
            <p:cNvPr id="55" name="Rectangle 54"/>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6" name="Rectangle 55"/>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57" name="Group 56"/>
          <p:cNvGrpSpPr/>
          <p:nvPr/>
        </p:nvGrpSpPr>
        <p:grpSpPr>
          <a:xfrm rot="5400000">
            <a:off x="6117536" y="-4564227"/>
            <a:ext cx="152057" cy="11542159"/>
            <a:chOff x="2661323" y="1779640"/>
            <a:chExt cx="150703" cy="3498597"/>
          </a:xfrm>
          <a:solidFill>
            <a:srgbClr val="EA4335"/>
          </a:solidFill>
        </p:grpSpPr>
        <p:sp>
          <p:nvSpPr>
            <p:cNvPr id="58" name="Rectangle 57"/>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9" name="Rectangle 58"/>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sp>
        <p:nvSpPr>
          <p:cNvPr id="47" name="Rectangle: Folded Corner 46"/>
          <p:cNvSpPr/>
          <p:nvPr/>
        </p:nvSpPr>
        <p:spPr>
          <a:xfrm>
            <a:off x="689488" y="1339434"/>
            <a:ext cx="2153153" cy="633818"/>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51" name="TextBox 50"/>
          <p:cNvSpPr txBox="1"/>
          <p:nvPr/>
        </p:nvSpPr>
        <p:spPr>
          <a:xfrm>
            <a:off x="632871" y="1429582"/>
            <a:ext cx="1813525" cy="398780"/>
          </a:xfrm>
          <a:prstGeom prst="rect">
            <a:avLst/>
          </a:prstGeom>
          <a:noFill/>
        </p:spPr>
        <p:txBody>
          <a:bodyPr wrap="square" rtlCol="0">
            <a:spAutoFit/>
          </a:bodyPr>
          <a:lstStyle/>
          <a:p>
            <a:pPr algn="ctr"/>
            <a:r>
              <a:rPr lang="vi-VN" altLang="en-PH" sz="2000" b="1">
                <a:solidFill>
                  <a:schemeClr val="bg1"/>
                </a:solidFill>
                <a:latin typeface="Times New Roman" panose="02020603050405020304" charset="0"/>
                <a:cs typeface="Times New Roman" panose="02020603050405020304" charset="0"/>
              </a:rPr>
              <a:t>Người dùng</a:t>
            </a:r>
            <a:endParaRPr lang="vi-VN" altLang="en-PH" sz="2000" b="1">
              <a:solidFill>
                <a:schemeClr val="bg1"/>
              </a:solidFill>
              <a:latin typeface="Times New Roman" panose="02020603050405020304" charset="0"/>
              <a:cs typeface="Times New Roman" panose="02020603050405020304" charset="0"/>
            </a:endParaRPr>
          </a:p>
        </p:txBody>
      </p:sp>
      <p:pic>
        <p:nvPicPr>
          <p:cNvPr id="60" name="Picture 59" descr="Apple Moody Foodies"/>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456103" y="5439914"/>
            <a:ext cx="1008824" cy="1008824"/>
          </a:xfrm>
          <a:prstGeom prst="rect">
            <a:avLst/>
          </a:prstGeom>
        </p:spPr>
      </p:pic>
      <p:pic>
        <p:nvPicPr>
          <p:cNvPr id="61" name="Picture 60" descr="Watermelon Moody Foodies"/>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639653" y="5442715"/>
            <a:ext cx="1008825" cy="1008825"/>
          </a:xfrm>
          <a:prstGeom prst="rect">
            <a:avLst/>
          </a:prstGeom>
        </p:spPr>
      </p:pic>
      <p:sp>
        <p:nvSpPr>
          <p:cNvPr id="77" name="TextBox 76"/>
          <p:cNvSpPr txBox="1"/>
          <p:nvPr/>
        </p:nvSpPr>
        <p:spPr>
          <a:xfrm>
            <a:off x="607695" y="2013585"/>
            <a:ext cx="11066780" cy="5262245"/>
          </a:xfrm>
          <a:prstGeom prst="rect">
            <a:avLst/>
          </a:prstGeom>
          <a:noFill/>
        </p:spPr>
        <p:txBody>
          <a:bodyPr wrap="square" rtlCol="0">
            <a:spAutoFit/>
          </a:bodyPr>
          <a:lstStyle/>
          <a:p>
            <a:r>
              <a:rPr lang="vi-VN" altLang="en-US" sz="2800">
                <a:latin typeface="Times New Roman" panose="02020603050405020304" charset="0"/>
                <a:cs typeface="Times New Roman" panose="02020603050405020304" charset="0"/>
              </a:rPr>
              <a:t>*</a:t>
            </a:r>
            <a:r>
              <a:rPr lang="en-US" altLang="en-US" sz="2800">
                <a:latin typeface="Times New Roman" panose="02020603050405020304" charset="0"/>
                <a:cs typeface="Times New Roman" panose="02020603050405020304" charset="0"/>
              </a:rPr>
              <a:t>Ng</a:t>
            </a:r>
            <a:r>
              <a:rPr lang=""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ời dùng là khách hàng, có thể thực hiện các thao tác sau:</a:t>
            </a:r>
            <a:endParaRPr lang="en-US" altLang="en-US" sz="2800">
              <a:latin typeface="Times New Roman" panose="02020603050405020304" charset="0"/>
              <a:cs typeface="Times New Roman" panose="02020603050405020304" charset="0"/>
            </a:endParaRPr>
          </a:p>
          <a:p>
            <a:r>
              <a:rPr lang="vi-VN" sz="2800">
                <a:latin typeface="Times New Roman" panose="02020603050405020304" charset="0"/>
                <a:cs typeface="Times New Roman" panose="02020603050405020304" charset="0"/>
              </a:rPr>
              <a:t>-</a:t>
            </a:r>
            <a:r>
              <a:rPr lang="" altLang="en-US" sz="2800">
                <a:latin typeface="Times New Roman" panose="02020603050405020304" charset="0"/>
                <a:cs typeface="Times New Roman" panose="02020603050405020304" charset="0"/>
              </a:rPr>
              <a:t>Đă</a:t>
            </a:r>
            <a:r>
              <a:rPr lang="en-US" altLang="en-US" sz="2800">
                <a:latin typeface="Times New Roman" panose="02020603050405020304" charset="0"/>
                <a:cs typeface="Times New Roman" panose="02020603050405020304" charset="0"/>
              </a:rPr>
              <a:t>ng k</a:t>
            </a:r>
            <a:r>
              <a:rPr lang="" altLang="en-US" sz="2800">
                <a:latin typeface="Times New Roman" panose="02020603050405020304" charset="0"/>
                <a:cs typeface="Times New Roman" panose="02020603050405020304" charset="0"/>
              </a:rPr>
              <a:t>ý</a:t>
            </a:r>
            <a:r>
              <a:rPr lang="en-US" altLang="en-US" sz="2800">
                <a:latin typeface="Times New Roman" panose="02020603050405020304" charset="0"/>
                <a:cs typeface="Times New Roman" panose="02020603050405020304" charset="0"/>
              </a:rPr>
              <a:t>/</a:t>
            </a:r>
            <a:r>
              <a:rPr lang="" altLang="en-US" sz="2800">
                <a:latin typeface="Times New Roman" panose="02020603050405020304" charset="0"/>
                <a:cs typeface="Times New Roman" panose="02020603050405020304" charset="0"/>
              </a:rPr>
              <a:t>Đă</a:t>
            </a:r>
            <a:r>
              <a:rPr lang="en-US" altLang="en-US" sz="2800">
                <a:latin typeface="Times New Roman" panose="02020603050405020304" charset="0"/>
                <a:cs typeface="Times New Roman" panose="02020603050405020304" charset="0"/>
              </a:rPr>
              <a:t>ng nhập tài khoản:</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rPr>
              <a:t> +</a:t>
            </a:r>
            <a:r>
              <a:rPr lang="en-US" altLang="en-US" sz="2800">
                <a:latin typeface="Times New Roman" panose="02020603050405020304" charset="0"/>
                <a:cs typeface="Times New Roman" panose="02020603050405020304" charset="0"/>
              </a:rPr>
              <a:t>Tạo tài khoản mới với thông tin cá nhân.</a:t>
            </a:r>
            <a:endParaRPr lang="en-US" altLang="en-US" sz="2800">
              <a:latin typeface="Times New Roman" panose="02020603050405020304" charset="0"/>
              <a:cs typeface="Times New Roman" panose="02020603050405020304" charset="0"/>
            </a:endParaRPr>
          </a:p>
          <a:p>
            <a:r>
              <a:rPr lang="vi-VN" sz="2800">
                <a:latin typeface="Times New Roman" panose="02020603050405020304" charset="0"/>
                <a:cs typeface="Times New Roman" panose="02020603050405020304" charset="0"/>
              </a:rPr>
              <a:t> +</a:t>
            </a:r>
            <a:r>
              <a:rPr lang="" altLang="en-US" sz="2800">
                <a:latin typeface="Times New Roman" panose="02020603050405020304" charset="0"/>
                <a:cs typeface="Times New Roman" panose="02020603050405020304" charset="0"/>
              </a:rPr>
              <a:t>Đă</a:t>
            </a:r>
            <a:r>
              <a:rPr lang="en-US" altLang="en-US" sz="2800">
                <a:latin typeface="Times New Roman" panose="02020603050405020304" charset="0"/>
                <a:cs typeface="Times New Roman" panose="02020603050405020304" charset="0"/>
              </a:rPr>
              <a:t>ng nhập </a:t>
            </a:r>
            <a:r>
              <a:rPr lang=""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ể truy cập các dịch vụ tài chính của ngân hàng.</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rPr>
              <a:t>-</a:t>
            </a:r>
            <a:r>
              <a:rPr lang="en-US" altLang="en-US" sz="2800">
                <a:latin typeface="Times New Roman" panose="02020603050405020304" charset="0"/>
                <a:cs typeface="Times New Roman" panose="02020603050405020304" charset="0"/>
              </a:rPr>
              <a:t>Xem thông tin cá nhân:</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rPr>
              <a:t> +</a:t>
            </a:r>
            <a:r>
              <a:rPr lang="en-US" altLang="en-US" sz="2800">
                <a:latin typeface="Times New Roman" panose="02020603050405020304" charset="0"/>
                <a:cs typeface="Times New Roman" panose="02020603050405020304" charset="0"/>
              </a:rPr>
              <a:t>Hiển thị các thông tin nh</a:t>
            </a:r>
            <a:r>
              <a:rPr lang=""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 tên, số tài khoản, lịch sử giao dịch, số d</a:t>
            </a:r>
            <a:r>
              <a:rPr lang=""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 hiện tại.</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a:t>
            </a:r>
            <a:r>
              <a:rPr lang="en-US" altLang="en-US" sz="2800">
                <a:latin typeface="Times New Roman" panose="02020603050405020304" charset="0"/>
                <a:cs typeface="Times New Roman" panose="02020603050405020304" charset="0"/>
                <a:sym typeface="+mn-ea"/>
              </a:rPr>
              <a:t>Vay vốn:</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 +</a:t>
            </a:r>
            <a:r>
              <a:rPr lang="en-US" altLang="en-US" sz="2800">
                <a:latin typeface="Times New Roman" panose="02020603050405020304" charset="0"/>
                <a:cs typeface="Times New Roman" panose="02020603050405020304" charset="0"/>
                <a:sym typeface="+mn-ea"/>
              </a:rPr>
              <a:t>Gửi yêu cầu vay vốn với số tiền mong muốn, kỳ hạn và lý do vay.</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 +</a:t>
            </a:r>
            <a:r>
              <a:rPr lang="en-US" altLang="en-US" sz="2800">
                <a:latin typeface="Times New Roman" panose="02020603050405020304" charset="0"/>
                <a:cs typeface="Times New Roman" panose="02020603050405020304" charset="0"/>
                <a:sym typeface="+mn-ea"/>
              </a:rPr>
              <a:t>Theo dõi trạng thái phê duyệt của khoản vay.</a:t>
            </a:r>
            <a:endParaRPr lang="en-US" altLang="en-US" sz="2800">
              <a:latin typeface="Times New Roman" panose="02020603050405020304" charset="0"/>
              <a:cs typeface="Times New Roman" panose="02020603050405020304" charset="0"/>
            </a:endParaRPr>
          </a:p>
          <a:p>
            <a:endParaRPr lang="en-US" altLang="en-US" sz="2800" b="1">
              <a:latin typeface="Times New Roman" panose="02020603050405020304" charset="0"/>
              <a:cs typeface="Times New Roman" panose="02020603050405020304" charset="0"/>
            </a:endParaRPr>
          </a:p>
          <a:p>
            <a:endParaRPr lang="en-US" altLang="en-US" sz="2800" b="1">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80"/>
                                  </p:iterate>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9" name="Rectangle: Folded Corner 28"/>
          <p:cNvSpPr/>
          <p:nvPr/>
        </p:nvSpPr>
        <p:spPr>
          <a:xfrm rot="10800000">
            <a:off x="3299556" y="7303849"/>
            <a:ext cx="2970615" cy="1301307"/>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0" name="TextBox 29"/>
          <p:cNvSpPr txBox="1"/>
          <p:nvPr/>
        </p:nvSpPr>
        <p:spPr>
          <a:xfrm rot="10800000">
            <a:off x="2981463" y="7526352"/>
            <a:ext cx="3606800" cy="646331"/>
          </a:xfrm>
          <a:prstGeom prst="rect">
            <a:avLst/>
          </a:prstGeom>
          <a:noFill/>
        </p:spPr>
        <p:txBody>
          <a:bodyPr wrap="square" rtlCol="0">
            <a:spAutoFit/>
          </a:bodyPr>
          <a:lstStyle/>
          <a:p>
            <a:pPr algn="ctr"/>
            <a:r>
              <a:rPr lang="en-PH" sz="3600" b="1">
                <a:solidFill>
                  <a:schemeClr val="bg1"/>
                </a:solidFill>
                <a:latin typeface="Times New Roman" panose="02020603050405020304" charset="0"/>
                <a:cs typeface="Times New Roman" panose="02020603050405020304" charset="0"/>
              </a:rPr>
              <a:t>Nội dung 3</a:t>
            </a:r>
            <a:endParaRPr lang="en-PH" sz="3600" b="1" dirty="0">
              <a:solidFill>
                <a:schemeClr val="bg1"/>
              </a:solidFill>
              <a:latin typeface="Times New Roman" panose="02020603050405020304" charset="0"/>
              <a:cs typeface="Times New Roman" panose="02020603050405020304" charset="0"/>
            </a:endParaRPr>
          </a:p>
        </p:txBody>
      </p:sp>
      <p:sp>
        <p:nvSpPr>
          <p:cNvPr id="32" name="Rectangle: Folded Corner 31"/>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3" name="TextBox 32"/>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4</a:t>
            </a:r>
            <a:endParaRPr lang="en-PH" sz="2000" dirty="0">
              <a:solidFill>
                <a:schemeClr val="bg1"/>
              </a:solidFill>
              <a:latin typeface="Times New Roman" panose="02020603050405020304" charset="0"/>
              <a:cs typeface="Times New Roman" panose="02020603050405020304" charset="0"/>
            </a:endParaRPr>
          </a:p>
        </p:txBody>
      </p:sp>
      <p:sp>
        <p:nvSpPr>
          <p:cNvPr id="40" name="Rectangle 39"/>
          <p:cNvSpPr/>
          <p:nvPr/>
        </p:nvSpPr>
        <p:spPr>
          <a:xfrm>
            <a:off x="442857" y="1115904"/>
            <a:ext cx="4659832"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nvGrpSpPr>
          <p:cNvPr id="3" name="Group 2"/>
          <p:cNvGrpSpPr/>
          <p:nvPr/>
        </p:nvGrpSpPr>
        <p:grpSpPr>
          <a:xfrm>
            <a:off x="422489" y="1131970"/>
            <a:ext cx="164976" cy="5289441"/>
            <a:chOff x="2661323" y="1779640"/>
            <a:chExt cx="150703" cy="3498597"/>
          </a:xfrm>
          <a:solidFill>
            <a:srgbClr val="2EA54E"/>
          </a:solidFill>
        </p:grpSpPr>
        <p:sp>
          <p:nvSpPr>
            <p:cNvPr id="2" name="Rectangle 1"/>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37" name="Rectangle 36"/>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39" name="Group 38"/>
          <p:cNvGrpSpPr/>
          <p:nvPr/>
        </p:nvGrpSpPr>
        <p:grpSpPr>
          <a:xfrm rot="5400000">
            <a:off x="2686503" y="4006481"/>
            <a:ext cx="150775" cy="4678811"/>
            <a:chOff x="2661323" y="1779640"/>
            <a:chExt cx="150703" cy="3498597"/>
          </a:xfrm>
          <a:solidFill>
            <a:srgbClr val="FBBB01"/>
          </a:solidFill>
        </p:grpSpPr>
        <p:sp>
          <p:nvSpPr>
            <p:cNvPr id="41" name="Rectangle 40"/>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2" name="Rectangle 41"/>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54" name="Group 53"/>
          <p:cNvGrpSpPr/>
          <p:nvPr/>
        </p:nvGrpSpPr>
        <p:grpSpPr>
          <a:xfrm>
            <a:off x="4948513" y="1116799"/>
            <a:ext cx="164976" cy="5305507"/>
            <a:chOff x="2661323" y="1779640"/>
            <a:chExt cx="150703" cy="3498597"/>
          </a:xfrm>
          <a:solidFill>
            <a:srgbClr val="3D81F4"/>
          </a:solidFill>
        </p:grpSpPr>
        <p:sp>
          <p:nvSpPr>
            <p:cNvPr id="55" name="Rectangle 54"/>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6" name="Rectangle 55"/>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57" name="Group 56"/>
          <p:cNvGrpSpPr/>
          <p:nvPr/>
        </p:nvGrpSpPr>
        <p:grpSpPr>
          <a:xfrm rot="5400000">
            <a:off x="2688977" y="-1141630"/>
            <a:ext cx="158017" cy="4691005"/>
            <a:chOff x="2661323" y="1779640"/>
            <a:chExt cx="150703" cy="3498597"/>
          </a:xfrm>
          <a:solidFill>
            <a:srgbClr val="EA4335"/>
          </a:solidFill>
        </p:grpSpPr>
        <p:sp>
          <p:nvSpPr>
            <p:cNvPr id="58" name="Rectangle 57"/>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9" name="Rectangle 58"/>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sp>
        <p:nvSpPr>
          <p:cNvPr id="47" name="Rectangle: Folded Corner 46"/>
          <p:cNvSpPr/>
          <p:nvPr/>
        </p:nvSpPr>
        <p:spPr>
          <a:xfrm rot="16200000">
            <a:off x="5982216" y="550808"/>
            <a:ext cx="5206136" cy="6368457"/>
          </a:xfrm>
          <a:prstGeom prst="foldedCorner">
            <a:avLst>
              <a:gd name="adj" fmla="val 26934"/>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51" name="TextBox 50"/>
          <p:cNvSpPr txBox="1"/>
          <p:nvPr/>
        </p:nvSpPr>
        <p:spPr>
          <a:xfrm>
            <a:off x="5253159" y="1282881"/>
            <a:ext cx="1813525" cy="706755"/>
          </a:xfrm>
          <a:prstGeom prst="rect">
            <a:avLst/>
          </a:prstGeom>
          <a:noFill/>
        </p:spPr>
        <p:txBody>
          <a:bodyPr wrap="square" rtlCol="0">
            <a:spAutoFit/>
          </a:bodyPr>
          <a:lstStyle/>
          <a:p>
            <a:pPr algn="ctr"/>
            <a:r>
              <a:rPr lang="vi-VN" altLang="en-PH" sz="2000" b="1">
                <a:solidFill>
                  <a:schemeClr val="bg1"/>
                </a:solidFill>
                <a:latin typeface="Times New Roman" panose="02020603050405020304" charset="0"/>
                <a:cs typeface="Times New Roman" panose="02020603050405020304" charset="0"/>
                <a:sym typeface="+mn-ea"/>
              </a:rPr>
              <a:t>Người dùng</a:t>
            </a:r>
            <a:endParaRPr lang="vi-VN" altLang="en-PH" sz="2000" b="1">
              <a:solidFill>
                <a:schemeClr val="bg1"/>
              </a:solidFill>
              <a:latin typeface="Times New Roman" panose="02020603050405020304" charset="0"/>
              <a:cs typeface="Times New Roman" panose="02020603050405020304" charset="0"/>
            </a:endParaRPr>
          </a:p>
          <a:p>
            <a:pPr algn="ctr"/>
            <a:endParaRPr lang="vi-VN" altLang="en-PH" sz="2000" b="1">
              <a:solidFill>
                <a:schemeClr val="bg1"/>
              </a:solidFill>
              <a:latin typeface="Times New Roman" panose="02020603050405020304" charset="0"/>
              <a:cs typeface="Times New Roman" panose="02020603050405020304" charset="0"/>
            </a:endParaRPr>
          </a:p>
        </p:txBody>
      </p:sp>
      <p:pic>
        <p:nvPicPr>
          <p:cNvPr id="52" name="Picture 51" descr="Apple Moody Foodies"/>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817067" y="5208699"/>
            <a:ext cx="1008824" cy="1008824"/>
          </a:xfrm>
          <a:prstGeom prst="rect">
            <a:avLst/>
          </a:prstGeom>
        </p:spPr>
      </p:pic>
      <p:pic>
        <p:nvPicPr>
          <p:cNvPr id="60" name="Picture 59" descr="Watermelon Moody Foodi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479" y="5433023"/>
            <a:ext cx="1008825" cy="1008825"/>
          </a:xfrm>
          <a:prstGeom prst="rect">
            <a:avLst/>
          </a:prstGeom>
        </p:spPr>
      </p:pic>
      <p:pic>
        <p:nvPicPr>
          <p:cNvPr id="61" name="Picture 60"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a:fillRect/>
          </a:stretch>
        </p:blipFill>
        <p:spPr>
          <a:xfrm>
            <a:off x="645206" y="1244410"/>
            <a:ext cx="784843" cy="660173"/>
          </a:xfrm>
          <a:prstGeom prst="rect">
            <a:avLst/>
          </a:prstGeom>
        </p:spPr>
      </p:pic>
      <p:sp>
        <p:nvSpPr>
          <p:cNvPr id="89" name="Rectangle 88"/>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0" name="TextBox 89"/>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91" name="Oval 90"/>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2" name="Oval 91"/>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3" name="Oval 92"/>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94" name="Group 93"/>
          <p:cNvGrpSpPr/>
          <p:nvPr/>
        </p:nvGrpSpPr>
        <p:grpSpPr>
          <a:xfrm>
            <a:off x="3065043" y="346935"/>
            <a:ext cx="6654018" cy="550671"/>
            <a:chOff x="2768991" y="3077691"/>
            <a:chExt cx="6654018" cy="550671"/>
          </a:xfrm>
        </p:grpSpPr>
        <p:sp>
          <p:nvSpPr>
            <p:cNvPr id="95" name="Rectangle: Rounded Corners 94"/>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96" name="Picture 95"/>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pic>
        <p:nvPicPr>
          <p:cNvPr id="104" name="Picture 103" descr="Chart, logo, company name, bubble chart&#10;&#10;Description automatically generated"/>
          <p:cNvPicPr>
            <a:picLocks noChangeAspect="1"/>
          </p:cNvPicPr>
          <p:nvPr/>
        </p:nvPicPr>
        <p:blipFill rotWithShape="1">
          <a:blip r:embed="rId7">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sp>
        <p:nvSpPr>
          <p:cNvPr id="105" name="TextBox 104"/>
          <p:cNvSpPr txBox="1"/>
          <p:nvPr/>
        </p:nvSpPr>
        <p:spPr>
          <a:xfrm>
            <a:off x="5417820" y="1802130"/>
            <a:ext cx="6410960" cy="4831080"/>
          </a:xfrm>
          <a:prstGeom prst="rect">
            <a:avLst/>
          </a:prstGeom>
          <a:noFill/>
        </p:spPr>
        <p:txBody>
          <a:bodyPr wrap="square" rtlCol="0">
            <a:spAutoFit/>
          </a:bodyPr>
          <a:lstStyle/>
          <a:p>
            <a:r>
              <a:rPr lang="vi-VN" altLang="en-US" sz="2800">
                <a:latin typeface="Times New Roman" panose="02020603050405020304" charset="0"/>
                <a:cs typeface="Times New Roman" panose="02020603050405020304" charset="0"/>
                <a:sym typeface="+mn-ea"/>
              </a:rPr>
              <a:t>-</a:t>
            </a:r>
            <a:r>
              <a:rPr lang="en-US" altLang="en-US" sz="2800">
                <a:latin typeface="Times New Roman" panose="02020603050405020304" charset="0"/>
                <a:cs typeface="Times New Roman" panose="02020603050405020304" charset="0"/>
                <a:sym typeface="+mn-ea"/>
              </a:rPr>
              <a:t>Giao dịch:</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 +</a:t>
            </a:r>
            <a:r>
              <a:rPr lang="en-US" altLang="en-US" sz="2800">
                <a:latin typeface="Times New Roman" panose="02020603050405020304" charset="0"/>
                <a:cs typeface="Times New Roman" panose="02020603050405020304" charset="0"/>
                <a:sym typeface="+mn-ea"/>
              </a:rPr>
              <a:t>Chuyển tiền, thanh toán hoặc thực hiện các giao dịch tài chính khác.</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 +</a:t>
            </a:r>
            <a:r>
              <a:rPr lang="en-US" altLang="en-US" sz="2800">
                <a:latin typeface="Times New Roman" panose="02020603050405020304" charset="0"/>
                <a:cs typeface="Times New Roman" panose="02020603050405020304" charset="0"/>
                <a:sym typeface="+mn-ea"/>
              </a:rPr>
              <a:t>Lưu trữ lịch sử giao dịch để dễ dàng tra cứu.</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a:t>
            </a:r>
            <a:r>
              <a:rPr lang="en-US" altLang="en-US" sz="2800">
                <a:latin typeface="Times New Roman" panose="02020603050405020304" charset="0"/>
                <a:cs typeface="Times New Roman" panose="02020603050405020304" charset="0"/>
                <a:sym typeface="+mn-ea"/>
              </a:rPr>
              <a:t>Gửi tiết kiệm:</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 +</a:t>
            </a:r>
            <a:r>
              <a:rPr lang="en-US" altLang="en-US" sz="2800">
                <a:latin typeface="Times New Roman" panose="02020603050405020304" charset="0"/>
                <a:cs typeface="Times New Roman" panose="02020603050405020304" charset="0"/>
                <a:sym typeface="+mn-ea"/>
              </a:rPr>
              <a:t>Lựa chọn các gói tiết kiệm phù hợp với lãi suất hấp dẫn.</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 +</a:t>
            </a:r>
            <a:r>
              <a:rPr lang="en-US" altLang="en-US" sz="2800">
                <a:latin typeface="Times New Roman" panose="02020603050405020304" charset="0"/>
                <a:cs typeface="Times New Roman" panose="02020603050405020304" charset="0"/>
                <a:sym typeface="+mn-ea"/>
              </a:rPr>
              <a:t>Theo dõi số tiền tiết kiệm và lãi suất tích lũy theo thời gian.</a:t>
            </a:r>
            <a:endParaRPr lang="en-US" altLang="en-US" sz="2800">
              <a:latin typeface="Times New Roman" panose="02020603050405020304" charset="0"/>
              <a:cs typeface="Times New Roman" panose="02020603050405020304" charset="0"/>
            </a:endParaRPr>
          </a:p>
          <a:p>
            <a:endParaRPr lang="vi-VN" sz="2800">
              <a:latin typeface="SVN-Product Sans" panose="020B0403030502040203" pitchFamily="34" charset="0"/>
            </a:endParaRPr>
          </a:p>
        </p:txBody>
      </p:sp>
      <p:sp>
        <p:nvSpPr>
          <p:cNvPr id="43" name="Oval 42"/>
          <p:cNvSpPr/>
          <p:nvPr/>
        </p:nvSpPr>
        <p:spPr>
          <a:xfrm>
            <a:off x="147366" y="-2148531"/>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4" name="Oval 43"/>
          <p:cNvSpPr/>
          <p:nvPr/>
        </p:nvSpPr>
        <p:spPr>
          <a:xfrm>
            <a:off x="-2079018" y="4392140"/>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5" name="Oval 44"/>
          <p:cNvSpPr/>
          <p:nvPr/>
        </p:nvSpPr>
        <p:spPr>
          <a:xfrm>
            <a:off x="14686389" y="6217523"/>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6" name="Oval 45"/>
          <p:cNvSpPr/>
          <p:nvPr/>
        </p:nvSpPr>
        <p:spPr>
          <a:xfrm>
            <a:off x="11720818" y="-2664251"/>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nvGrpSpPr>
          <p:cNvPr id="48" name="Group 47"/>
          <p:cNvGrpSpPr/>
          <p:nvPr/>
        </p:nvGrpSpPr>
        <p:grpSpPr>
          <a:xfrm rot="5400000" flipV="1">
            <a:off x="-3375115" y="3352257"/>
            <a:ext cx="6858002" cy="153487"/>
            <a:chOff x="-1" y="6732587"/>
            <a:chExt cx="12192000" cy="127731"/>
          </a:xfrm>
        </p:grpSpPr>
        <p:sp>
          <p:nvSpPr>
            <p:cNvPr id="49" name="Rectangle 48"/>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50" name="Rectangle 49"/>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53" name="Rectangle 52"/>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62" name="Rectangle 61"/>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63" name="Picture 62"/>
          <p:cNvPicPr>
            <a:picLocks noChangeAspect="1"/>
          </p:cNvPicPr>
          <p:nvPr/>
        </p:nvPicPr>
        <p:blipFill>
          <a:blip r:embed="rId9">
            <a:duotone>
              <a:prstClr val="black"/>
              <a:schemeClr val="bg1">
                <a:tint val="45000"/>
                <a:satMod val="400000"/>
              </a:schemeClr>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122506" y="1734351"/>
            <a:ext cx="1241415" cy="775884"/>
          </a:xfrm>
          <a:prstGeom prst="rect">
            <a:avLst/>
          </a:prstGeom>
        </p:spPr>
      </p:pic>
      <p:pic>
        <p:nvPicPr>
          <p:cNvPr id="64" name="Picture 63"/>
          <p:cNvPicPr>
            <a:picLocks noChangeAspect="1"/>
          </p:cNvPicPr>
          <p:nvPr/>
        </p:nvPicPr>
        <p:blipFill>
          <a:blip r:embed="rId9">
            <a:duotone>
              <a:prstClr val="black"/>
              <a:schemeClr val="bg1">
                <a:tint val="45000"/>
                <a:satMod val="400000"/>
              </a:schemeClr>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13154831" y="1495858"/>
            <a:ext cx="1013485" cy="633428"/>
          </a:xfrm>
          <a:prstGeom prst="rect">
            <a:avLst/>
          </a:prstGeom>
        </p:spPr>
      </p:pic>
      <p:pic>
        <p:nvPicPr>
          <p:cNvPr id="4" name="Picture 3"/>
          <p:cNvPicPr>
            <a:picLocks noChangeAspect="1"/>
          </p:cNvPicPr>
          <p:nvPr/>
        </p:nvPicPr>
        <p:blipFill>
          <a:blip r:embed="rId11"/>
          <a:stretch>
            <a:fillRect/>
          </a:stretch>
        </p:blipFill>
        <p:spPr>
          <a:xfrm>
            <a:off x="2117725" y="1496060"/>
            <a:ext cx="2298065" cy="1443355"/>
          </a:xfrm>
          <a:prstGeom prst="rect">
            <a:avLst/>
          </a:prstGeom>
        </p:spPr>
      </p:pic>
      <p:pic>
        <p:nvPicPr>
          <p:cNvPr id="5" name="Picture 4"/>
          <p:cNvPicPr>
            <a:picLocks noChangeAspect="1"/>
          </p:cNvPicPr>
          <p:nvPr/>
        </p:nvPicPr>
        <p:blipFill>
          <a:blip r:embed="rId12"/>
          <a:stretch>
            <a:fillRect/>
          </a:stretch>
        </p:blipFill>
        <p:spPr>
          <a:xfrm>
            <a:off x="587375" y="3063875"/>
            <a:ext cx="4289425" cy="23590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80"/>
                                  </p:iterate>
                                  <p:childTnLst>
                                    <p:set>
                                      <p:cBhvr>
                                        <p:cTn id="6"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9" name="Rectangle: Folded Corner 28"/>
          <p:cNvSpPr/>
          <p:nvPr/>
        </p:nvSpPr>
        <p:spPr>
          <a:xfrm>
            <a:off x="4226621" y="2405277"/>
            <a:ext cx="3882543" cy="1603718"/>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0" name="TextBox 29"/>
          <p:cNvSpPr txBox="1"/>
          <p:nvPr/>
        </p:nvSpPr>
        <p:spPr>
          <a:xfrm>
            <a:off x="3810635" y="2588260"/>
            <a:ext cx="4298950" cy="1198880"/>
          </a:xfrm>
          <a:prstGeom prst="rect">
            <a:avLst/>
          </a:prstGeom>
          <a:noFill/>
        </p:spPr>
        <p:txBody>
          <a:bodyPr wrap="square" rtlCol="0">
            <a:spAutoFit/>
          </a:bodyPr>
          <a:lstStyle/>
          <a:p>
            <a:pPr algn="ctr"/>
            <a:r>
              <a:rPr lang="vi-VN" altLang="en-PH" sz="3600">
                <a:solidFill>
                  <a:schemeClr val="bg1"/>
                </a:solidFill>
                <a:latin typeface="Times New Roman" panose="02020603050405020304" charset="0"/>
                <a:cs typeface="Times New Roman" panose="02020603050405020304" charset="0"/>
                <a:sym typeface="+mn-ea"/>
              </a:rPr>
              <a:t>Quản trị viên (Admin)</a:t>
            </a:r>
            <a:endParaRPr lang="vi-VN" altLang="en-PH" sz="3600" b="1">
              <a:solidFill>
                <a:schemeClr val="bg1"/>
              </a:solidFill>
              <a:latin typeface="Times New Roman" panose="02020603050405020304" charset="0"/>
              <a:cs typeface="Times New Roman" panose="02020603050405020304" charset="0"/>
              <a:sym typeface="+mn-ea"/>
            </a:endParaRPr>
          </a:p>
        </p:txBody>
      </p:sp>
      <p:sp>
        <p:nvSpPr>
          <p:cNvPr id="32" name="Rectangle: Folded Corner 31"/>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3" name="TextBox 32"/>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4</a:t>
            </a:r>
            <a:endParaRPr lang="en-PH" sz="2000" dirty="0">
              <a:solidFill>
                <a:schemeClr val="bg1"/>
              </a:solidFill>
              <a:latin typeface="Times New Roman" panose="02020603050405020304" charset="0"/>
              <a:cs typeface="Times New Roman" panose="02020603050405020304" charset="0"/>
            </a:endParaRPr>
          </a:p>
        </p:txBody>
      </p:sp>
      <p:sp>
        <p:nvSpPr>
          <p:cNvPr id="40" name="Rectangle 39"/>
          <p:cNvSpPr/>
          <p:nvPr/>
        </p:nvSpPr>
        <p:spPr>
          <a:xfrm>
            <a:off x="-5141519" y="1115904"/>
            <a:ext cx="4659832"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nvGrpSpPr>
          <p:cNvPr id="3" name="Group 2"/>
          <p:cNvGrpSpPr/>
          <p:nvPr/>
        </p:nvGrpSpPr>
        <p:grpSpPr>
          <a:xfrm>
            <a:off x="-5161887" y="1131970"/>
            <a:ext cx="164976" cy="5289441"/>
            <a:chOff x="2661323" y="1779640"/>
            <a:chExt cx="150703" cy="3498597"/>
          </a:xfrm>
          <a:solidFill>
            <a:srgbClr val="2EA54E"/>
          </a:solidFill>
        </p:grpSpPr>
        <p:sp>
          <p:nvSpPr>
            <p:cNvPr id="2" name="Rectangle 1"/>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37" name="Rectangle 36"/>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39" name="Group 38"/>
          <p:cNvGrpSpPr/>
          <p:nvPr/>
        </p:nvGrpSpPr>
        <p:grpSpPr>
          <a:xfrm rot="5400000">
            <a:off x="-2897873" y="4006481"/>
            <a:ext cx="150775" cy="4678811"/>
            <a:chOff x="2661323" y="1779640"/>
            <a:chExt cx="150703" cy="3498597"/>
          </a:xfrm>
          <a:solidFill>
            <a:srgbClr val="FBBB01"/>
          </a:solidFill>
        </p:grpSpPr>
        <p:sp>
          <p:nvSpPr>
            <p:cNvPr id="41" name="Rectangle 40"/>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2" name="Rectangle 41"/>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54" name="Group 53"/>
          <p:cNvGrpSpPr/>
          <p:nvPr/>
        </p:nvGrpSpPr>
        <p:grpSpPr>
          <a:xfrm>
            <a:off x="-635863" y="1116799"/>
            <a:ext cx="164976" cy="5305507"/>
            <a:chOff x="2661323" y="1779640"/>
            <a:chExt cx="150703" cy="3498597"/>
          </a:xfrm>
          <a:solidFill>
            <a:srgbClr val="3D81F4"/>
          </a:solidFill>
        </p:grpSpPr>
        <p:sp>
          <p:nvSpPr>
            <p:cNvPr id="55" name="Rectangle 54"/>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6" name="Rectangle 55"/>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grpSp>
        <p:nvGrpSpPr>
          <p:cNvPr id="57" name="Group 56"/>
          <p:cNvGrpSpPr/>
          <p:nvPr/>
        </p:nvGrpSpPr>
        <p:grpSpPr>
          <a:xfrm rot="5400000">
            <a:off x="-2901495" y="-1135533"/>
            <a:ext cx="158017" cy="4678811"/>
            <a:chOff x="2661323" y="1779640"/>
            <a:chExt cx="150703" cy="3498597"/>
          </a:xfrm>
          <a:solidFill>
            <a:srgbClr val="EA4335"/>
          </a:solidFill>
        </p:grpSpPr>
        <p:sp>
          <p:nvSpPr>
            <p:cNvPr id="58" name="Rectangle 57"/>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9" name="Rectangle 58"/>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grpSp>
      <p:sp>
        <p:nvSpPr>
          <p:cNvPr id="47" name="Rectangle: Folded Corner 46"/>
          <p:cNvSpPr/>
          <p:nvPr/>
        </p:nvSpPr>
        <p:spPr>
          <a:xfrm rot="16200000">
            <a:off x="12987184" y="550808"/>
            <a:ext cx="5206136" cy="6368457"/>
          </a:xfrm>
          <a:prstGeom prst="foldedCorner">
            <a:avLst>
              <a:gd name="adj" fmla="val 26934"/>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51" name="TextBox 50"/>
          <p:cNvSpPr txBox="1"/>
          <p:nvPr/>
        </p:nvSpPr>
        <p:spPr>
          <a:xfrm>
            <a:off x="12258127" y="1282881"/>
            <a:ext cx="1813525" cy="400110"/>
          </a:xfrm>
          <a:prstGeom prst="rect">
            <a:avLst/>
          </a:prstGeom>
          <a:noFill/>
        </p:spPr>
        <p:txBody>
          <a:bodyPr wrap="square" rtlCol="0">
            <a:spAutoFit/>
          </a:bodyPr>
          <a:lstStyle/>
          <a:p>
            <a:pPr algn="ctr"/>
            <a:r>
              <a:rPr lang="en-PH" sz="2000" b="1">
                <a:solidFill>
                  <a:schemeClr val="bg1"/>
                </a:solidFill>
                <a:latin typeface="Times New Roman" panose="02020603050405020304" charset="0"/>
                <a:cs typeface="Times New Roman" panose="02020603050405020304" charset="0"/>
              </a:rPr>
              <a:t>Nội dung 2</a:t>
            </a:r>
            <a:endParaRPr lang="en-PH" sz="2000" b="1" dirty="0">
              <a:solidFill>
                <a:schemeClr val="bg1"/>
              </a:solidFill>
              <a:latin typeface="Times New Roman" panose="02020603050405020304" charset="0"/>
              <a:cs typeface="Times New Roman" panose="02020603050405020304" charset="0"/>
            </a:endParaRPr>
          </a:p>
        </p:txBody>
      </p:sp>
      <p:pic>
        <p:nvPicPr>
          <p:cNvPr id="52" name="Picture 51" descr="Apple Moody Foodies"/>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822035" y="5208699"/>
            <a:ext cx="1008824" cy="1008824"/>
          </a:xfrm>
          <a:prstGeom prst="rect">
            <a:avLst/>
          </a:prstGeom>
        </p:spPr>
      </p:pic>
      <p:pic>
        <p:nvPicPr>
          <p:cNvPr id="60" name="Picture 59" descr="Watermelon Moody Foodi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7897" y="5433023"/>
            <a:ext cx="1008825" cy="1008825"/>
          </a:xfrm>
          <a:prstGeom prst="rect">
            <a:avLst/>
          </a:prstGeom>
        </p:spPr>
      </p:pic>
      <p:pic>
        <p:nvPicPr>
          <p:cNvPr id="61" name="Picture 60"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a:fillRect/>
          </a:stretch>
        </p:blipFill>
        <p:spPr>
          <a:xfrm>
            <a:off x="-4939170" y="1244410"/>
            <a:ext cx="784843" cy="660173"/>
          </a:xfrm>
          <a:prstGeom prst="rect">
            <a:avLst/>
          </a:prstGeom>
        </p:spPr>
      </p:pic>
      <p:sp>
        <p:nvSpPr>
          <p:cNvPr id="89" name="Rectangle 88"/>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0" name="TextBox 89"/>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91" name="Oval 90"/>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2" name="Oval 91"/>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3" name="Oval 92"/>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94" name="Group 93"/>
          <p:cNvGrpSpPr/>
          <p:nvPr/>
        </p:nvGrpSpPr>
        <p:grpSpPr>
          <a:xfrm>
            <a:off x="3065043" y="346935"/>
            <a:ext cx="6654018" cy="550671"/>
            <a:chOff x="2768991" y="3077691"/>
            <a:chExt cx="6654018" cy="550671"/>
          </a:xfrm>
        </p:grpSpPr>
        <p:sp>
          <p:nvSpPr>
            <p:cNvPr id="95" name="Rectangle: Rounded Corners 94"/>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96" name="Picture 95"/>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grpSp>
        <p:nvGrpSpPr>
          <p:cNvPr id="99" name="Group 98"/>
          <p:cNvGrpSpPr/>
          <p:nvPr/>
        </p:nvGrpSpPr>
        <p:grpSpPr>
          <a:xfrm rot="5400000" flipV="1">
            <a:off x="-3375115" y="3352257"/>
            <a:ext cx="6858002" cy="153487"/>
            <a:chOff x="-1" y="6732587"/>
            <a:chExt cx="12192000" cy="127731"/>
          </a:xfrm>
        </p:grpSpPr>
        <p:sp>
          <p:nvSpPr>
            <p:cNvPr id="100" name="Rectangle 99"/>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1" name="Rectangle 100"/>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2" name="Rectangle 101"/>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3" name="Rectangle 102"/>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104" name="Picture 103" descr="Chart, logo, company name, bubble chart&#10;&#10;Description automatically generated"/>
          <p:cNvPicPr>
            <a:picLocks noChangeAspect="1"/>
          </p:cNvPicPr>
          <p:nvPr/>
        </p:nvPicPr>
        <p:blipFill rotWithShape="1">
          <a:blip r:embed="rId7">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sp>
        <p:nvSpPr>
          <p:cNvPr id="48" name="Rectangle: Rounded Corners 47"/>
          <p:cNvSpPr/>
          <p:nvPr/>
        </p:nvSpPr>
        <p:spPr>
          <a:xfrm>
            <a:off x="12934070" y="1247803"/>
            <a:ext cx="4278597" cy="4843022"/>
          </a:xfrm>
          <a:prstGeom prst="roundRect">
            <a:avLst>
              <a:gd name="adj" fmla="val 34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9" name="Rectangle: Top Corners Rounded 48"/>
          <p:cNvSpPr/>
          <p:nvPr/>
        </p:nvSpPr>
        <p:spPr>
          <a:xfrm>
            <a:off x="12934070" y="1244410"/>
            <a:ext cx="4278597" cy="546056"/>
          </a:xfrm>
          <a:prstGeom prst="round2SameRect">
            <a:avLst>
              <a:gd name="adj1" fmla="val 25629"/>
              <a:gd name="adj2" fmla="val 0"/>
            </a:avLst>
          </a:prstGeom>
          <a:solidFill>
            <a:srgbClr val="202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0" name="Rectangle: Rounded Corners 49"/>
          <p:cNvSpPr/>
          <p:nvPr/>
        </p:nvSpPr>
        <p:spPr>
          <a:xfrm>
            <a:off x="13064797" y="5585039"/>
            <a:ext cx="1022424" cy="362537"/>
          </a:xfrm>
          <a:prstGeom prst="roundRect">
            <a:avLst>
              <a:gd name="adj" fmla="val 11130"/>
            </a:avLst>
          </a:prstGeom>
          <a:solidFill>
            <a:srgbClr val="1A75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Times New Roman" panose="02020603050405020304" charset="0"/>
                <a:cs typeface="Times New Roman" panose="02020603050405020304" charset="0"/>
              </a:rPr>
              <a:t>Thuyết trình</a:t>
            </a:r>
            <a:endParaRPr lang="en-US" sz="1200">
              <a:latin typeface="Times New Roman" panose="02020603050405020304" charset="0"/>
              <a:cs typeface="Times New Roman" panose="02020603050405020304" charset="0"/>
            </a:endParaRPr>
          </a:p>
        </p:txBody>
      </p:sp>
      <p:pic>
        <p:nvPicPr>
          <p:cNvPr id="53" name="Picture 52"/>
          <p:cNvPicPr>
            <a:picLocks noChangeAspect="1"/>
          </p:cNvPicPr>
          <p:nvPr/>
        </p:nvPicPr>
        <p:blipFill rotWithShape="1">
          <a:blip r:embed="rId8">
            <a:extLst>
              <a:ext uri="{BEBA8EAE-BF5A-486C-A8C5-ECC9F3942E4B}">
                <a14:imgProps xmlns:a14="http://schemas.microsoft.com/office/drawing/2010/main">
                  <a14:imgLayer r:embed="rId9">
                    <a14:imgEffect>
                      <a14:backgroundRemoval t="52882" b="76895" l="66720" r="73269">
                        <a14:backgroundMark x1="70290" y1="63596" x2="70290" y2="63596"/>
                        <a14:backgroundMark x1="71659" y1="63158" x2="71659" y2="63158"/>
                      </a14:backgroundRemoval>
                    </a14:imgEffect>
                  </a14:imgLayer>
                </a14:imgProps>
              </a:ext>
            </a:extLst>
          </a:blip>
          <a:srcRect l="65901" t="49880" r="25912" b="20103"/>
          <a:stretch>
            <a:fillRect/>
          </a:stretch>
        </p:blipFill>
        <p:spPr>
          <a:xfrm>
            <a:off x="15852954" y="1387679"/>
            <a:ext cx="433852" cy="291979"/>
          </a:xfrm>
          <a:prstGeom prst="rect">
            <a:avLst/>
          </a:prstGeom>
        </p:spPr>
      </p:pic>
      <p:pic>
        <p:nvPicPr>
          <p:cNvPr id="62" name="Picture 61"/>
          <p:cNvPicPr>
            <a:picLocks noChangeAspect="1"/>
          </p:cNvPicPr>
          <p:nvPr/>
        </p:nvPicPr>
        <p:blipFill rotWithShape="1">
          <a:blip r:embed="rId10">
            <a:extLst>
              <a:ext uri="{BEBA8EAE-BF5A-486C-A8C5-ECC9F3942E4B}">
                <a14:imgProps xmlns:a14="http://schemas.microsoft.com/office/drawing/2010/main">
                  <a14:imgLayer r:embed="rId9">
                    <a14:imgEffect>
                      <a14:backgroundRemoval t="49171" b="80930" l="4380" r="9220"/>
                    </a14:imgEffect>
                  </a14:imgLayer>
                </a14:imgProps>
              </a:ext>
            </a:extLst>
          </a:blip>
          <a:srcRect l="3775" t="45201" r="90175" b="15100"/>
          <a:stretch>
            <a:fillRect/>
          </a:stretch>
        </p:blipFill>
        <p:spPr>
          <a:xfrm>
            <a:off x="13040210" y="1318170"/>
            <a:ext cx="342859" cy="412985"/>
          </a:xfrm>
          <a:prstGeom prst="rect">
            <a:avLst/>
          </a:prstGeom>
        </p:spPr>
      </p:pic>
      <p:pic>
        <p:nvPicPr>
          <p:cNvPr id="63" name="Picture 62"/>
          <p:cNvPicPr>
            <a:picLocks noChangeAspect="1"/>
          </p:cNvPicPr>
          <p:nvPr/>
        </p:nvPicPr>
        <p:blipFill rotWithShape="1">
          <a:blip r:embed="rId11">
            <a:extLst>
              <a:ext uri="{BEBA8EAE-BF5A-486C-A8C5-ECC9F3942E4B}">
                <a14:imgProps xmlns:a14="http://schemas.microsoft.com/office/drawing/2010/main">
                  <a14:imgLayer r:embed="rId9">
                    <a14:imgEffect>
                      <a14:backgroundRemoval t="47442" b="78598" l="77829" r="84606"/>
                    </a14:imgEffect>
                  </a14:imgLayer>
                </a14:imgProps>
              </a:ext>
            </a:extLst>
          </a:blip>
          <a:srcRect l="76982" t="43547" r="14547" b="17508"/>
          <a:stretch>
            <a:fillRect/>
          </a:stretch>
        </p:blipFill>
        <p:spPr>
          <a:xfrm>
            <a:off x="16286806" y="1341588"/>
            <a:ext cx="433852" cy="366148"/>
          </a:xfrm>
          <a:prstGeom prst="rect">
            <a:avLst/>
          </a:prstGeom>
        </p:spPr>
      </p:pic>
      <p:pic>
        <p:nvPicPr>
          <p:cNvPr id="64" name="Picture 63"/>
          <p:cNvPicPr>
            <a:picLocks noChangeAspect="1"/>
          </p:cNvPicPr>
          <p:nvPr/>
        </p:nvPicPr>
        <p:blipFill rotWithShape="1">
          <a:blip r:embed="rId12">
            <a:extLst>
              <a:ext uri="{BEBA8EAE-BF5A-486C-A8C5-ECC9F3942E4B}">
                <a14:imgProps xmlns:a14="http://schemas.microsoft.com/office/drawing/2010/main">
                  <a14:imgLayer r:embed="rId9">
                    <a14:imgEffect>
                      <a14:backgroundRemoval t="50439" b="75877" l="90660" r="98792">
                        <a14:foregroundMark x1="93639" y1="62281" x2="93639" y2="62281"/>
                        <a14:foregroundMark x1="94767" y1="64474" x2="94767" y2="64474"/>
                        <a14:foregroundMark x1="98792" y1="55263" x2="98792" y2="55263"/>
                        <a14:foregroundMark x1="91546" y1="63158" x2="91546" y2="63158"/>
                      </a14:backgroundRemoval>
                    </a14:imgEffect>
                  </a14:imgLayer>
                </a14:imgProps>
              </a:ext>
            </a:extLst>
          </a:blip>
          <a:srcRect l="90059" t="47630" r="3836" b="20915"/>
          <a:stretch>
            <a:fillRect/>
          </a:stretch>
        </p:blipFill>
        <p:spPr>
          <a:xfrm>
            <a:off x="16720658" y="1341588"/>
            <a:ext cx="387108" cy="366148"/>
          </a:xfrm>
          <a:prstGeom prst="rect">
            <a:avLst/>
          </a:prstGeom>
        </p:spPr>
      </p:pic>
      <p:sp>
        <p:nvSpPr>
          <p:cNvPr id="65" name="TextBox 64"/>
          <p:cNvSpPr txBox="1"/>
          <p:nvPr/>
        </p:nvSpPr>
        <p:spPr>
          <a:xfrm>
            <a:off x="13345796" y="1326508"/>
            <a:ext cx="1469292" cy="369332"/>
          </a:xfrm>
          <a:prstGeom prst="rect">
            <a:avLst/>
          </a:prstGeom>
          <a:noFill/>
        </p:spPr>
        <p:txBody>
          <a:bodyPr wrap="square" rtlCol="0">
            <a:spAutoFit/>
          </a:bodyPr>
          <a:lstStyle/>
          <a:p>
            <a:r>
              <a:rPr lang="en-US">
                <a:solidFill>
                  <a:schemeClr val="bg1"/>
                </a:solidFill>
                <a:latin typeface="Times New Roman" panose="02020603050405020304" charset="0"/>
                <a:cs typeface="Times New Roman" panose="02020603050405020304" charset="0"/>
              </a:rPr>
              <a:t>Nội dung 3</a:t>
            </a:r>
            <a:endParaRPr lang="en-US">
              <a:solidFill>
                <a:schemeClr val="bg1"/>
              </a:solidFill>
              <a:latin typeface="Times New Roman" panose="02020603050405020304" charset="0"/>
              <a:cs typeface="Times New Roman" panose="02020603050405020304" charset="0"/>
            </a:endParaRPr>
          </a:p>
        </p:txBody>
      </p:sp>
      <p:sp>
        <p:nvSpPr>
          <p:cNvPr id="66" name="Oval 65"/>
          <p:cNvSpPr/>
          <p:nvPr/>
        </p:nvSpPr>
        <p:spPr>
          <a:xfrm>
            <a:off x="1472914" y="1436838"/>
            <a:ext cx="995680" cy="971973"/>
          </a:xfrm>
          <a:prstGeom prst="ellipse">
            <a:avLst/>
          </a:prstGeom>
          <a:blipFill dpi="0" rotWithShape="1">
            <a:blip r:embed="rId13">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67" name="Oval 66"/>
          <p:cNvSpPr/>
          <p:nvPr/>
        </p:nvSpPr>
        <p:spPr>
          <a:xfrm>
            <a:off x="2075842" y="4351987"/>
            <a:ext cx="995680" cy="971973"/>
          </a:xfrm>
          <a:prstGeom prst="ellipse">
            <a:avLst/>
          </a:prstGeom>
          <a:blipFill dpi="0" rotWithShape="1">
            <a:blip r:embed="rId13">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68" name="Oval 67"/>
          <p:cNvSpPr/>
          <p:nvPr/>
        </p:nvSpPr>
        <p:spPr>
          <a:xfrm>
            <a:off x="7529225" y="4722712"/>
            <a:ext cx="995680" cy="971973"/>
          </a:xfrm>
          <a:prstGeom prst="ellipse">
            <a:avLst/>
          </a:prstGeom>
          <a:blipFill dpi="0" rotWithShape="1">
            <a:blip r:embed="rId13">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69" name="Oval 68"/>
          <p:cNvSpPr/>
          <p:nvPr/>
        </p:nvSpPr>
        <p:spPr>
          <a:xfrm>
            <a:off x="9484555" y="1474009"/>
            <a:ext cx="995680" cy="971973"/>
          </a:xfrm>
          <a:prstGeom prst="ellipse">
            <a:avLst/>
          </a:prstGeom>
          <a:blipFill dpi="0" rotWithShape="1">
            <a:blip r:embed="rId13">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pic>
        <p:nvPicPr>
          <p:cNvPr id="70" name="Picture 69"/>
          <p:cNvPicPr>
            <a:picLocks noChangeAspect="1"/>
          </p:cNvPicPr>
          <p:nvPr/>
        </p:nvPicPr>
        <p:blipFill>
          <a:blip r:embed="rId14">
            <a:duotone>
              <a:prstClr val="black"/>
              <a:schemeClr val="bg1">
                <a:tint val="45000"/>
                <a:satMod val="400000"/>
              </a:schemeClr>
            </a:duotone>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088399" y="2028001"/>
            <a:ext cx="1241415" cy="775884"/>
          </a:xfrm>
          <a:prstGeom prst="rect">
            <a:avLst/>
          </a:prstGeom>
        </p:spPr>
      </p:pic>
      <p:pic>
        <p:nvPicPr>
          <p:cNvPr id="71" name="Picture 70"/>
          <p:cNvPicPr>
            <a:picLocks noChangeAspect="1"/>
          </p:cNvPicPr>
          <p:nvPr/>
        </p:nvPicPr>
        <p:blipFill>
          <a:blip r:embed="rId14">
            <a:duotone>
              <a:prstClr val="black"/>
              <a:schemeClr val="bg1">
                <a:tint val="45000"/>
                <a:satMod val="400000"/>
              </a:schemeClr>
            </a:duotone>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750317" y="3669314"/>
            <a:ext cx="1013485" cy="63342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9" name="Rectangle: Folded Corner 28"/>
          <p:cNvSpPr/>
          <p:nvPr/>
        </p:nvSpPr>
        <p:spPr>
          <a:xfrm rot="16200000">
            <a:off x="976371" y="1042526"/>
            <a:ext cx="4856766" cy="5719726"/>
          </a:xfrm>
          <a:prstGeom prst="foldedCorner">
            <a:avLst>
              <a:gd name="adj" fmla="val 22624"/>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0" name="TextBox 29"/>
          <p:cNvSpPr txBox="1"/>
          <p:nvPr/>
        </p:nvSpPr>
        <p:spPr>
          <a:xfrm>
            <a:off x="476865" y="1632867"/>
            <a:ext cx="2745580" cy="645160"/>
          </a:xfrm>
          <a:prstGeom prst="rect">
            <a:avLst/>
          </a:prstGeom>
          <a:noFill/>
        </p:spPr>
        <p:txBody>
          <a:bodyPr wrap="square" rtlCol="0">
            <a:spAutoFit/>
          </a:bodyPr>
          <a:lstStyle/>
          <a:p>
            <a:pPr algn="ctr"/>
            <a:r>
              <a:rPr lang="vi-VN" altLang="en-PH" sz="3600">
                <a:solidFill>
                  <a:schemeClr val="bg1"/>
                </a:solidFill>
                <a:latin typeface="Times New Roman" panose="02020603050405020304" charset="0"/>
                <a:cs typeface="Times New Roman" panose="02020603050405020304" charset="0"/>
                <a:sym typeface="+mn-ea"/>
              </a:rPr>
              <a:t>Quản trị viên</a:t>
            </a:r>
            <a:endParaRPr lang="vi-VN" altLang="en-PH" sz="3600" b="1" dirty="0">
              <a:solidFill>
                <a:schemeClr val="bg1"/>
              </a:solidFill>
              <a:latin typeface="Times New Roman" panose="02020603050405020304" charset="0"/>
              <a:cs typeface="Times New Roman" panose="02020603050405020304" charset="0"/>
              <a:sym typeface="+mn-ea"/>
            </a:endParaRPr>
          </a:p>
        </p:txBody>
      </p:sp>
      <p:sp>
        <p:nvSpPr>
          <p:cNvPr id="89" name="Rectangle 88"/>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0" name="TextBox 89"/>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91" name="Oval 90"/>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2" name="Oval 91"/>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3" name="Oval 92"/>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94" name="Group 93"/>
          <p:cNvGrpSpPr/>
          <p:nvPr/>
        </p:nvGrpSpPr>
        <p:grpSpPr>
          <a:xfrm>
            <a:off x="3065043" y="346935"/>
            <a:ext cx="6654018" cy="550671"/>
            <a:chOff x="2768991" y="3077691"/>
            <a:chExt cx="6654018" cy="550671"/>
          </a:xfrm>
        </p:grpSpPr>
        <p:sp>
          <p:nvSpPr>
            <p:cNvPr id="95" name="Rectangle: Rounded Corners 94"/>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96" name="Picture 95"/>
            <p:cNvPicPr>
              <a:picLocks noChangeAspect="1"/>
            </p:cNvPicPr>
            <p:nvPr/>
          </p:nvPicPr>
          <p:blipFill>
            <a:blip r:embed="rId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p:cNvSpPr txBox="1"/>
          <p:nvPr/>
        </p:nvSpPr>
        <p:spPr>
          <a:xfrm>
            <a:off x="3709886" y="436727"/>
            <a:ext cx="5300471" cy="369332"/>
          </a:xfrm>
          <a:prstGeom prst="rect">
            <a:avLst/>
          </a:prstGeom>
          <a:noFill/>
        </p:spPr>
        <p:txBody>
          <a:bodyPr wrap="square" rtlCol="0">
            <a:spAutoFit/>
          </a:bodyPr>
          <a:lstStyle/>
          <a:p>
            <a:r>
              <a:rPr lang="en-US">
                <a:solidFill>
                  <a:schemeClr val="bg1">
                    <a:lumMod val="50000"/>
                  </a:schemeClr>
                </a:solidFill>
                <a:latin typeface="Times New Roman" panose="02020603050405020304" charset="0"/>
                <a:cs typeface="Times New Roman" panose="02020603050405020304" charset="0"/>
              </a:rPr>
              <a:t>Chủ đề nội dung </a:t>
            </a:r>
            <a:endParaRPr lang="en-US">
              <a:solidFill>
                <a:schemeClr val="bg1">
                  <a:lumMod val="50000"/>
                </a:schemeClr>
              </a:solidFill>
              <a:latin typeface="Times New Roman" panose="02020603050405020304" charset="0"/>
              <a:cs typeface="Times New Roman" panose="02020603050405020304" charset="0"/>
            </a:endParaRPr>
          </a:p>
        </p:txBody>
      </p:sp>
      <p:grpSp>
        <p:nvGrpSpPr>
          <p:cNvPr id="99" name="Group 98"/>
          <p:cNvGrpSpPr/>
          <p:nvPr/>
        </p:nvGrpSpPr>
        <p:grpSpPr>
          <a:xfrm rot="5400000" flipV="1">
            <a:off x="-3375115" y="3352257"/>
            <a:ext cx="6858002" cy="153487"/>
            <a:chOff x="-1" y="6732587"/>
            <a:chExt cx="12192000" cy="127731"/>
          </a:xfrm>
        </p:grpSpPr>
        <p:sp>
          <p:nvSpPr>
            <p:cNvPr id="100" name="Rectangle 99"/>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1" name="Rectangle 100"/>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2" name="Rectangle 101"/>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3" name="Rectangle 102"/>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104" name="Picture 103"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sp>
        <p:nvSpPr>
          <p:cNvPr id="43" name="Oval 42"/>
          <p:cNvSpPr/>
          <p:nvPr/>
        </p:nvSpPr>
        <p:spPr>
          <a:xfrm>
            <a:off x="1385774" y="5731585"/>
            <a:ext cx="559777" cy="530368"/>
          </a:xfrm>
          <a:prstGeom prst="ellipse">
            <a:avLst/>
          </a:prstGeom>
          <a:blipFill dpi="0" rotWithShape="1">
            <a:blip r:embed="rId5">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4" name="Oval 43"/>
          <p:cNvSpPr/>
          <p:nvPr/>
        </p:nvSpPr>
        <p:spPr>
          <a:xfrm>
            <a:off x="2166327" y="5731585"/>
            <a:ext cx="559777" cy="533110"/>
          </a:xfrm>
          <a:prstGeom prst="ellipse">
            <a:avLst/>
          </a:prstGeom>
          <a:blipFill dpi="0" rotWithShape="1">
            <a:blip r:embed="rId5">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5" name="Oval 44"/>
          <p:cNvSpPr/>
          <p:nvPr/>
        </p:nvSpPr>
        <p:spPr>
          <a:xfrm>
            <a:off x="605221" y="5731585"/>
            <a:ext cx="559777" cy="530368"/>
          </a:xfrm>
          <a:prstGeom prst="ellipse">
            <a:avLst/>
          </a:prstGeom>
          <a:blipFill dpi="0" rotWithShape="1">
            <a:blip r:embed="rId5">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pic>
        <p:nvPicPr>
          <p:cNvPr id="46" name="Picture 45"/>
          <p:cNvPicPr>
            <a:picLocks noChangeAspect="1"/>
          </p:cNvPicPr>
          <p:nvPr/>
        </p:nvPicPr>
        <p:blipFill>
          <a:blip r:embed="rId6">
            <a:duotone>
              <a:prstClr val="black"/>
              <a:schemeClr val="bg1">
                <a:tint val="45000"/>
                <a:satMod val="400000"/>
              </a:schemeClr>
            </a:duotone>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407095" y="1155398"/>
            <a:ext cx="1741533" cy="1088458"/>
          </a:xfrm>
          <a:prstGeom prst="rect">
            <a:avLst/>
          </a:prstGeom>
        </p:spPr>
      </p:pic>
      <p:pic>
        <p:nvPicPr>
          <p:cNvPr id="48" name="Picture 47"/>
          <p:cNvPicPr>
            <a:picLocks noChangeAspect="1"/>
          </p:cNvPicPr>
          <p:nvPr/>
        </p:nvPicPr>
        <p:blipFill>
          <a:blip r:embed="rId6">
            <a:duotone>
              <a:prstClr val="black"/>
              <a:schemeClr val="bg1">
                <a:tint val="45000"/>
                <a:satMod val="400000"/>
              </a:schemeClr>
            </a:duotone>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10806226" y="5540089"/>
            <a:ext cx="1741533" cy="1088458"/>
          </a:xfrm>
          <a:prstGeom prst="rect">
            <a:avLst/>
          </a:prstGeom>
        </p:spPr>
      </p:pic>
      <p:sp>
        <p:nvSpPr>
          <p:cNvPr id="7" name="Rectangle: Rounded Corners 6"/>
          <p:cNvSpPr/>
          <p:nvPr/>
        </p:nvSpPr>
        <p:spPr>
          <a:xfrm>
            <a:off x="6871058" y="1418931"/>
            <a:ext cx="4278597" cy="4843022"/>
          </a:xfrm>
          <a:prstGeom prst="roundRect">
            <a:avLst>
              <a:gd name="adj" fmla="val 34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 name="Rectangle: Top Corners Rounded 8"/>
          <p:cNvSpPr/>
          <p:nvPr/>
        </p:nvSpPr>
        <p:spPr>
          <a:xfrm>
            <a:off x="6871058" y="1415538"/>
            <a:ext cx="4278597" cy="546056"/>
          </a:xfrm>
          <a:prstGeom prst="round2SameRect">
            <a:avLst>
              <a:gd name="adj1" fmla="val 25629"/>
              <a:gd name="adj2" fmla="val 0"/>
            </a:avLst>
          </a:prstGeom>
          <a:solidFill>
            <a:srgbClr val="202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10" name="Rectangle: Rounded Corners 9"/>
          <p:cNvSpPr/>
          <p:nvPr/>
        </p:nvSpPr>
        <p:spPr>
          <a:xfrm>
            <a:off x="7001785" y="5756167"/>
            <a:ext cx="1022424" cy="362537"/>
          </a:xfrm>
          <a:prstGeom prst="roundRect">
            <a:avLst>
              <a:gd name="adj" fmla="val 11130"/>
            </a:avLst>
          </a:prstGeom>
          <a:solidFill>
            <a:srgbClr val="1A75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Times New Roman" panose="02020603050405020304" charset="0"/>
                <a:cs typeface="Times New Roman" panose="02020603050405020304" charset="0"/>
              </a:rPr>
              <a:t>Thuyết trình</a:t>
            </a:r>
            <a:endParaRPr lang="en-US" sz="1200">
              <a:latin typeface="Times New Roman" panose="02020603050405020304" charset="0"/>
              <a:cs typeface="Times New Roman" panose="02020603050405020304" charset="0"/>
            </a:endParaRPr>
          </a:p>
        </p:txBody>
      </p:sp>
      <p:pic>
        <p:nvPicPr>
          <p:cNvPr id="12" name="Picture 11"/>
          <p:cNvPicPr>
            <a:picLocks noChangeAspect="1"/>
          </p:cNvPicPr>
          <p:nvPr/>
        </p:nvPicPr>
        <p:blipFill rotWithShape="1">
          <a:blip r:embed="rId8">
            <a:extLst>
              <a:ext uri="{BEBA8EAE-BF5A-486C-A8C5-ECC9F3942E4B}">
                <a14:imgProps xmlns:a14="http://schemas.microsoft.com/office/drawing/2010/main">
                  <a14:imgLayer r:embed="rId9">
                    <a14:imgEffect>
                      <a14:backgroundRemoval t="52882" b="76895" l="66720" r="73269">
                        <a14:backgroundMark x1="70290" y1="63596" x2="70290" y2="63596"/>
                        <a14:backgroundMark x1="71659" y1="63158" x2="71659" y2="63158"/>
                      </a14:backgroundRemoval>
                    </a14:imgEffect>
                  </a14:imgLayer>
                </a14:imgProps>
              </a:ext>
            </a:extLst>
          </a:blip>
          <a:srcRect l="65901" t="49880" r="25912" b="20103"/>
          <a:stretch>
            <a:fillRect/>
          </a:stretch>
        </p:blipFill>
        <p:spPr>
          <a:xfrm>
            <a:off x="9789942" y="1558807"/>
            <a:ext cx="433852" cy="291979"/>
          </a:xfrm>
          <a:prstGeom prst="rect">
            <a:avLst/>
          </a:prstGeom>
        </p:spPr>
      </p:pic>
      <p:pic>
        <p:nvPicPr>
          <p:cNvPr id="62" name="Picture 61"/>
          <p:cNvPicPr>
            <a:picLocks noChangeAspect="1"/>
          </p:cNvPicPr>
          <p:nvPr/>
        </p:nvPicPr>
        <p:blipFill rotWithShape="1">
          <a:blip r:embed="rId10">
            <a:extLst>
              <a:ext uri="{BEBA8EAE-BF5A-486C-A8C5-ECC9F3942E4B}">
                <a14:imgProps xmlns:a14="http://schemas.microsoft.com/office/drawing/2010/main">
                  <a14:imgLayer r:embed="rId9">
                    <a14:imgEffect>
                      <a14:backgroundRemoval t="49171" b="80930" l="4380" r="9220"/>
                    </a14:imgEffect>
                  </a14:imgLayer>
                </a14:imgProps>
              </a:ext>
            </a:extLst>
          </a:blip>
          <a:srcRect l="3775" t="45201" r="90175" b="15100"/>
          <a:stretch>
            <a:fillRect/>
          </a:stretch>
        </p:blipFill>
        <p:spPr>
          <a:xfrm>
            <a:off x="6977198" y="1489298"/>
            <a:ext cx="342859" cy="412985"/>
          </a:xfrm>
          <a:prstGeom prst="rect">
            <a:avLst/>
          </a:prstGeom>
        </p:spPr>
      </p:pic>
      <p:pic>
        <p:nvPicPr>
          <p:cNvPr id="63" name="Picture 62"/>
          <p:cNvPicPr>
            <a:picLocks noChangeAspect="1"/>
          </p:cNvPicPr>
          <p:nvPr/>
        </p:nvPicPr>
        <p:blipFill rotWithShape="1">
          <a:blip r:embed="rId11">
            <a:extLst>
              <a:ext uri="{BEBA8EAE-BF5A-486C-A8C5-ECC9F3942E4B}">
                <a14:imgProps xmlns:a14="http://schemas.microsoft.com/office/drawing/2010/main">
                  <a14:imgLayer r:embed="rId9">
                    <a14:imgEffect>
                      <a14:backgroundRemoval t="47442" b="78598" l="77829" r="84606"/>
                    </a14:imgEffect>
                  </a14:imgLayer>
                </a14:imgProps>
              </a:ext>
            </a:extLst>
          </a:blip>
          <a:srcRect l="76982" t="43547" r="14547" b="17508"/>
          <a:stretch>
            <a:fillRect/>
          </a:stretch>
        </p:blipFill>
        <p:spPr>
          <a:xfrm>
            <a:off x="10223794" y="1512716"/>
            <a:ext cx="433852" cy="366148"/>
          </a:xfrm>
          <a:prstGeom prst="rect">
            <a:avLst/>
          </a:prstGeom>
        </p:spPr>
      </p:pic>
      <p:pic>
        <p:nvPicPr>
          <p:cNvPr id="64" name="Picture 63"/>
          <p:cNvPicPr>
            <a:picLocks noChangeAspect="1"/>
          </p:cNvPicPr>
          <p:nvPr/>
        </p:nvPicPr>
        <p:blipFill rotWithShape="1">
          <a:blip r:embed="rId12">
            <a:extLst>
              <a:ext uri="{BEBA8EAE-BF5A-486C-A8C5-ECC9F3942E4B}">
                <a14:imgProps xmlns:a14="http://schemas.microsoft.com/office/drawing/2010/main">
                  <a14:imgLayer r:embed="rId9">
                    <a14:imgEffect>
                      <a14:backgroundRemoval t="50439" b="75877" l="90660" r="98792">
                        <a14:foregroundMark x1="93639" y1="62281" x2="93639" y2="62281"/>
                        <a14:foregroundMark x1="94767" y1="64474" x2="94767" y2="64474"/>
                        <a14:foregroundMark x1="98792" y1="55263" x2="98792" y2="55263"/>
                        <a14:foregroundMark x1="91546" y1="63158" x2="91546" y2="63158"/>
                      </a14:backgroundRemoval>
                    </a14:imgEffect>
                  </a14:imgLayer>
                </a14:imgProps>
              </a:ext>
            </a:extLst>
          </a:blip>
          <a:srcRect l="90059" t="47630" r="3836" b="20915"/>
          <a:stretch>
            <a:fillRect/>
          </a:stretch>
        </p:blipFill>
        <p:spPr>
          <a:xfrm>
            <a:off x="10657646" y="1512716"/>
            <a:ext cx="387108" cy="366148"/>
          </a:xfrm>
          <a:prstGeom prst="rect">
            <a:avLst/>
          </a:prstGeom>
        </p:spPr>
      </p:pic>
      <p:sp>
        <p:nvSpPr>
          <p:cNvPr id="13" name="TextBox 12"/>
          <p:cNvSpPr txBox="1"/>
          <p:nvPr/>
        </p:nvSpPr>
        <p:spPr>
          <a:xfrm>
            <a:off x="7282784" y="1497636"/>
            <a:ext cx="1469292" cy="368300"/>
          </a:xfrm>
          <a:prstGeom prst="rect">
            <a:avLst/>
          </a:prstGeom>
          <a:noFill/>
        </p:spPr>
        <p:txBody>
          <a:bodyPr wrap="square" rtlCol="0">
            <a:spAutoFit/>
          </a:bodyPr>
          <a:lstStyle/>
          <a:p>
            <a:r>
              <a:rPr lang="vi-VN" altLang="en-PH">
                <a:solidFill>
                  <a:schemeClr val="bg1"/>
                </a:solidFill>
                <a:latin typeface="Times New Roman" panose="02020603050405020304" charset="0"/>
                <a:cs typeface="Times New Roman" panose="02020603050405020304" charset="0"/>
                <a:sym typeface="+mn-ea"/>
              </a:rPr>
              <a:t>Quản trị viên</a:t>
            </a:r>
            <a:endParaRPr lang="vi-VN" altLang="en-PH">
              <a:solidFill>
                <a:schemeClr val="bg1"/>
              </a:solidFill>
              <a:latin typeface="Times New Roman" panose="02020603050405020304" charset="0"/>
              <a:cs typeface="Times New Roman" panose="02020603050405020304" charset="0"/>
              <a:sym typeface="+mn-ea"/>
            </a:endParaRPr>
          </a:p>
        </p:txBody>
      </p:sp>
      <p:sp>
        <p:nvSpPr>
          <p:cNvPr id="65" name="Oval 64"/>
          <p:cNvSpPr/>
          <p:nvPr/>
        </p:nvSpPr>
        <p:spPr>
          <a:xfrm>
            <a:off x="11451056" y="1430606"/>
            <a:ext cx="559777" cy="530368"/>
          </a:xfrm>
          <a:prstGeom prst="ellipse">
            <a:avLst/>
          </a:prstGeom>
          <a:blipFill dpi="0" rotWithShape="1">
            <a:blip r:embed="rId5">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66" name="TextBox 65"/>
          <p:cNvSpPr txBox="1"/>
          <p:nvPr/>
        </p:nvSpPr>
        <p:spPr>
          <a:xfrm>
            <a:off x="6880860" y="1960880"/>
            <a:ext cx="4454525" cy="4005580"/>
          </a:xfrm>
          <a:prstGeom prst="rect">
            <a:avLst/>
          </a:prstGeom>
          <a:noFill/>
        </p:spPr>
        <p:txBody>
          <a:bodyPr wrap="square" rtlCol="0">
            <a:noAutofit/>
          </a:bodyPr>
          <a:lstStyle/>
          <a:p>
            <a:r>
              <a:rPr lang="vi-VN" altLang="en-US" sz="2000" b="1">
                <a:latin typeface="Times New Roman" panose="02020603050405020304" charset="0"/>
                <a:cs typeface="Times New Roman" panose="02020603050405020304" charset="0"/>
                <a:sym typeface="+mn-ea"/>
              </a:rPr>
              <a:t>-</a:t>
            </a:r>
            <a:r>
              <a:rPr lang="en-US" altLang="en-US" sz="2000" b="1">
                <a:latin typeface="Times New Roman" panose="02020603050405020304" charset="0"/>
                <a:cs typeface="Times New Roman" panose="02020603050405020304" charset="0"/>
                <a:sym typeface="+mn-ea"/>
              </a:rPr>
              <a:t>Thống kê:</a:t>
            </a:r>
            <a:endParaRPr lang="en-US" altLang="en-US" sz="2000" b="1">
              <a:latin typeface="Times New Roman" panose="02020603050405020304" charset="0"/>
              <a:cs typeface="Times New Roman" panose="02020603050405020304" charset="0"/>
            </a:endParaRPr>
          </a:p>
          <a:p>
            <a:r>
              <a:rPr lang="en-US" altLang="en-US" sz="2000" b="1">
                <a:latin typeface="Times New Roman" panose="02020603050405020304" charset="0"/>
                <a:cs typeface="Times New Roman" panose="02020603050405020304" charset="0"/>
                <a:sym typeface="+mn-ea"/>
              </a:rPr>
              <a:t>Tạo báo cáo thống kê về các hoạt động của ngân hàng, bao gồm giao dịch, khoản vay, và tiết kiệm.</a:t>
            </a:r>
            <a:endParaRPr lang="en-US" altLang="en-US" sz="2000" b="1">
              <a:latin typeface="Times New Roman" panose="02020603050405020304" charset="0"/>
              <a:cs typeface="Times New Roman" panose="02020603050405020304" charset="0"/>
            </a:endParaRPr>
          </a:p>
          <a:p>
            <a:endParaRPr lang="vi-VN" sz="2000" b="1">
              <a:latin typeface="Times New Roman" panose="02020603050405020304" charset="0"/>
              <a:cs typeface="Times New Roman" panose="02020603050405020304" charset="0"/>
            </a:endParaRPr>
          </a:p>
        </p:txBody>
      </p:sp>
      <p:sp>
        <p:nvSpPr>
          <p:cNvPr id="67" name="TextBox 66"/>
          <p:cNvSpPr txBox="1"/>
          <p:nvPr/>
        </p:nvSpPr>
        <p:spPr>
          <a:xfrm>
            <a:off x="643890" y="2292350"/>
            <a:ext cx="5720715" cy="3784600"/>
          </a:xfrm>
          <a:prstGeom prst="rect">
            <a:avLst/>
          </a:prstGeom>
          <a:noFill/>
        </p:spPr>
        <p:txBody>
          <a:bodyPr wrap="square" rtlCol="0">
            <a:spAutoFit/>
          </a:bodyPr>
          <a:lstStyle/>
          <a:p>
            <a:r>
              <a:rPr lang="vi-VN" altLang="en-US" sz="2000" b="1">
                <a:latin typeface="Times New Roman" panose="02020603050405020304" charset="0"/>
                <a:cs typeface="Times New Roman" panose="02020603050405020304" charset="0"/>
              </a:rPr>
              <a:t>-</a:t>
            </a:r>
            <a:r>
              <a:rPr lang="en-US" altLang="en-US" sz="2000" b="1">
                <a:latin typeface="Times New Roman" panose="02020603050405020304" charset="0"/>
                <a:cs typeface="Times New Roman" panose="02020603050405020304" charset="0"/>
              </a:rPr>
              <a:t>Theo d</a:t>
            </a:r>
            <a:r>
              <a:rPr lang="" altLang="en-US" sz="2000" b="1">
                <a:latin typeface="Times New Roman" panose="02020603050405020304" charset="0"/>
                <a:cs typeface="Times New Roman" panose="02020603050405020304" charset="0"/>
              </a:rPr>
              <a:t>õ</a:t>
            </a:r>
            <a:r>
              <a:rPr lang="en-US" altLang="en-US" sz="2000" b="1">
                <a:latin typeface="Times New Roman" panose="02020603050405020304" charset="0"/>
                <a:cs typeface="Times New Roman" panose="02020603050405020304" charset="0"/>
              </a:rPr>
              <a:t>i giao dịch:</a:t>
            </a:r>
            <a:endParaRPr lang="en-US" altLang="en-US" sz="2000" b="1">
              <a:latin typeface="Times New Roman" panose="02020603050405020304" charset="0"/>
              <a:cs typeface="Times New Roman" panose="02020603050405020304" charset="0"/>
            </a:endParaRPr>
          </a:p>
          <a:p>
            <a:r>
              <a:rPr lang="en-US" altLang="en-US" sz="2000" b="1">
                <a:latin typeface="Times New Roman" panose="02020603050405020304" charset="0"/>
                <a:cs typeface="Times New Roman" panose="02020603050405020304" charset="0"/>
              </a:rPr>
              <a:t>Kiểm tra và quản l</a:t>
            </a:r>
            <a:r>
              <a:rPr lang="" altLang="en-US" sz="2000" b="1">
                <a:latin typeface="Times New Roman" panose="02020603050405020304" charset="0"/>
                <a:cs typeface="Times New Roman" panose="02020603050405020304" charset="0"/>
              </a:rPr>
              <a:t>ý</a:t>
            </a:r>
            <a:r>
              <a:rPr lang="en-US" altLang="en-US" sz="2000" b="1">
                <a:latin typeface="Times New Roman" panose="02020603050405020304" charset="0"/>
                <a:cs typeface="Times New Roman" panose="02020603050405020304" charset="0"/>
              </a:rPr>
              <a:t> tất cả các giao dịch tài chính của khách hàng trong hệ thống.</a:t>
            </a:r>
            <a:endParaRPr lang="en-US" altLang="en-US" sz="2000" b="1">
              <a:latin typeface="Times New Roman" panose="02020603050405020304" charset="0"/>
              <a:cs typeface="Times New Roman" panose="02020603050405020304" charset="0"/>
            </a:endParaRPr>
          </a:p>
          <a:p>
            <a:r>
              <a:rPr lang="en-US" altLang="en-US" sz="2000" b="1">
                <a:latin typeface="Times New Roman" panose="02020603050405020304" charset="0"/>
                <a:cs typeface="Times New Roman" panose="02020603050405020304" charset="0"/>
              </a:rPr>
              <a:t>Phát hiện và xử l</a:t>
            </a:r>
            <a:r>
              <a:rPr lang="" altLang="en-US" sz="2000" b="1">
                <a:latin typeface="Times New Roman" panose="02020603050405020304" charset="0"/>
                <a:cs typeface="Times New Roman" panose="02020603050405020304" charset="0"/>
              </a:rPr>
              <a:t>ý</a:t>
            </a:r>
            <a:r>
              <a:rPr lang="en-US" altLang="en-US" sz="2000" b="1">
                <a:latin typeface="Times New Roman" panose="02020603050405020304" charset="0"/>
                <a:cs typeface="Times New Roman" panose="02020603050405020304" charset="0"/>
              </a:rPr>
              <a:t> các giao dịch bất th</a:t>
            </a:r>
            <a:r>
              <a:rPr lang="" altLang="en-US" sz="2000" b="1">
                <a:latin typeface="Times New Roman" panose="02020603050405020304" charset="0"/>
                <a:cs typeface="Times New Roman" panose="02020603050405020304" charset="0"/>
              </a:rPr>
              <a:t>ư</a:t>
            </a:r>
            <a:r>
              <a:rPr lang="en-US" altLang="en-US" sz="2000" b="1">
                <a:latin typeface="Times New Roman" panose="02020603050405020304" charset="0"/>
                <a:cs typeface="Times New Roman" panose="02020603050405020304" charset="0"/>
              </a:rPr>
              <a:t>ờng hoặc vi phạm chính sách.</a:t>
            </a:r>
            <a:endParaRPr lang="en-US" altLang="en-US" sz="2000" b="1">
              <a:latin typeface="Times New Roman" panose="02020603050405020304" charset="0"/>
              <a:cs typeface="Times New Roman" panose="02020603050405020304" charset="0"/>
            </a:endParaRPr>
          </a:p>
          <a:p>
            <a:r>
              <a:rPr lang="vi-VN" altLang="en-US" sz="2000" b="1">
                <a:latin typeface="Times New Roman" panose="02020603050405020304" charset="0"/>
                <a:cs typeface="Times New Roman" panose="02020603050405020304" charset="0"/>
              </a:rPr>
              <a:t>-</a:t>
            </a:r>
            <a:r>
              <a:rPr lang="en-US" altLang="en-US" sz="2000" b="1">
                <a:latin typeface="Times New Roman" panose="02020603050405020304" charset="0"/>
                <a:cs typeface="Times New Roman" panose="02020603050405020304" charset="0"/>
              </a:rPr>
              <a:t>Xác nhận khoản vay:</a:t>
            </a:r>
            <a:endParaRPr lang="en-US" altLang="en-US" sz="2000" b="1">
              <a:latin typeface="Times New Roman" panose="02020603050405020304" charset="0"/>
              <a:cs typeface="Times New Roman" panose="02020603050405020304" charset="0"/>
            </a:endParaRPr>
          </a:p>
          <a:p>
            <a:r>
              <a:rPr lang="en-US" altLang="en-US" sz="2000" b="1">
                <a:latin typeface="Times New Roman" panose="02020603050405020304" charset="0"/>
                <a:cs typeface="Times New Roman" panose="02020603050405020304" charset="0"/>
              </a:rPr>
              <a:t>Xem xét các yêu cầu vay vốn của khách hàng và </a:t>
            </a:r>
            <a:r>
              <a:rPr lang="" altLang="en-US" sz="2000" b="1">
                <a:latin typeface="Times New Roman" panose="02020603050405020304" charset="0"/>
                <a:cs typeface="Times New Roman" panose="02020603050405020304" charset="0"/>
              </a:rPr>
              <a:t>đư</a:t>
            </a:r>
            <a:r>
              <a:rPr lang="en-US" altLang="en-US" sz="2000" b="1">
                <a:latin typeface="Times New Roman" panose="02020603050405020304" charset="0"/>
                <a:cs typeface="Times New Roman" panose="02020603050405020304" charset="0"/>
              </a:rPr>
              <a:t>a ra quyết </a:t>
            </a:r>
            <a:r>
              <a:rPr lang="" altLang="en-US" sz="2000" b="1">
                <a:latin typeface="Times New Roman" panose="02020603050405020304" charset="0"/>
                <a:cs typeface="Times New Roman" panose="02020603050405020304" charset="0"/>
              </a:rPr>
              <a:t>đ</a:t>
            </a:r>
            <a:r>
              <a:rPr lang="en-US" altLang="en-US" sz="2000" b="1">
                <a:latin typeface="Times New Roman" panose="02020603050405020304" charset="0"/>
                <a:cs typeface="Times New Roman" panose="02020603050405020304" charset="0"/>
              </a:rPr>
              <a:t>ịnh phê duyệt hoặc từ chối.</a:t>
            </a:r>
            <a:endParaRPr lang="en-US" altLang="en-US" sz="2000" b="1">
              <a:latin typeface="Times New Roman" panose="02020603050405020304" charset="0"/>
              <a:cs typeface="Times New Roman" panose="02020603050405020304" charset="0"/>
            </a:endParaRPr>
          </a:p>
          <a:p>
            <a:r>
              <a:rPr lang="vi-VN" altLang="en-US" sz="2000" b="1">
                <a:latin typeface="Times New Roman" panose="02020603050405020304" charset="0"/>
                <a:cs typeface="Times New Roman" panose="02020603050405020304" charset="0"/>
              </a:rPr>
              <a:t>-</a:t>
            </a:r>
            <a:r>
              <a:rPr lang="en-US" altLang="en-US" sz="2000" b="1">
                <a:latin typeface="Times New Roman" panose="02020603050405020304" charset="0"/>
                <a:cs typeface="Times New Roman" panose="02020603050405020304" charset="0"/>
              </a:rPr>
              <a:t>Theo d</a:t>
            </a:r>
            <a:r>
              <a:rPr lang="" altLang="en-US" sz="2000" b="1">
                <a:latin typeface="Times New Roman" panose="02020603050405020304" charset="0"/>
                <a:cs typeface="Times New Roman" panose="02020603050405020304" charset="0"/>
              </a:rPr>
              <a:t>õ</a:t>
            </a:r>
            <a:r>
              <a:rPr lang="en-US" altLang="en-US" sz="2000" b="1">
                <a:latin typeface="Times New Roman" panose="02020603050405020304" charset="0"/>
                <a:cs typeface="Times New Roman" panose="02020603050405020304" charset="0"/>
              </a:rPr>
              <a:t>i tiết kiệm:</a:t>
            </a:r>
            <a:endParaRPr lang="en-US" altLang="en-US" sz="2000" b="1">
              <a:latin typeface="Times New Roman" panose="02020603050405020304" charset="0"/>
              <a:cs typeface="Times New Roman" panose="02020603050405020304" charset="0"/>
            </a:endParaRPr>
          </a:p>
          <a:p>
            <a:r>
              <a:rPr lang="en-US" altLang="en-US" sz="2000" b="1">
                <a:latin typeface="Times New Roman" panose="02020603050405020304" charset="0"/>
                <a:cs typeface="Times New Roman" panose="02020603050405020304" charset="0"/>
              </a:rPr>
              <a:t>Quản l</a:t>
            </a:r>
            <a:r>
              <a:rPr lang="" altLang="en-US" sz="2000" b="1">
                <a:latin typeface="Times New Roman" panose="02020603050405020304" charset="0"/>
                <a:cs typeface="Times New Roman" panose="02020603050405020304" charset="0"/>
              </a:rPr>
              <a:t>ý</a:t>
            </a:r>
            <a:r>
              <a:rPr lang="en-US" altLang="en-US" sz="2000" b="1">
                <a:latin typeface="Times New Roman" panose="02020603050405020304" charset="0"/>
                <a:cs typeface="Times New Roman" panose="02020603050405020304" charset="0"/>
              </a:rPr>
              <a:t> các gói tiết kiệm của khách hàng, cập nhật lãi suất và thông tin tiết kiệm </a:t>
            </a:r>
            <a:r>
              <a:rPr lang="" altLang="en-US" sz="2000" b="1">
                <a:latin typeface="Times New Roman" panose="02020603050405020304" charset="0"/>
                <a:cs typeface="Times New Roman" panose="02020603050405020304" charset="0"/>
              </a:rPr>
              <a:t>đ</a:t>
            </a:r>
            <a:r>
              <a:rPr lang="en-US" altLang="en-US" sz="2000" b="1">
                <a:latin typeface="Times New Roman" panose="02020603050405020304" charset="0"/>
                <a:cs typeface="Times New Roman" panose="02020603050405020304" charset="0"/>
              </a:rPr>
              <a:t>ịnh kỳ.</a:t>
            </a:r>
            <a:endParaRPr lang="en-US" altLang="en-US" sz="2000" b="1">
              <a:latin typeface="Times New Roman" panose="02020603050405020304" charset="0"/>
              <a:cs typeface="Times New Roman" panose="02020603050405020304" charset="0"/>
            </a:endParaRPr>
          </a:p>
          <a:p>
            <a:endParaRPr lang="en-US" altLang="en-US" sz="2000" b="1">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80"/>
                                  </p:iterate>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0" nodeType="withEffect">
                                  <p:stCondLst>
                                    <p:cond delay="0"/>
                                  </p:stCondLst>
                                  <p:iterate type="lt">
                                    <p:tmAbs val="80"/>
                                  </p:iterate>
                                  <p:childTnLst>
                                    <p:set>
                                      <p:cBhvr>
                                        <p:cTn id="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9" name="Rectangle: Folded Corner 28"/>
          <p:cNvSpPr/>
          <p:nvPr/>
        </p:nvSpPr>
        <p:spPr>
          <a:xfrm rot="16200000">
            <a:off x="-5573256" y="783638"/>
            <a:ext cx="4856766" cy="5719726"/>
          </a:xfrm>
          <a:prstGeom prst="foldedCorner">
            <a:avLst>
              <a:gd name="adj" fmla="val 22624"/>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89" name="Rectangle 88"/>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0" name="TextBox 89"/>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91" name="Oval 90"/>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2" name="Oval 91"/>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3" name="Oval 92"/>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94" name="Group 93"/>
          <p:cNvGrpSpPr/>
          <p:nvPr/>
        </p:nvGrpSpPr>
        <p:grpSpPr>
          <a:xfrm>
            <a:off x="3065043" y="346935"/>
            <a:ext cx="6654018" cy="550671"/>
            <a:chOff x="2768991" y="3077691"/>
            <a:chExt cx="6654018" cy="550671"/>
          </a:xfrm>
        </p:grpSpPr>
        <p:sp>
          <p:nvSpPr>
            <p:cNvPr id="95" name="Rectangle: Rounded Corners 94"/>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96" name="Picture 95"/>
            <p:cNvPicPr>
              <a:picLocks noChangeAspect="1"/>
            </p:cNvPicPr>
            <p:nvPr/>
          </p:nvPicPr>
          <p:blipFill>
            <a:blip r:embed="rId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grpSp>
        <p:nvGrpSpPr>
          <p:cNvPr id="99" name="Group 98"/>
          <p:cNvGrpSpPr/>
          <p:nvPr/>
        </p:nvGrpSpPr>
        <p:grpSpPr>
          <a:xfrm rot="5400000" flipV="1">
            <a:off x="-3375115" y="3352257"/>
            <a:ext cx="6858002" cy="153487"/>
            <a:chOff x="-1" y="6732587"/>
            <a:chExt cx="12192000" cy="127731"/>
          </a:xfrm>
        </p:grpSpPr>
        <p:sp>
          <p:nvSpPr>
            <p:cNvPr id="100" name="Rectangle 99"/>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1" name="Rectangle 100"/>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2" name="Rectangle 101"/>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3" name="Rectangle 102"/>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104" name="Picture 103"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sp>
        <p:nvSpPr>
          <p:cNvPr id="7" name="Rectangle: Rounded Corners 6"/>
          <p:cNvSpPr/>
          <p:nvPr/>
        </p:nvSpPr>
        <p:spPr>
          <a:xfrm>
            <a:off x="389996" y="1419078"/>
            <a:ext cx="11554285" cy="5052532"/>
          </a:xfrm>
          <a:prstGeom prst="roundRect">
            <a:avLst>
              <a:gd name="adj" fmla="val 34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 name="Rectangle: Top Corners Rounded 8"/>
          <p:cNvSpPr/>
          <p:nvPr/>
        </p:nvSpPr>
        <p:spPr>
          <a:xfrm>
            <a:off x="389996" y="1415538"/>
            <a:ext cx="11554285" cy="569679"/>
          </a:xfrm>
          <a:prstGeom prst="round2SameRect">
            <a:avLst>
              <a:gd name="adj1" fmla="val 25629"/>
              <a:gd name="adj2" fmla="val 0"/>
            </a:avLst>
          </a:prstGeom>
          <a:solidFill>
            <a:srgbClr val="202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10" name="Rectangle: Rounded Corners 9"/>
          <p:cNvSpPr/>
          <p:nvPr/>
        </p:nvSpPr>
        <p:spPr>
          <a:xfrm>
            <a:off x="743022" y="5849461"/>
            <a:ext cx="1238178" cy="487429"/>
          </a:xfrm>
          <a:prstGeom prst="roundRect">
            <a:avLst>
              <a:gd name="adj" fmla="val 11130"/>
            </a:avLst>
          </a:prstGeom>
          <a:solidFill>
            <a:srgbClr val="1A75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latin typeface="Times New Roman" panose="02020603050405020304" charset="0"/>
                <a:cs typeface="Times New Roman" panose="02020603050405020304" charset="0"/>
              </a:rPr>
              <a:t>Thuyết trình</a:t>
            </a:r>
            <a:endParaRPr lang="en-US" sz="1400">
              <a:latin typeface="Times New Roman" panose="02020603050405020304" charset="0"/>
              <a:cs typeface="Times New Roman" panose="02020603050405020304" charset="0"/>
            </a:endParaRPr>
          </a:p>
        </p:txBody>
      </p:sp>
      <p:pic>
        <p:nvPicPr>
          <p:cNvPr id="12" name="Picture 11"/>
          <p:cNvPicPr>
            <a:picLocks noChangeAspect="1"/>
          </p:cNvPicPr>
          <p:nvPr/>
        </p:nvPicPr>
        <p:blipFill rotWithShape="1">
          <a:blip r:embed="rId5">
            <a:extLst>
              <a:ext uri="{BEBA8EAE-BF5A-486C-A8C5-ECC9F3942E4B}">
                <a14:imgProps xmlns:a14="http://schemas.microsoft.com/office/drawing/2010/main">
                  <a14:imgLayer r:embed="rId6">
                    <a14:imgEffect>
                      <a14:backgroundRemoval t="52882" b="76895" l="66720" r="73269">
                        <a14:backgroundMark x1="70290" y1="63596" x2="70290" y2="63596"/>
                        <a14:backgroundMark x1="71659" y1="63158" x2="71659" y2="63158"/>
                      </a14:backgroundRemoval>
                    </a14:imgEffect>
                  </a14:imgLayer>
                </a14:imgProps>
              </a:ext>
            </a:extLst>
          </a:blip>
          <a:srcRect l="65901" t="49880" r="25912" b="20103"/>
          <a:stretch>
            <a:fillRect/>
          </a:stretch>
        </p:blipFill>
        <p:spPr>
          <a:xfrm>
            <a:off x="10151346" y="1573152"/>
            <a:ext cx="567975" cy="304610"/>
          </a:xfrm>
          <a:prstGeom prst="rect">
            <a:avLst/>
          </a:prstGeom>
        </p:spPr>
      </p:pic>
      <p:pic>
        <p:nvPicPr>
          <p:cNvPr id="62" name="Picture 61"/>
          <p:cNvPicPr>
            <a:picLocks noChangeAspect="1"/>
          </p:cNvPicPr>
          <p:nvPr/>
        </p:nvPicPr>
        <p:blipFill rotWithShape="1">
          <a:blip r:embed="rId7">
            <a:extLst>
              <a:ext uri="{BEBA8EAE-BF5A-486C-A8C5-ECC9F3942E4B}">
                <a14:imgProps xmlns:a14="http://schemas.microsoft.com/office/drawing/2010/main">
                  <a14:imgLayer r:embed="rId6">
                    <a14:imgEffect>
                      <a14:backgroundRemoval t="49171" b="80930" l="4380" r="9220"/>
                    </a14:imgEffect>
                  </a14:imgLayer>
                </a14:imgProps>
              </a:ext>
            </a:extLst>
          </a:blip>
          <a:srcRect l="3775" t="45201" r="90175" b="15100"/>
          <a:stretch>
            <a:fillRect/>
          </a:stretch>
        </p:blipFill>
        <p:spPr>
          <a:xfrm>
            <a:off x="531003" y="1439050"/>
            <a:ext cx="526880" cy="569678"/>
          </a:xfrm>
          <a:prstGeom prst="rect">
            <a:avLst/>
          </a:prstGeom>
        </p:spPr>
      </p:pic>
      <p:pic>
        <p:nvPicPr>
          <p:cNvPr id="63" name="Picture 62"/>
          <p:cNvPicPr>
            <a:picLocks noChangeAspect="1"/>
          </p:cNvPicPr>
          <p:nvPr/>
        </p:nvPicPr>
        <p:blipFill rotWithShape="1">
          <a:blip r:embed="rId8">
            <a:extLst>
              <a:ext uri="{BEBA8EAE-BF5A-486C-A8C5-ECC9F3942E4B}">
                <a14:imgProps xmlns:a14="http://schemas.microsoft.com/office/drawing/2010/main">
                  <a14:imgLayer r:embed="rId6">
                    <a14:imgEffect>
                      <a14:backgroundRemoval t="47442" b="78598" l="77829" r="84606"/>
                    </a14:imgEffect>
                  </a14:imgLayer>
                </a14:imgProps>
              </a:ext>
            </a:extLst>
          </a:blip>
          <a:srcRect l="76982" t="43547" r="14547" b="17508"/>
          <a:stretch>
            <a:fillRect/>
          </a:stretch>
        </p:blipFill>
        <p:spPr>
          <a:xfrm>
            <a:off x="10686422" y="1494919"/>
            <a:ext cx="613355" cy="413075"/>
          </a:xfrm>
          <a:prstGeom prst="rect">
            <a:avLst/>
          </a:prstGeom>
        </p:spPr>
      </p:pic>
      <p:pic>
        <p:nvPicPr>
          <p:cNvPr id="64" name="Picture 63"/>
          <p:cNvPicPr>
            <a:picLocks noChangeAspect="1"/>
          </p:cNvPicPr>
          <p:nvPr/>
        </p:nvPicPr>
        <p:blipFill rotWithShape="1">
          <a:blip r:embed="rId9">
            <a:extLst>
              <a:ext uri="{BEBA8EAE-BF5A-486C-A8C5-ECC9F3942E4B}">
                <a14:imgProps xmlns:a14="http://schemas.microsoft.com/office/drawing/2010/main">
                  <a14:imgLayer r:embed="rId6">
                    <a14:imgEffect>
                      <a14:backgroundRemoval t="50439" b="75877" l="90660" r="98792">
                        <a14:foregroundMark x1="93639" y1="62281" x2="93639" y2="62281"/>
                        <a14:foregroundMark x1="94767" y1="64474" x2="94767" y2="64474"/>
                        <a14:foregroundMark x1="98792" y1="55263" x2="98792" y2="55263"/>
                        <a14:foregroundMark x1="91546" y1="63158" x2="91546" y2="63158"/>
                      </a14:backgroundRemoval>
                    </a14:imgEffect>
                  </a14:imgLayer>
                </a14:imgProps>
              </a:ext>
            </a:extLst>
          </a:blip>
          <a:srcRect l="90059" t="47630" r="3836" b="20915"/>
          <a:stretch>
            <a:fillRect/>
          </a:stretch>
        </p:blipFill>
        <p:spPr>
          <a:xfrm>
            <a:off x="11214127" y="1494951"/>
            <a:ext cx="637747" cy="403957"/>
          </a:xfrm>
          <a:prstGeom prst="rect">
            <a:avLst/>
          </a:prstGeom>
        </p:spPr>
      </p:pic>
      <p:sp>
        <p:nvSpPr>
          <p:cNvPr id="13" name="TextBox 12"/>
          <p:cNvSpPr txBox="1"/>
          <p:nvPr/>
        </p:nvSpPr>
        <p:spPr>
          <a:xfrm>
            <a:off x="963282" y="1502814"/>
            <a:ext cx="3967800" cy="368300"/>
          </a:xfrm>
          <a:prstGeom prst="rect">
            <a:avLst/>
          </a:prstGeom>
          <a:noFill/>
        </p:spPr>
        <p:txBody>
          <a:bodyPr wrap="square" rtlCol="0">
            <a:spAutoFit/>
          </a:bodyPr>
          <a:lstStyle/>
          <a:p>
            <a:r>
              <a:rPr lang="vi-VN" altLang="en-PH">
                <a:solidFill>
                  <a:schemeClr val="bg1"/>
                </a:solidFill>
                <a:latin typeface="Times New Roman" panose="02020603050405020304" charset="0"/>
                <a:cs typeface="Times New Roman" panose="02020603050405020304" charset="0"/>
                <a:sym typeface="+mn-ea"/>
              </a:rPr>
              <a:t>Quản trị viên</a:t>
            </a:r>
            <a:endParaRPr lang="vi-VN" altLang="en-PH">
              <a:solidFill>
                <a:schemeClr val="bg1"/>
              </a:solidFill>
              <a:latin typeface="Times New Roman" panose="02020603050405020304" charset="0"/>
              <a:cs typeface="Times New Roman" panose="02020603050405020304" charset="0"/>
              <a:sym typeface="+mn-ea"/>
            </a:endParaRPr>
          </a:p>
        </p:txBody>
      </p:sp>
      <p:sp>
        <p:nvSpPr>
          <p:cNvPr id="65" name="Oval 64"/>
          <p:cNvSpPr/>
          <p:nvPr/>
        </p:nvSpPr>
        <p:spPr>
          <a:xfrm>
            <a:off x="498106" y="2092464"/>
            <a:ext cx="559777" cy="530368"/>
          </a:xfrm>
          <a:prstGeom prst="ellipse">
            <a:avLst/>
          </a:prstGeom>
          <a:blipFill dpi="0" rotWithShape="1">
            <a:blip r:embed="rId10">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35" name="TextBox 34"/>
          <p:cNvSpPr txBox="1"/>
          <p:nvPr/>
        </p:nvSpPr>
        <p:spPr>
          <a:xfrm>
            <a:off x="963282" y="2048981"/>
            <a:ext cx="2745580" cy="645160"/>
          </a:xfrm>
          <a:prstGeom prst="rect">
            <a:avLst/>
          </a:prstGeom>
          <a:noFill/>
          <a:ln>
            <a:noFill/>
          </a:ln>
        </p:spPr>
        <p:txBody>
          <a:bodyPr wrap="square" rtlCol="0">
            <a:spAutoFit/>
          </a:bodyPr>
          <a:lstStyle/>
          <a:p>
            <a:pPr algn="ctr"/>
            <a:r>
              <a:rPr lang="vi-VN" altLang="en-PH" sz="3600">
                <a:solidFill>
                  <a:schemeClr val="tx1"/>
                </a:solidFill>
                <a:latin typeface="Times New Roman" panose="02020603050405020304" charset="0"/>
                <a:cs typeface="Times New Roman" panose="02020603050405020304" charset="0"/>
                <a:sym typeface="+mn-ea"/>
              </a:rPr>
              <a:t>Quản trị viên</a:t>
            </a:r>
            <a:endParaRPr lang="vi-VN" altLang="en-PH" sz="3600" b="1" dirty="0">
              <a:solidFill>
                <a:schemeClr val="tx1"/>
              </a:solidFill>
              <a:latin typeface="Times New Roman" panose="02020603050405020304" charset="0"/>
              <a:cs typeface="Times New Roman" panose="02020603050405020304" charset="0"/>
              <a:sym typeface="+mn-ea"/>
            </a:endParaRPr>
          </a:p>
        </p:txBody>
      </p:sp>
      <p:pic>
        <p:nvPicPr>
          <p:cNvPr id="39" name="Picture 38"/>
          <p:cNvPicPr>
            <a:picLocks noChangeAspect="1"/>
          </p:cNvPicPr>
          <p:nvPr/>
        </p:nvPicPr>
        <p:blipFill>
          <a:blip r:embed="rId11">
            <a:duotone>
              <a:prstClr val="black"/>
              <a:schemeClr val="bg1">
                <a:tint val="45000"/>
                <a:satMod val="400000"/>
              </a:schemeClr>
            </a:duotone>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096000" y="-1461366"/>
            <a:ext cx="1741533" cy="1088458"/>
          </a:xfrm>
          <a:prstGeom prst="rect">
            <a:avLst/>
          </a:prstGeom>
        </p:spPr>
      </p:pic>
      <p:pic>
        <p:nvPicPr>
          <p:cNvPr id="40" name="Picture 39"/>
          <p:cNvPicPr>
            <a:picLocks noChangeAspect="1"/>
          </p:cNvPicPr>
          <p:nvPr/>
        </p:nvPicPr>
        <p:blipFill>
          <a:blip r:embed="rId11">
            <a:duotone>
              <a:prstClr val="black"/>
              <a:schemeClr val="bg1">
                <a:tint val="45000"/>
                <a:satMod val="400000"/>
              </a:schemeClr>
            </a:duotone>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10662235" y="7094241"/>
            <a:ext cx="1741533" cy="1088458"/>
          </a:xfrm>
          <a:prstGeom prst="rect">
            <a:avLst/>
          </a:prstGeom>
        </p:spPr>
      </p:pic>
      <p:sp>
        <p:nvSpPr>
          <p:cNvPr id="41" name="Oval 40"/>
          <p:cNvSpPr/>
          <p:nvPr/>
        </p:nvSpPr>
        <p:spPr>
          <a:xfrm>
            <a:off x="1385774" y="7671600"/>
            <a:ext cx="559777" cy="530368"/>
          </a:xfrm>
          <a:prstGeom prst="ellipse">
            <a:avLst/>
          </a:prstGeom>
          <a:blipFill dpi="0" rotWithShape="1">
            <a:blip r:embed="rId10">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2" name="Oval 41"/>
          <p:cNvSpPr/>
          <p:nvPr/>
        </p:nvSpPr>
        <p:spPr>
          <a:xfrm>
            <a:off x="2166327" y="7671600"/>
            <a:ext cx="559777" cy="533110"/>
          </a:xfrm>
          <a:prstGeom prst="ellipse">
            <a:avLst/>
          </a:prstGeom>
          <a:blipFill dpi="0" rotWithShape="1">
            <a:blip r:embed="rId10">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7" name="Oval 46"/>
          <p:cNvSpPr/>
          <p:nvPr/>
        </p:nvSpPr>
        <p:spPr>
          <a:xfrm>
            <a:off x="605221" y="7671600"/>
            <a:ext cx="559777" cy="530368"/>
          </a:xfrm>
          <a:prstGeom prst="ellipse">
            <a:avLst/>
          </a:prstGeom>
          <a:blipFill dpi="0" rotWithShape="1">
            <a:blip r:embed="rId10">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2" name="TextBox 51"/>
          <p:cNvSpPr txBox="1"/>
          <p:nvPr/>
        </p:nvSpPr>
        <p:spPr>
          <a:xfrm>
            <a:off x="433705" y="2771775"/>
            <a:ext cx="11457940" cy="2676525"/>
          </a:xfrm>
          <a:prstGeom prst="rect">
            <a:avLst/>
          </a:prstGeom>
          <a:noFill/>
        </p:spPr>
        <p:txBody>
          <a:bodyPr wrap="square" rtlCol="0">
            <a:spAutoFit/>
          </a:bodyPr>
          <a:lstStyle/>
          <a:p>
            <a:r>
              <a:rPr lang="vi-VN" altLang="en-US" sz="2800">
                <a:latin typeface="Times New Roman" panose="02020603050405020304" charset="0"/>
                <a:cs typeface="Times New Roman" panose="02020603050405020304" charset="0"/>
                <a:sym typeface="+mn-ea"/>
              </a:rPr>
              <a:t>-</a:t>
            </a:r>
            <a:r>
              <a:rPr lang="en-US" altLang="en-US" sz="2800">
                <a:latin typeface="Times New Roman" panose="02020603050405020304" charset="0"/>
                <a:cs typeface="Times New Roman" panose="02020603050405020304" charset="0"/>
                <a:sym typeface="+mn-ea"/>
              </a:rPr>
              <a:t>Xem thông tin tài khoản người dùng:</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 +</a:t>
            </a:r>
            <a:r>
              <a:rPr lang="en-US" altLang="en-US" sz="2800">
                <a:latin typeface="Times New Roman" panose="02020603050405020304" charset="0"/>
                <a:cs typeface="Times New Roman" panose="02020603050405020304" charset="0"/>
                <a:sym typeface="+mn-ea"/>
              </a:rPr>
              <a:t>Quản trị viên có thể truy cập và xem thông tin chi tiết của tài khoản người dùng, bao gồm thông tin cá nhân, số dư tài khoản, lịch sử giao dịch, và các yêu cầu vay vốn.</a:t>
            </a:r>
            <a:endParaRPr lang="en-US" altLang="en-US" sz="2800">
              <a:latin typeface="Times New Roman" panose="02020603050405020304" charset="0"/>
              <a:cs typeface="Times New Roman" panose="02020603050405020304" charset="0"/>
            </a:endParaRPr>
          </a:p>
          <a:p>
            <a:r>
              <a:rPr lang="vi-VN" altLang="en-US" sz="2800">
                <a:latin typeface="Times New Roman" panose="02020603050405020304" charset="0"/>
                <a:cs typeface="Times New Roman" panose="02020603050405020304" charset="0"/>
                <a:sym typeface="+mn-ea"/>
              </a:rPr>
              <a:t> +</a:t>
            </a:r>
            <a:r>
              <a:rPr lang="en-US" altLang="en-US" sz="2800">
                <a:latin typeface="Times New Roman" panose="02020603050405020304" charset="0"/>
                <a:cs typeface="Times New Roman" panose="02020603050405020304" charset="0"/>
                <a:sym typeface="+mn-ea"/>
              </a:rPr>
              <a:t>Điều này giúp admin quản lý và giám sát hiệu quả các hoạt động của khách hàng, đồng thời xử lý các vấn đề phát sinh nhanh chóng.</a:t>
            </a:r>
            <a:endParaRPr lang="vi-VN" sz="2800">
              <a:latin typeface="SVN-Product Sans" panose="020B0403030502040203" pitchFamily="34" charset="0"/>
            </a:endParaRPr>
          </a:p>
        </p:txBody>
      </p:sp>
      <p:sp>
        <p:nvSpPr>
          <p:cNvPr id="53" name="Rectangle: Folded Corner 52"/>
          <p:cNvSpPr/>
          <p:nvPr/>
        </p:nvSpPr>
        <p:spPr>
          <a:xfrm>
            <a:off x="12634218" y="4728714"/>
            <a:ext cx="4893734" cy="711200"/>
          </a:xfrm>
          <a:prstGeom prst="foldedCorner">
            <a:avLst>
              <a:gd name="adj" fmla="val 47619"/>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54" name="TextBox 53"/>
          <p:cNvSpPr txBox="1"/>
          <p:nvPr/>
        </p:nvSpPr>
        <p:spPr>
          <a:xfrm>
            <a:off x="12853321" y="487812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4</a:t>
            </a:r>
            <a:endParaRPr lang="en-PH" sz="2000" dirty="0">
              <a:solidFill>
                <a:schemeClr val="bg1"/>
              </a:solidFill>
              <a:latin typeface="Times New Roman" panose="02020603050405020304" charset="0"/>
              <a:cs typeface="Times New Roman" panose="02020603050405020304" charset="0"/>
            </a:endParaRPr>
          </a:p>
        </p:txBody>
      </p:sp>
      <p:pic>
        <p:nvPicPr>
          <p:cNvPr id="55" name="Graphic 54" descr="Director's Chair with solid fill"/>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04661" y="7479584"/>
            <a:ext cx="914400" cy="914400"/>
          </a:xfrm>
          <a:prstGeom prst="rect">
            <a:avLst/>
          </a:prstGeom>
        </p:spPr>
      </p:pic>
      <p:pic>
        <p:nvPicPr>
          <p:cNvPr id="56" name="Graphic 55" descr="DVD player with solid fill"/>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761463" y="7181270"/>
            <a:ext cx="914400" cy="914400"/>
          </a:xfrm>
          <a:prstGeom prst="rect">
            <a:avLst/>
          </a:prstGeom>
        </p:spPr>
      </p:pic>
      <p:pic>
        <p:nvPicPr>
          <p:cNvPr id="57" name="Graphic 56" descr="3d Glasses with solid fill"/>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35126" y="-1701270"/>
            <a:ext cx="914400" cy="914400"/>
          </a:xfrm>
          <a:prstGeom prst="rect">
            <a:avLst/>
          </a:prstGeom>
        </p:spPr>
      </p:pic>
      <p:pic>
        <p:nvPicPr>
          <p:cNvPr id="58" name="Graphic 57" descr="Film reel with solid fill"/>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129867" y="3765737"/>
            <a:ext cx="914400" cy="914400"/>
          </a:xfrm>
          <a:prstGeom prst="rect">
            <a:avLst/>
          </a:prstGeom>
        </p:spPr>
      </p:pic>
      <p:pic>
        <p:nvPicPr>
          <p:cNvPr id="59" name="Graphic 58" descr="Optical disc with solid fill"/>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967174" y="7067459"/>
            <a:ext cx="914400" cy="914400"/>
          </a:xfrm>
          <a:prstGeom prst="rect">
            <a:avLst/>
          </a:prstGeom>
        </p:spPr>
      </p:pic>
      <p:pic>
        <p:nvPicPr>
          <p:cNvPr id="60" name="Graphic 59" descr="Film strip with solid fill"/>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19220354">
            <a:off x="2436704" y="-1669690"/>
            <a:ext cx="914400" cy="1062148"/>
          </a:xfrm>
          <a:prstGeom prst="rect">
            <a:avLst/>
          </a:prstGeom>
        </p:spPr>
      </p:pic>
      <p:pic>
        <p:nvPicPr>
          <p:cNvPr id="61" name="Graphic 60" descr="Theatre with solid fill"/>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4044267" y="-674630"/>
            <a:ext cx="914400" cy="914400"/>
          </a:xfrm>
          <a:prstGeom prst="rect">
            <a:avLst/>
          </a:prstGeom>
        </p:spPr>
      </p:pic>
      <p:pic>
        <p:nvPicPr>
          <p:cNvPr id="66" name="Graphic 65" descr="Drama with solid fill"/>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613130" y="343411"/>
            <a:ext cx="914400" cy="914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80"/>
                                  </p:iterate>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9" name="Rectangle: Folded Corner 28"/>
          <p:cNvSpPr/>
          <p:nvPr/>
        </p:nvSpPr>
        <p:spPr>
          <a:xfrm rot="16200000">
            <a:off x="-5573256" y="783638"/>
            <a:ext cx="4856766" cy="5719726"/>
          </a:xfrm>
          <a:prstGeom prst="foldedCorner">
            <a:avLst>
              <a:gd name="adj" fmla="val 22624"/>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89" name="Rectangle 88"/>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0" name="TextBox 89"/>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91" name="Oval 90"/>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2" name="Oval 91"/>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3" name="Oval 92"/>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94" name="Group 93"/>
          <p:cNvGrpSpPr/>
          <p:nvPr/>
        </p:nvGrpSpPr>
        <p:grpSpPr>
          <a:xfrm>
            <a:off x="3065043" y="346935"/>
            <a:ext cx="6654018" cy="550671"/>
            <a:chOff x="2768991" y="3077691"/>
            <a:chExt cx="6654018" cy="550671"/>
          </a:xfrm>
        </p:grpSpPr>
        <p:sp>
          <p:nvSpPr>
            <p:cNvPr id="95" name="Rectangle: Rounded Corners 94"/>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96" name="Picture 95"/>
            <p:cNvPicPr>
              <a:picLocks noChangeAspect="1"/>
            </p:cNvPicPr>
            <p:nvPr/>
          </p:nvPicPr>
          <p:blipFill>
            <a:blip r:embed="rId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grpSp>
        <p:nvGrpSpPr>
          <p:cNvPr id="99" name="Group 98"/>
          <p:cNvGrpSpPr/>
          <p:nvPr/>
        </p:nvGrpSpPr>
        <p:grpSpPr>
          <a:xfrm rot="5400000" flipV="1">
            <a:off x="-3375115" y="3352257"/>
            <a:ext cx="6858002" cy="153487"/>
            <a:chOff x="-1" y="6732587"/>
            <a:chExt cx="12192000" cy="127731"/>
          </a:xfrm>
        </p:grpSpPr>
        <p:sp>
          <p:nvSpPr>
            <p:cNvPr id="100" name="Rectangle 99"/>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1" name="Rectangle 100"/>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2" name="Rectangle 101"/>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3" name="Rectangle 102"/>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104" name="Picture 103"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sp>
        <p:nvSpPr>
          <p:cNvPr id="7" name="Rectangle: Rounded Corners 6"/>
          <p:cNvSpPr/>
          <p:nvPr/>
        </p:nvSpPr>
        <p:spPr>
          <a:xfrm>
            <a:off x="389996" y="1419078"/>
            <a:ext cx="11554285" cy="5052532"/>
          </a:xfrm>
          <a:prstGeom prst="roundRect">
            <a:avLst>
              <a:gd name="adj" fmla="val 34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 name="Rectangle: Top Corners Rounded 8"/>
          <p:cNvSpPr/>
          <p:nvPr/>
        </p:nvSpPr>
        <p:spPr>
          <a:xfrm>
            <a:off x="389996" y="1415538"/>
            <a:ext cx="11554285" cy="569679"/>
          </a:xfrm>
          <a:prstGeom prst="round2SameRect">
            <a:avLst>
              <a:gd name="adj1" fmla="val 25629"/>
              <a:gd name="adj2" fmla="val 0"/>
            </a:avLst>
          </a:prstGeom>
          <a:solidFill>
            <a:srgbClr val="202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10" name="Rectangle: Rounded Corners 9"/>
          <p:cNvSpPr/>
          <p:nvPr/>
        </p:nvSpPr>
        <p:spPr>
          <a:xfrm>
            <a:off x="743022" y="5849461"/>
            <a:ext cx="1238178" cy="487429"/>
          </a:xfrm>
          <a:prstGeom prst="roundRect">
            <a:avLst>
              <a:gd name="adj" fmla="val 11130"/>
            </a:avLst>
          </a:prstGeom>
          <a:solidFill>
            <a:srgbClr val="1A75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latin typeface="Times New Roman" panose="02020603050405020304" charset="0"/>
                <a:cs typeface="Times New Roman" panose="02020603050405020304" charset="0"/>
              </a:rPr>
              <a:t>Thuyết trình</a:t>
            </a:r>
            <a:endParaRPr lang="en-US" sz="1400">
              <a:latin typeface="Times New Roman" panose="02020603050405020304" charset="0"/>
              <a:cs typeface="Times New Roman" panose="02020603050405020304" charset="0"/>
            </a:endParaRPr>
          </a:p>
        </p:txBody>
      </p:sp>
      <p:pic>
        <p:nvPicPr>
          <p:cNvPr id="12" name="Picture 11"/>
          <p:cNvPicPr>
            <a:picLocks noChangeAspect="1"/>
          </p:cNvPicPr>
          <p:nvPr/>
        </p:nvPicPr>
        <p:blipFill rotWithShape="1">
          <a:blip r:embed="rId5">
            <a:extLst>
              <a:ext uri="{BEBA8EAE-BF5A-486C-A8C5-ECC9F3942E4B}">
                <a14:imgProps xmlns:a14="http://schemas.microsoft.com/office/drawing/2010/main">
                  <a14:imgLayer r:embed="rId6">
                    <a14:imgEffect>
                      <a14:backgroundRemoval t="52882" b="76895" l="66720" r="73269">
                        <a14:backgroundMark x1="70290" y1="63596" x2="70290" y2="63596"/>
                        <a14:backgroundMark x1="71659" y1="63158" x2="71659" y2="63158"/>
                      </a14:backgroundRemoval>
                    </a14:imgEffect>
                  </a14:imgLayer>
                </a14:imgProps>
              </a:ext>
            </a:extLst>
          </a:blip>
          <a:srcRect l="65901" t="49880" r="25912" b="20103"/>
          <a:stretch>
            <a:fillRect/>
          </a:stretch>
        </p:blipFill>
        <p:spPr>
          <a:xfrm>
            <a:off x="10151346" y="1573152"/>
            <a:ext cx="567975" cy="304610"/>
          </a:xfrm>
          <a:prstGeom prst="rect">
            <a:avLst/>
          </a:prstGeom>
        </p:spPr>
      </p:pic>
      <p:pic>
        <p:nvPicPr>
          <p:cNvPr id="62" name="Picture 61"/>
          <p:cNvPicPr>
            <a:picLocks noChangeAspect="1"/>
          </p:cNvPicPr>
          <p:nvPr/>
        </p:nvPicPr>
        <p:blipFill rotWithShape="1">
          <a:blip r:embed="rId7">
            <a:extLst>
              <a:ext uri="{BEBA8EAE-BF5A-486C-A8C5-ECC9F3942E4B}">
                <a14:imgProps xmlns:a14="http://schemas.microsoft.com/office/drawing/2010/main">
                  <a14:imgLayer r:embed="rId6">
                    <a14:imgEffect>
                      <a14:backgroundRemoval t="49171" b="80930" l="4380" r="9220"/>
                    </a14:imgEffect>
                  </a14:imgLayer>
                </a14:imgProps>
              </a:ext>
            </a:extLst>
          </a:blip>
          <a:srcRect l="3775" t="45201" r="90175" b="15100"/>
          <a:stretch>
            <a:fillRect/>
          </a:stretch>
        </p:blipFill>
        <p:spPr>
          <a:xfrm>
            <a:off x="531003" y="1439050"/>
            <a:ext cx="526880" cy="569678"/>
          </a:xfrm>
          <a:prstGeom prst="rect">
            <a:avLst/>
          </a:prstGeom>
        </p:spPr>
      </p:pic>
      <p:pic>
        <p:nvPicPr>
          <p:cNvPr id="63" name="Picture 62"/>
          <p:cNvPicPr>
            <a:picLocks noChangeAspect="1"/>
          </p:cNvPicPr>
          <p:nvPr/>
        </p:nvPicPr>
        <p:blipFill rotWithShape="1">
          <a:blip r:embed="rId8">
            <a:extLst>
              <a:ext uri="{BEBA8EAE-BF5A-486C-A8C5-ECC9F3942E4B}">
                <a14:imgProps xmlns:a14="http://schemas.microsoft.com/office/drawing/2010/main">
                  <a14:imgLayer r:embed="rId6">
                    <a14:imgEffect>
                      <a14:backgroundRemoval t="47442" b="78598" l="77829" r="84606"/>
                    </a14:imgEffect>
                  </a14:imgLayer>
                </a14:imgProps>
              </a:ext>
            </a:extLst>
          </a:blip>
          <a:srcRect l="76982" t="43547" r="14547" b="17508"/>
          <a:stretch>
            <a:fillRect/>
          </a:stretch>
        </p:blipFill>
        <p:spPr>
          <a:xfrm>
            <a:off x="10686422" y="1494919"/>
            <a:ext cx="613355" cy="413075"/>
          </a:xfrm>
          <a:prstGeom prst="rect">
            <a:avLst/>
          </a:prstGeom>
        </p:spPr>
      </p:pic>
      <p:pic>
        <p:nvPicPr>
          <p:cNvPr id="64" name="Picture 63"/>
          <p:cNvPicPr>
            <a:picLocks noChangeAspect="1"/>
          </p:cNvPicPr>
          <p:nvPr/>
        </p:nvPicPr>
        <p:blipFill rotWithShape="1">
          <a:blip r:embed="rId9">
            <a:extLst>
              <a:ext uri="{BEBA8EAE-BF5A-486C-A8C5-ECC9F3942E4B}">
                <a14:imgProps xmlns:a14="http://schemas.microsoft.com/office/drawing/2010/main">
                  <a14:imgLayer r:embed="rId6">
                    <a14:imgEffect>
                      <a14:backgroundRemoval t="50439" b="75877" l="90660" r="98792">
                        <a14:foregroundMark x1="93639" y1="62281" x2="93639" y2="62281"/>
                        <a14:foregroundMark x1="94767" y1="64474" x2="94767" y2="64474"/>
                        <a14:foregroundMark x1="98792" y1="55263" x2="98792" y2="55263"/>
                        <a14:foregroundMark x1="91546" y1="63158" x2="91546" y2="63158"/>
                      </a14:backgroundRemoval>
                    </a14:imgEffect>
                  </a14:imgLayer>
                </a14:imgProps>
              </a:ext>
            </a:extLst>
          </a:blip>
          <a:srcRect l="90059" t="47630" r="3836" b="20915"/>
          <a:stretch>
            <a:fillRect/>
          </a:stretch>
        </p:blipFill>
        <p:spPr>
          <a:xfrm>
            <a:off x="11214127" y="1494951"/>
            <a:ext cx="637747" cy="403957"/>
          </a:xfrm>
          <a:prstGeom prst="rect">
            <a:avLst/>
          </a:prstGeom>
        </p:spPr>
      </p:pic>
      <p:sp>
        <p:nvSpPr>
          <p:cNvPr id="13" name="TextBox 12"/>
          <p:cNvSpPr txBox="1"/>
          <p:nvPr/>
        </p:nvSpPr>
        <p:spPr>
          <a:xfrm>
            <a:off x="963282" y="1502814"/>
            <a:ext cx="3967800" cy="368300"/>
          </a:xfrm>
          <a:prstGeom prst="rect">
            <a:avLst/>
          </a:prstGeom>
          <a:noFill/>
        </p:spPr>
        <p:txBody>
          <a:bodyPr wrap="square" rtlCol="0">
            <a:spAutoFit/>
          </a:bodyPr>
          <a:lstStyle/>
          <a:p>
            <a:r>
              <a:rPr lang="vi-VN" altLang="en-PH">
                <a:solidFill>
                  <a:schemeClr val="bg1"/>
                </a:solidFill>
                <a:latin typeface="Times New Roman" panose="02020603050405020304" charset="0"/>
                <a:cs typeface="Times New Roman" panose="02020603050405020304" charset="0"/>
                <a:sym typeface="+mn-ea"/>
              </a:rPr>
              <a:t>Quản trị viên</a:t>
            </a:r>
            <a:endParaRPr lang="vi-VN" altLang="en-PH">
              <a:solidFill>
                <a:schemeClr val="bg1"/>
              </a:solidFill>
              <a:latin typeface="Times New Roman" panose="02020603050405020304" charset="0"/>
              <a:cs typeface="Times New Roman" panose="02020603050405020304" charset="0"/>
              <a:sym typeface="+mn-ea"/>
            </a:endParaRPr>
          </a:p>
        </p:txBody>
      </p:sp>
      <p:sp>
        <p:nvSpPr>
          <p:cNvPr id="65" name="Oval 64"/>
          <p:cNvSpPr/>
          <p:nvPr/>
        </p:nvSpPr>
        <p:spPr>
          <a:xfrm>
            <a:off x="498106" y="2092464"/>
            <a:ext cx="559777" cy="530368"/>
          </a:xfrm>
          <a:prstGeom prst="ellipse">
            <a:avLst/>
          </a:prstGeom>
          <a:blipFill dpi="0" rotWithShape="1">
            <a:blip r:embed="rId10">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35" name="TextBox 34"/>
          <p:cNvSpPr txBox="1"/>
          <p:nvPr/>
        </p:nvSpPr>
        <p:spPr>
          <a:xfrm>
            <a:off x="963282" y="2048981"/>
            <a:ext cx="2745580" cy="645160"/>
          </a:xfrm>
          <a:prstGeom prst="rect">
            <a:avLst/>
          </a:prstGeom>
          <a:noFill/>
          <a:ln>
            <a:noFill/>
          </a:ln>
        </p:spPr>
        <p:txBody>
          <a:bodyPr wrap="square" rtlCol="0">
            <a:spAutoFit/>
          </a:bodyPr>
          <a:lstStyle/>
          <a:p>
            <a:pPr algn="ctr"/>
            <a:r>
              <a:rPr lang="vi-VN" altLang="en-PH" sz="3600">
                <a:solidFill>
                  <a:schemeClr val="tx1"/>
                </a:solidFill>
                <a:latin typeface="Times New Roman" panose="02020603050405020304" charset="0"/>
                <a:cs typeface="Times New Roman" panose="02020603050405020304" charset="0"/>
                <a:sym typeface="+mn-ea"/>
              </a:rPr>
              <a:t>Quản trị viên</a:t>
            </a:r>
            <a:endParaRPr lang="vi-VN" altLang="en-PH" sz="3600" b="1" dirty="0">
              <a:solidFill>
                <a:schemeClr val="tx1"/>
              </a:solidFill>
              <a:latin typeface="Times New Roman" panose="02020603050405020304" charset="0"/>
              <a:cs typeface="Times New Roman" panose="02020603050405020304" charset="0"/>
              <a:sym typeface="+mn-ea"/>
            </a:endParaRPr>
          </a:p>
        </p:txBody>
      </p:sp>
      <p:pic>
        <p:nvPicPr>
          <p:cNvPr id="39" name="Picture 38"/>
          <p:cNvPicPr>
            <a:picLocks noChangeAspect="1"/>
          </p:cNvPicPr>
          <p:nvPr/>
        </p:nvPicPr>
        <p:blipFill>
          <a:blip r:embed="rId11">
            <a:duotone>
              <a:prstClr val="black"/>
              <a:schemeClr val="bg1">
                <a:tint val="45000"/>
                <a:satMod val="400000"/>
              </a:schemeClr>
            </a:duotone>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096000" y="-1461366"/>
            <a:ext cx="1741533" cy="1088458"/>
          </a:xfrm>
          <a:prstGeom prst="rect">
            <a:avLst/>
          </a:prstGeom>
        </p:spPr>
      </p:pic>
      <p:pic>
        <p:nvPicPr>
          <p:cNvPr id="40" name="Picture 39"/>
          <p:cNvPicPr>
            <a:picLocks noChangeAspect="1"/>
          </p:cNvPicPr>
          <p:nvPr/>
        </p:nvPicPr>
        <p:blipFill>
          <a:blip r:embed="rId11">
            <a:duotone>
              <a:prstClr val="black"/>
              <a:schemeClr val="bg1">
                <a:tint val="45000"/>
                <a:satMod val="400000"/>
              </a:schemeClr>
            </a:duotone>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10662235" y="7094241"/>
            <a:ext cx="1741533" cy="1088458"/>
          </a:xfrm>
          <a:prstGeom prst="rect">
            <a:avLst/>
          </a:prstGeom>
        </p:spPr>
      </p:pic>
      <p:sp>
        <p:nvSpPr>
          <p:cNvPr id="41" name="Oval 40"/>
          <p:cNvSpPr/>
          <p:nvPr/>
        </p:nvSpPr>
        <p:spPr>
          <a:xfrm>
            <a:off x="1385774" y="7671600"/>
            <a:ext cx="559777" cy="530368"/>
          </a:xfrm>
          <a:prstGeom prst="ellipse">
            <a:avLst/>
          </a:prstGeom>
          <a:blipFill dpi="0" rotWithShape="1">
            <a:blip r:embed="rId10">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2" name="Oval 41"/>
          <p:cNvSpPr/>
          <p:nvPr/>
        </p:nvSpPr>
        <p:spPr>
          <a:xfrm>
            <a:off x="2166327" y="7671600"/>
            <a:ext cx="559777" cy="533110"/>
          </a:xfrm>
          <a:prstGeom prst="ellipse">
            <a:avLst/>
          </a:prstGeom>
          <a:blipFill dpi="0" rotWithShape="1">
            <a:blip r:embed="rId10">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7" name="Oval 46"/>
          <p:cNvSpPr/>
          <p:nvPr/>
        </p:nvSpPr>
        <p:spPr>
          <a:xfrm>
            <a:off x="605221" y="7671600"/>
            <a:ext cx="559777" cy="530368"/>
          </a:xfrm>
          <a:prstGeom prst="ellipse">
            <a:avLst/>
          </a:prstGeom>
          <a:blipFill dpi="0" rotWithShape="1">
            <a:blip r:embed="rId10">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3" name="Rectangle: Folded Corner 52"/>
          <p:cNvSpPr/>
          <p:nvPr/>
        </p:nvSpPr>
        <p:spPr>
          <a:xfrm>
            <a:off x="12634218" y="4728714"/>
            <a:ext cx="4893734" cy="711200"/>
          </a:xfrm>
          <a:prstGeom prst="foldedCorner">
            <a:avLst>
              <a:gd name="adj" fmla="val 47619"/>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54" name="TextBox 53"/>
          <p:cNvSpPr txBox="1"/>
          <p:nvPr/>
        </p:nvSpPr>
        <p:spPr>
          <a:xfrm>
            <a:off x="12853321" y="4878127"/>
            <a:ext cx="3606800" cy="400110"/>
          </a:xfrm>
          <a:prstGeom prst="rect">
            <a:avLst/>
          </a:prstGeom>
          <a:noFill/>
        </p:spPr>
        <p:txBody>
          <a:bodyPr wrap="square" rtlCol="0">
            <a:spAutoFit/>
          </a:bodyPr>
          <a:lstStyle/>
          <a:p>
            <a:r>
              <a:rPr lang="en-PH" sz="2000">
                <a:solidFill>
                  <a:schemeClr val="bg1"/>
                </a:solidFill>
                <a:latin typeface="Times New Roman" panose="02020603050405020304" charset="0"/>
                <a:cs typeface="Times New Roman" panose="02020603050405020304" charset="0"/>
              </a:rPr>
              <a:t>Nội dung 4</a:t>
            </a:r>
            <a:endParaRPr lang="en-PH" sz="2000" dirty="0">
              <a:solidFill>
                <a:schemeClr val="bg1"/>
              </a:solidFill>
              <a:latin typeface="Times New Roman" panose="02020603050405020304" charset="0"/>
              <a:cs typeface="Times New Roman" panose="02020603050405020304" charset="0"/>
            </a:endParaRPr>
          </a:p>
        </p:txBody>
      </p:sp>
      <p:pic>
        <p:nvPicPr>
          <p:cNvPr id="55" name="Graphic 54" descr="Director's Chair with solid fill"/>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04661" y="7479584"/>
            <a:ext cx="914400" cy="914400"/>
          </a:xfrm>
          <a:prstGeom prst="rect">
            <a:avLst/>
          </a:prstGeom>
        </p:spPr>
      </p:pic>
      <p:pic>
        <p:nvPicPr>
          <p:cNvPr id="56" name="Graphic 55" descr="DVD player with solid fill"/>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761463" y="7181270"/>
            <a:ext cx="914400" cy="914400"/>
          </a:xfrm>
          <a:prstGeom prst="rect">
            <a:avLst/>
          </a:prstGeom>
        </p:spPr>
      </p:pic>
      <p:pic>
        <p:nvPicPr>
          <p:cNvPr id="57" name="Graphic 56" descr="3d Glasses with solid fill"/>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35126" y="-1701270"/>
            <a:ext cx="914400" cy="914400"/>
          </a:xfrm>
          <a:prstGeom prst="rect">
            <a:avLst/>
          </a:prstGeom>
        </p:spPr>
      </p:pic>
      <p:pic>
        <p:nvPicPr>
          <p:cNvPr id="58" name="Graphic 57" descr="Film reel with solid fill"/>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129867" y="3765737"/>
            <a:ext cx="914400" cy="914400"/>
          </a:xfrm>
          <a:prstGeom prst="rect">
            <a:avLst/>
          </a:prstGeom>
        </p:spPr>
      </p:pic>
      <p:pic>
        <p:nvPicPr>
          <p:cNvPr id="59" name="Graphic 58" descr="Optical disc with solid fill"/>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967174" y="7067459"/>
            <a:ext cx="914400" cy="914400"/>
          </a:xfrm>
          <a:prstGeom prst="rect">
            <a:avLst/>
          </a:prstGeom>
        </p:spPr>
      </p:pic>
      <p:pic>
        <p:nvPicPr>
          <p:cNvPr id="60" name="Graphic 59" descr="Film strip with solid fill"/>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19220354">
            <a:off x="2436704" y="-1669690"/>
            <a:ext cx="914400" cy="1062148"/>
          </a:xfrm>
          <a:prstGeom prst="rect">
            <a:avLst/>
          </a:prstGeom>
        </p:spPr>
      </p:pic>
      <p:pic>
        <p:nvPicPr>
          <p:cNvPr id="61" name="Graphic 60" descr="Theatre with solid fill"/>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4044267" y="-674630"/>
            <a:ext cx="914400" cy="914400"/>
          </a:xfrm>
          <a:prstGeom prst="rect">
            <a:avLst/>
          </a:prstGeom>
        </p:spPr>
      </p:pic>
      <p:pic>
        <p:nvPicPr>
          <p:cNvPr id="66" name="Graphic 65" descr="Drama with solid fill"/>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613130" y="343411"/>
            <a:ext cx="914400" cy="914400"/>
          </a:xfrm>
          <a:prstGeom prst="rect">
            <a:avLst/>
          </a:prstGeom>
        </p:spPr>
      </p:pic>
      <p:pic>
        <p:nvPicPr>
          <p:cNvPr id="3" name="Picture 2"/>
          <p:cNvPicPr>
            <a:picLocks noChangeAspect="1"/>
          </p:cNvPicPr>
          <p:nvPr/>
        </p:nvPicPr>
        <p:blipFill>
          <a:blip r:embed="rId29"/>
          <a:stretch>
            <a:fillRect/>
          </a:stretch>
        </p:blipFill>
        <p:spPr>
          <a:xfrm>
            <a:off x="4351020" y="2008505"/>
            <a:ext cx="6948805" cy="44176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89" name="Rectangle 88"/>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0" name="TextBox 89"/>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91" name="Oval 90"/>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2" name="Oval 91"/>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3" name="Oval 92"/>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94" name="Group 93"/>
          <p:cNvGrpSpPr/>
          <p:nvPr/>
        </p:nvGrpSpPr>
        <p:grpSpPr>
          <a:xfrm>
            <a:off x="3065043" y="346935"/>
            <a:ext cx="6654018" cy="550671"/>
            <a:chOff x="2768991" y="3077691"/>
            <a:chExt cx="6654018" cy="550671"/>
          </a:xfrm>
        </p:grpSpPr>
        <p:sp>
          <p:nvSpPr>
            <p:cNvPr id="95" name="Rectangle: Rounded Corners 94"/>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96" name="Picture 95"/>
            <p:cNvPicPr>
              <a:picLocks noChangeAspect="1"/>
            </p:cNvPicPr>
            <p:nvPr/>
          </p:nvPicPr>
          <p:blipFill>
            <a:blip r:embed="rId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grpSp>
        <p:nvGrpSpPr>
          <p:cNvPr id="99" name="Group 98"/>
          <p:cNvGrpSpPr/>
          <p:nvPr/>
        </p:nvGrpSpPr>
        <p:grpSpPr>
          <a:xfrm rot="5400000" flipV="1">
            <a:off x="-3375115" y="3352257"/>
            <a:ext cx="6858002" cy="153487"/>
            <a:chOff x="-1" y="6732587"/>
            <a:chExt cx="12192000" cy="127731"/>
          </a:xfrm>
        </p:grpSpPr>
        <p:sp>
          <p:nvSpPr>
            <p:cNvPr id="100" name="Rectangle 99"/>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1" name="Rectangle 100"/>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2" name="Rectangle 101"/>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3" name="Rectangle 102"/>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104" name="Picture 103"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sp>
        <p:nvSpPr>
          <p:cNvPr id="7" name="Rectangle: Rounded Corners 6"/>
          <p:cNvSpPr/>
          <p:nvPr/>
        </p:nvSpPr>
        <p:spPr>
          <a:xfrm>
            <a:off x="389996" y="7311882"/>
            <a:ext cx="11554285" cy="5052532"/>
          </a:xfrm>
          <a:prstGeom prst="roundRect">
            <a:avLst>
              <a:gd name="adj" fmla="val 34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 name="Rectangle: Top Corners Rounded 8"/>
          <p:cNvSpPr/>
          <p:nvPr/>
        </p:nvSpPr>
        <p:spPr>
          <a:xfrm>
            <a:off x="389996" y="7308342"/>
            <a:ext cx="11554285" cy="569679"/>
          </a:xfrm>
          <a:prstGeom prst="round2SameRect">
            <a:avLst>
              <a:gd name="adj1" fmla="val 25629"/>
              <a:gd name="adj2" fmla="val 0"/>
            </a:avLst>
          </a:prstGeom>
          <a:solidFill>
            <a:srgbClr val="202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10" name="Rectangle: Rounded Corners 9"/>
          <p:cNvSpPr/>
          <p:nvPr/>
        </p:nvSpPr>
        <p:spPr>
          <a:xfrm>
            <a:off x="743022" y="11742265"/>
            <a:ext cx="1238178" cy="487429"/>
          </a:xfrm>
          <a:prstGeom prst="roundRect">
            <a:avLst>
              <a:gd name="adj" fmla="val 11130"/>
            </a:avLst>
          </a:prstGeom>
          <a:solidFill>
            <a:srgbClr val="1A75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latin typeface="Times New Roman" panose="02020603050405020304" charset="0"/>
                <a:cs typeface="Times New Roman" panose="02020603050405020304" charset="0"/>
              </a:rPr>
              <a:t>Thuyết trình</a:t>
            </a:r>
            <a:endParaRPr lang="en-US" sz="1400">
              <a:latin typeface="Times New Roman" panose="02020603050405020304" charset="0"/>
              <a:cs typeface="Times New Roman" panose="02020603050405020304" charset="0"/>
            </a:endParaRPr>
          </a:p>
        </p:txBody>
      </p:sp>
      <p:pic>
        <p:nvPicPr>
          <p:cNvPr id="12" name="Picture 11"/>
          <p:cNvPicPr>
            <a:picLocks noChangeAspect="1"/>
          </p:cNvPicPr>
          <p:nvPr/>
        </p:nvPicPr>
        <p:blipFill rotWithShape="1">
          <a:blip r:embed="rId5">
            <a:extLst>
              <a:ext uri="{BEBA8EAE-BF5A-486C-A8C5-ECC9F3942E4B}">
                <a14:imgProps xmlns:a14="http://schemas.microsoft.com/office/drawing/2010/main">
                  <a14:imgLayer r:embed="rId6">
                    <a14:imgEffect>
                      <a14:backgroundRemoval t="52882" b="76895" l="66720" r="73269">
                        <a14:backgroundMark x1="70290" y1="63596" x2="70290" y2="63596"/>
                        <a14:backgroundMark x1="71659" y1="63158" x2="71659" y2="63158"/>
                      </a14:backgroundRemoval>
                    </a14:imgEffect>
                  </a14:imgLayer>
                </a14:imgProps>
              </a:ext>
            </a:extLst>
          </a:blip>
          <a:srcRect l="65901" t="49880" r="25912" b="20103"/>
          <a:stretch>
            <a:fillRect/>
          </a:stretch>
        </p:blipFill>
        <p:spPr>
          <a:xfrm>
            <a:off x="10151346" y="7465956"/>
            <a:ext cx="567975" cy="304610"/>
          </a:xfrm>
          <a:prstGeom prst="rect">
            <a:avLst/>
          </a:prstGeom>
        </p:spPr>
      </p:pic>
      <p:pic>
        <p:nvPicPr>
          <p:cNvPr id="62" name="Picture 61"/>
          <p:cNvPicPr>
            <a:picLocks noChangeAspect="1"/>
          </p:cNvPicPr>
          <p:nvPr/>
        </p:nvPicPr>
        <p:blipFill rotWithShape="1">
          <a:blip r:embed="rId7">
            <a:extLst>
              <a:ext uri="{BEBA8EAE-BF5A-486C-A8C5-ECC9F3942E4B}">
                <a14:imgProps xmlns:a14="http://schemas.microsoft.com/office/drawing/2010/main">
                  <a14:imgLayer r:embed="rId6">
                    <a14:imgEffect>
                      <a14:backgroundRemoval t="49171" b="80930" l="4380" r="9220"/>
                    </a14:imgEffect>
                  </a14:imgLayer>
                </a14:imgProps>
              </a:ext>
            </a:extLst>
          </a:blip>
          <a:srcRect l="3775" t="45201" r="90175" b="15100"/>
          <a:stretch>
            <a:fillRect/>
          </a:stretch>
        </p:blipFill>
        <p:spPr>
          <a:xfrm>
            <a:off x="531003" y="7331854"/>
            <a:ext cx="526880" cy="569678"/>
          </a:xfrm>
          <a:prstGeom prst="rect">
            <a:avLst/>
          </a:prstGeom>
        </p:spPr>
      </p:pic>
      <p:pic>
        <p:nvPicPr>
          <p:cNvPr id="63" name="Picture 62"/>
          <p:cNvPicPr>
            <a:picLocks noChangeAspect="1"/>
          </p:cNvPicPr>
          <p:nvPr/>
        </p:nvPicPr>
        <p:blipFill rotWithShape="1">
          <a:blip r:embed="rId8">
            <a:extLst>
              <a:ext uri="{BEBA8EAE-BF5A-486C-A8C5-ECC9F3942E4B}">
                <a14:imgProps xmlns:a14="http://schemas.microsoft.com/office/drawing/2010/main">
                  <a14:imgLayer r:embed="rId6">
                    <a14:imgEffect>
                      <a14:backgroundRemoval t="47442" b="78598" l="77829" r="84606"/>
                    </a14:imgEffect>
                  </a14:imgLayer>
                </a14:imgProps>
              </a:ext>
            </a:extLst>
          </a:blip>
          <a:srcRect l="76982" t="43547" r="14547" b="17508"/>
          <a:stretch>
            <a:fillRect/>
          </a:stretch>
        </p:blipFill>
        <p:spPr>
          <a:xfrm>
            <a:off x="10686422" y="7387723"/>
            <a:ext cx="613355" cy="413075"/>
          </a:xfrm>
          <a:prstGeom prst="rect">
            <a:avLst/>
          </a:prstGeom>
        </p:spPr>
      </p:pic>
      <p:pic>
        <p:nvPicPr>
          <p:cNvPr id="64" name="Picture 63"/>
          <p:cNvPicPr>
            <a:picLocks noChangeAspect="1"/>
          </p:cNvPicPr>
          <p:nvPr/>
        </p:nvPicPr>
        <p:blipFill rotWithShape="1">
          <a:blip r:embed="rId9">
            <a:extLst>
              <a:ext uri="{BEBA8EAE-BF5A-486C-A8C5-ECC9F3942E4B}">
                <a14:imgProps xmlns:a14="http://schemas.microsoft.com/office/drawing/2010/main">
                  <a14:imgLayer r:embed="rId6">
                    <a14:imgEffect>
                      <a14:backgroundRemoval t="50439" b="75877" l="90660" r="98792">
                        <a14:foregroundMark x1="93639" y1="62281" x2="93639" y2="62281"/>
                        <a14:foregroundMark x1="94767" y1="64474" x2="94767" y2="64474"/>
                        <a14:foregroundMark x1="98792" y1="55263" x2="98792" y2="55263"/>
                        <a14:foregroundMark x1="91546" y1="63158" x2="91546" y2="63158"/>
                      </a14:backgroundRemoval>
                    </a14:imgEffect>
                  </a14:imgLayer>
                </a14:imgProps>
              </a:ext>
            </a:extLst>
          </a:blip>
          <a:srcRect l="90059" t="47630" r="3836" b="20915"/>
          <a:stretch>
            <a:fillRect/>
          </a:stretch>
        </p:blipFill>
        <p:spPr>
          <a:xfrm>
            <a:off x="11214127" y="7387755"/>
            <a:ext cx="637747" cy="403957"/>
          </a:xfrm>
          <a:prstGeom prst="rect">
            <a:avLst/>
          </a:prstGeom>
        </p:spPr>
      </p:pic>
      <p:sp>
        <p:nvSpPr>
          <p:cNvPr id="13" name="TextBox 12"/>
          <p:cNvSpPr txBox="1"/>
          <p:nvPr/>
        </p:nvSpPr>
        <p:spPr>
          <a:xfrm>
            <a:off x="963282" y="7395618"/>
            <a:ext cx="3967800" cy="385309"/>
          </a:xfrm>
          <a:prstGeom prst="rect">
            <a:avLst/>
          </a:prstGeom>
          <a:noFill/>
        </p:spPr>
        <p:txBody>
          <a:bodyPr wrap="square" rtlCol="0">
            <a:spAutoFit/>
          </a:bodyPr>
          <a:lstStyle/>
          <a:p>
            <a:r>
              <a:rPr lang="en-US">
                <a:solidFill>
                  <a:schemeClr val="bg1"/>
                </a:solidFill>
                <a:latin typeface="Times New Roman" panose="02020603050405020304" charset="0"/>
                <a:cs typeface="Times New Roman" panose="02020603050405020304" charset="0"/>
              </a:rPr>
              <a:t>Nội dung 3</a:t>
            </a:r>
            <a:endParaRPr lang="en-US">
              <a:solidFill>
                <a:schemeClr val="bg1"/>
              </a:solidFill>
              <a:latin typeface="Times New Roman" panose="02020603050405020304" charset="0"/>
              <a:cs typeface="Times New Roman" panose="02020603050405020304" charset="0"/>
            </a:endParaRPr>
          </a:p>
        </p:txBody>
      </p:sp>
      <p:sp>
        <p:nvSpPr>
          <p:cNvPr id="65" name="Oval 64"/>
          <p:cNvSpPr/>
          <p:nvPr/>
        </p:nvSpPr>
        <p:spPr>
          <a:xfrm>
            <a:off x="498106" y="7985268"/>
            <a:ext cx="559777" cy="530368"/>
          </a:xfrm>
          <a:prstGeom prst="ellipse">
            <a:avLst/>
          </a:prstGeom>
          <a:blipFill dpi="0" rotWithShape="1">
            <a:blip r:embed="rId10">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35" name="TextBox 34"/>
          <p:cNvSpPr txBox="1"/>
          <p:nvPr/>
        </p:nvSpPr>
        <p:spPr>
          <a:xfrm>
            <a:off x="963282" y="7941785"/>
            <a:ext cx="2745580" cy="646331"/>
          </a:xfrm>
          <a:prstGeom prst="rect">
            <a:avLst/>
          </a:prstGeom>
          <a:noFill/>
          <a:ln>
            <a:noFill/>
          </a:ln>
        </p:spPr>
        <p:txBody>
          <a:bodyPr wrap="square" rtlCol="0">
            <a:spAutoFit/>
          </a:bodyPr>
          <a:lstStyle/>
          <a:p>
            <a:pPr algn="ctr"/>
            <a:r>
              <a:rPr lang="en-PH" sz="3600" b="1">
                <a:solidFill>
                  <a:sysClr val="windowText" lastClr="000000"/>
                </a:solidFill>
                <a:latin typeface="Times New Roman" panose="02020603050405020304" charset="0"/>
                <a:cs typeface="Times New Roman" panose="02020603050405020304" charset="0"/>
              </a:rPr>
              <a:t>Nội dung 3</a:t>
            </a:r>
            <a:endParaRPr lang="en-PH" sz="3600" b="1" dirty="0">
              <a:solidFill>
                <a:sysClr val="windowText" lastClr="000000"/>
              </a:solidFill>
              <a:latin typeface="Times New Roman" panose="02020603050405020304" charset="0"/>
              <a:cs typeface="Times New Roman" panose="02020603050405020304" charset="0"/>
            </a:endParaRPr>
          </a:p>
        </p:txBody>
      </p:sp>
      <p:sp>
        <p:nvSpPr>
          <p:cNvPr id="34" name="Rectangle: Folded Corner 33"/>
          <p:cNvSpPr/>
          <p:nvPr/>
        </p:nvSpPr>
        <p:spPr>
          <a:xfrm rot="10800000">
            <a:off x="4776484" y="3202328"/>
            <a:ext cx="2397093" cy="1327617"/>
          </a:xfrm>
          <a:prstGeom prst="foldedCorner">
            <a:avLst>
              <a:gd name="adj" fmla="val 50000"/>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6" name="TextBox 35"/>
          <p:cNvSpPr txBox="1"/>
          <p:nvPr/>
        </p:nvSpPr>
        <p:spPr>
          <a:xfrm>
            <a:off x="5202702" y="3634728"/>
            <a:ext cx="1664573" cy="521970"/>
          </a:xfrm>
          <a:prstGeom prst="rect">
            <a:avLst/>
          </a:prstGeom>
          <a:noFill/>
        </p:spPr>
        <p:txBody>
          <a:bodyPr wrap="square" rtlCol="0">
            <a:spAutoFit/>
          </a:bodyPr>
          <a:lstStyle/>
          <a:p>
            <a:r>
              <a:rPr lang="vi-VN" altLang="en-PH" sz="2800" b="1">
                <a:solidFill>
                  <a:schemeClr val="bg1"/>
                </a:solidFill>
                <a:latin typeface="Times New Roman" panose="02020603050405020304" charset="0"/>
                <a:cs typeface="Times New Roman" panose="02020603050405020304" charset="0"/>
              </a:rPr>
              <a:t>Tổng kết</a:t>
            </a:r>
            <a:endParaRPr lang="vi-VN" altLang="en-PH" sz="2800" b="1">
              <a:solidFill>
                <a:schemeClr val="bg1"/>
              </a:solidFill>
              <a:latin typeface="Times New Roman" panose="02020603050405020304" charset="0"/>
              <a:cs typeface="Times New Roman" panose="02020603050405020304" charset="0"/>
            </a:endParaRPr>
          </a:p>
        </p:txBody>
      </p:sp>
      <p:pic>
        <p:nvPicPr>
          <p:cNvPr id="37" name="Graphic 36" descr="Director's Chair with solid fill"/>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743564" y="5596665"/>
            <a:ext cx="914400" cy="914400"/>
          </a:xfrm>
          <a:prstGeom prst="rect">
            <a:avLst/>
          </a:prstGeom>
        </p:spPr>
      </p:pic>
      <p:pic>
        <p:nvPicPr>
          <p:cNvPr id="38" name="Graphic 37" descr="DVD player with solid fill"/>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534038" y="5754057"/>
            <a:ext cx="914400" cy="914400"/>
          </a:xfrm>
          <a:prstGeom prst="rect">
            <a:avLst/>
          </a:prstGeom>
        </p:spPr>
      </p:pic>
      <p:pic>
        <p:nvPicPr>
          <p:cNvPr id="43" name="Graphic 42" descr="3d Glasses with solid fill"/>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13742" y="1320007"/>
            <a:ext cx="914400" cy="914400"/>
          </a:xfrm>
          <a:prstGeom prst="rect">
            <a:avLst/>
          </a:prstGeom>
        </p:spPr>
      </p:pic>
      <p:pic>
        <p:nvPicPr>
          <p:cNvPr id="44" name="Graphic 43" descr="Film reel with solid fill"/>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827980" y="4156453"/>
            <a:ext cx="914400" cy="914400"/>
          </a:xfrm>
          <a:prstGeom prst="rect">
            <a:avLst/>
          </a:prstGeom>
        </p:spPr>
      </p:pic>
      <p:pic>
        <p:nvPicPr>
          <p:cNvPr id="45" name="Graphic 44" descr="Optical disc with solid fill"/>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489982" y="4337016"/>
            <a:ext cx="914400" cy="914400"/>
          </a:xfrm>
          <a:prstGeom prst="rect">
            <a:avLst/>
          </a:prstGeom>
        </p:spPr>
      </p:pic>
      <p:pic>
        <p:nvPicPr>
          <p:cNvPr id="46" name="Graphic 45" descr="Film strip with solid fill"/>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9220354">
            <a:off x="3374749" y="1546231"/>
            <a:ext cx="914400" cy="1062148"/>
          </a:xfrm>
          <a:prstGeom prst="rect">
            <a:avLst/>
          </a:prstGeom>
        </p:spPr>
      </p:pic>
      <p:pic>
        <p:nvPicPr>
          <p:cNvPr id="48" name="Graphic 47" descr="Theatre with solid fill"/>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448218" y="2370457"/>
            <a:ext cx="914400" cy="914400"/>
          </a:xfrm>
          <a:prstGeom prst="rect">
            <a:avLst/>
          </a:prstGeom>
        </p:spPr>
      </p:pic>
      <p:pic>
        <p:nvPicPr>
          <p:cNvPr id="49" name="Graphic 48" descr="Drama with solid fill"/>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224401" y="2550983"/>
            <a:ext cx="914400" cy="914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89" name="Rectangle 88"/>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0" name="TextBox 89"/>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91" name="Oval 90"/>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2" name="Oval 91"/>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3" name="Oval 92"/>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94" name="Group 93"/>
          <p:cNvGrpSpPr/>
          <p:nvPr/>
        </p:nvGrpSpPr>
        <p:grpSpPr>
          <a:xfrm>
            <a:off x="3065043" y="346935"/>
            <a:ext cx="6654018" cy="550671"/>
            <a:chOff x="2768991" y="3077691"/>
            <a:chExt cx="6654018" cy="550671"/>
          </a:xfrm>
        </p:grpSpPr>
        <p:sp>
          <p:nvSpPr>
            <p:cNvPr id="95" name="Rectangle: Rounded Corners 94"/>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96" name="Picture 95"/>
            <p:cNvPicPr>
              <a:picLocks noChangeAspect="1"/>
            </p:cNvPicPr>
            <p:nvPr/>
          </p:nvPicPr>
          <p:blipFill>
            <a:blip r:embed="rId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p:cNvSpPr txBox="1"/>
          <p:nvPr/>
        </p:nvSpPr>
        <p:spPr>
          <a:xfrm>
            <a:off x="3709886" y="436727"/>
            <a:ext cx="5300471" cy="64516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endParaRPr>
          </a:p>
          <a:p>
            <a:r>
              <a:rPr lang="en-US">
                <a:solidFill>
                  <a:schemeClr val="bg1">
                    <a:lumMod val="50000"/>
                  </a:schemeClr>
                </a:solidFill>
                <a:latin typeface="Times New Roman" panose="02020603050405020304" charset="0"/>
                <a:cs typeface="Times New Roman" panose="02020603050405020304" charset="0"/>
              </a:rPr>
              <a:t> </a:t>
            </a:r>
            <a:endParaRPr lang="vi-VN">
              <a:solidFill>
                <a:schemeClr val="bg1">
                  <a:lumMod val="50000"/>
                </a:schemeClr>
              </a:solidFill>
              <a:latin typeface="Times New Roman" panose="02020603050405020304" charset="0"/>
              <a:cs typeface="Times New Roman" panose="02020603050405020304" charset="0"/>
            </a:endParaRPr>
          </a:p>
        </p:txBody>
      </p:sp>
      <p:grpSp>
        <p:nvGrpSpPr>
          <p:cNvPr id="99" name="Group 98"/>
          <p:cNvGrpSpPr/>
          <p:nvPr/>
        </p:nvGrpSpPr>
        <p:grpSpPr>
          <a:xfrm rot="5400000" flipV="1">
            <a:off x="-3375115" y="3352257"/>
            <a:ext cx="6858002" cy="153487"/>
            <a:chOff x="-1" y="6732587"/>
            <a:chExt cx="12192000" cy="127731"/>
          </a:xfrm>
        </p:grpSpPr>
        <p:sp>
          <p:nvSpPr>
            <p:cNvPr id="100" name="Rectangle 99"/>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1" name="Rectangle 100"/>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2" name="Rectangle 101"/>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03" name="Rectangle 102"/>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104" name="Picture 103"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sp>
        <p:nvSpPr>
          <p:cNvPr id="34" name="Rectangle: Folded Corner 33"/>
          <p:cNvSpPr/>
          <p:nvPr/>
        </p:nvSpPr>
        <p:spPr>
          <a:xfrm rot="16200000">
            <a:off x="3479658" y="-592695"/>
            <a:ext cx="5382485" cy="9031045"/>
          </a:xfrm>
          <a:prstGeom prst="foldedCorner">
            <a:avLst>
              <a:gd name="adj" fmla="val 15730"/>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6" name="TextBox 35"/>
          <p:cNvSpPr txBox="1"/>
          <p:nvPr/>
        </p:nvSpPr>
        <p:spPr>
          <a:xfrm>
            <a:off x="1807772" y="1434052"/>
            <a:ext cx="2983568" cy="583565"/>
          </a:xfrm>
          <a:prstGeom prst="rect">
            <a:avLst/>
          </a:prstGeom>
          <a:noFill/>
        </p:spPr>
        <p:txBody>
          <a:bodyPr wrap="square" rtlCol="0">
            <a:spAutoFit/>
          </a:bodyPr>
          <a:lstStyle/>
          <a:p>
            <a:r>
              <a:rPr lang="vi-VN" altLang="en-PH" sz="3200" b="1">
                <a:solidFill>
                  <a:schemeClr val="bg1"/>
                </a:solidFill>
                <a:latin typeface="Times New Roman" panose="02020603050405020304" charset="0"/>
                <a:cs typeface="Times New Roman" panose="02020603050405020304" charset="0"/>
              </a:rPr>
              <a:t>Tổng kết</a:t>
            </a:r>
            <a:endParaRPr lang="vi-VN" altLang="en-PH" sz="3200" b="1">
              <a:solidFill>
                <a:schemeClr val="bg1"/>
              </a:solidFill>
              <a:latin typeface="Times New Roman" panose="02020603050405020304" charset="0"/>
              <a:cs typeface="Times New Roman" panose="02020603050405020304" charset="0"/>
            </a:endParaRPr>
          </a:p>
        </p:txBody>
      </p:sp>
      <p:pic>
        <p:nvPicPr>
          <p:cNvPr id="37" name="Graphic 36" descr="Director's Chair with solid fill"/>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053409" y="5596329"/>
            <a:ext cx="914400" cy="914400"/>
          </a:xfrm>
          <a:prstGeom prst="rect">
            <a:avLst/>
          </a:prstGeom>
        </p:spPr>
      </p:pic>
      <p:pic>
        <p:nvPicPr>
          <p:cNvPr id="38" name="Graphic 37" descr="DVD player with solid fill"/>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0794" y="5476193"/>
            <a:ext cx="914400" cy="914400"/>
          </a:xfrm>
          <a:prstGeom prst="rect">
            <a:avLst/>
          </a:prstGeom>
        </p:spPr>
      </p:pic>
      <p:pic>
        <p:nvPicPr>
          <p:cNvPr id="43" name="Graphic 42" descr="3d Glasses with solid fill"/>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00030" y="861077"/>
            <a:ext cx="914400" cy="914400"/>
          </a:xfrm>
          <a:prstGeom prst="rect">
            <a:avLst/>
          </a:prstGeom>
        </p:spPr>
      </p:pic>
      <p:pic>
        <p:nvPicPr>
          <p:cNvPr id="44" name="Graphic 43" descr="Film reel with solid fill"/>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842577" y="3832613"/>
            <a:ext cx="914400" cy="914400"/>
          </a:xfrm>
          <a:prstGeom prst="rect">
            <a:avLst/>
          </a:prstGeom>
        </p:spPr>
      </p:pic>
      <p:pic>
        <p:nvPicPr>
          <p:cNvPr id="45" name="Graphic 44" descr="Optical disc with solid fill"/>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67889" y="4105225"/>
            <a:ext cx="914400" cy="914400"/>
          </a:xfrm>
          <a:prstGeom prst="rect">
            <a:avLst/>
          </a:prstGeom>
        </p:spPr>
      </p:pic>
      <p:pic>
        <p:nvPicPr>
          <p:cNvPr id="46" name="Graphic 45" descr="Film strip with solid fill"/>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220354">
            <a:off x="434410" y="1143226"/>
            <a:ext cx="914400" cy="1062148"/>
          </a:xfrm>
          <a:prstGeom prst="rect">
            <a:avLst/>
          </a:prstGeom>
        </p:spPr>
      </p:pic>
      <p:pic>
        <p:nvPicPr>
          <p:cNvPr id="48" name="Graphic 47" descr="Theatre with solid fill"/>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817067" y="2378293"/>
            <a:ext cx="914400" cy="914400"/>
          </a:xfrm>
          <a:prstGeom prst="rect">
            <a:avLst/>
          </a:prstGeom>
        </p:spPr>
      </p:pic>
      <p:pic>
        <p:nvPicPr>
          <p:cNvPr id="49" name="Graphic 48" descr="Drama with solid fill"/>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81612" y="2415197"/>
            <a:ext cx="914400" cy="914400"/>
          </a:xfrm>
          <a:prstGeom prst="rect">
            <a:avLst/>
          </a:prstGeom>
        </p:spPr>
      </p:pic>
      <p:sp>
        <p:nvSpPr>
          <p:cNvPr id="39" name="TextBox 38"/>
          <p:cNvSpPr txBox="1"/>
          <p:nvPr/>
        </p:nvSpPr>
        <p:spPr>
          <a:xfrm>
            <a:off x="1783080" y="2113280"/>
            <a:ext cx="8655050" cy="3427730"/>
          </a:xfrm>
          <a:prstGeom prst="rect">
            <a:avLst/>
          </a:prstGeom>
          <a:noFill/>
        </p:spPr>
        <p:txBody>
          <a:bodyPr wrap="square" rtlCol="0">
            <a:noAutofit/>
          </a:bodyPr>
          <a:lstStyle/>
          <a:p>
            <a:endParaRPr lang="en-US" altLang="en-US" sz="2800" b="1">
              <a:latin typeface="Times New Roman" panose="02020603050405020304" charset="0"/>
              <a:cs typeface="Times New Roman" panose="02020603050405020304" charset="0"/>
            </a:endParaRPr>
          </a:p>
          <a:p>
            <a:r>
              <a:rPr lang="en-US" altLang="en-US" sz="2800" b="1">
                <a:solidFill>
                  <a:schemeClr val="bg1"/>
                </a:solidFill>
                <a:latin typeface="Times New Roman" panose="02020603050405020304" charset="0"/>
                <a:cs typeface="Times New Roman" panose="02020603050405020304" charset="0"/>
              </a:rPr>
              <a:t>Ch</a:t>
            </a:r>
            <a:r>
              <a:rPr lang="" altLang="en-US" sz="2800" b="1">
                <a:solidFill>
                  <a:schemeClr val="bg1"/>
                </a:solidFill>
                <a:latin typeface="Times New Roman" panose="02020603050405020304" charset="0"/>
                <a:cs typeface="Times New Roman" panose="02020603050405020304" charset="0"/>
              </a:rPr>
              <a:t>ư</a:t>
            </a:r>
            <a:r>
              <a:rPr lang="en-US" altLang="en-US" sz="2800" b="1">
                <a:solidFill>
                  <a:schemeClr val="bg1"/>
                </a:solidFill>
                <a:latin typeface="Times New Roman" panose="02020603050405020304" charset="0"/>
                <a:cs typeface="Times New Roman" panose="02020603050405020304" charset="0"/>
              </a:rPr>
              <a:t>ơng trình quản l</a:t>
            </a:r>
            <a:r>
              <a:rPr lang="" altLang="en-US" sz="2800" b="1">
                <a:solidFill>
                  <a:schemeClr val="bg1"/>
                </a:solidFill>
                <a:latin typeface="Times New Roman" panose="02020603050405020304" charset="0"/>
                <a:cs typeface="Times New Roman" panose="02020603050405020304" charset="0"/>
              </a:rPr>
              <a:t>ý</a:t>
            </a:r>
            <a:r>
              <a:rPr lang="en-US" altLang="en-US" sz="2800" b="1">
                <a:solidFill>
                  <a:schemeClr val="bg1"/>
                </a:solidFill>
                <a:latin typeface="Times New Roman" panose="02020603050405020304" charset="0"/>
                <a:cs typeface="Times New Roman" panose="02020603050405020304" charset="0"/>
              </a:rPr>
              <a:t> ngân hàng </a:t>
            </a:r>
            <a:r>
              <a:rPr lang="" altLang="en-US" sz="2800" b="1">
                <a:solidFill>
                  <a:schemeClr val="bg1"/>
                </a:solidFill>
                <a:latin typeface="Times New Roman" panose="02020603050405020304" charset="0"/>
                <a:cs typeface="Times New Roman" panose="02020603050405020304" charset="0"/>
              </a:rPr>
              <a:t>đư</a:t>
            </a:r>
            <a:r>
              <a:rPr lang="en-US" altLang="en-US" sz="2800" b="1">
                <a:solidFill>
                  <a:schemeClr val="bg1"/>
                </a:solidFill>
                <a:latin typeface="Times New Roman" panose="02020603050405020304" charset="0"/>
                <a:cs typeface="Times New Roman" panose="02020603050405020304" charset="0"/>
              </a:rPr>
              <a:t>ợc thiết kế </a:t>
            </a:r>
            <a:r>
              <a:rPr lang="" altLang="en-US" sz="2800" b="1">
                <a:solidFill>
                  <a:schemeClr val="bg1"/>
                </a:solidFill>
                <a:latin typeface="Times New Roman" panose="02020603050405020304" charset="0"/>
                <a:cs typeface="Times New Roman" panose="02020603050405020304" charset="0"/>
              </a:rPr>
              <a:t>đ</a:t>
            </a:r>
            <a:r>
              <a:rPr lang="en-US" altLang="en-US" sz="2800" b="1">
                <a:solidFill>
                  <a:schemeClr val="bg1"/>
                </a:solidFill>
                <a:latin typeface="Times New Roman" panose="02020603050405020304" charset="0"/>
                <a:cs typeface="Times New Roman" panose="02020603050405020304" charset="0"/>
              </a:rPr>
              <a:t>ể phục vụ hai nhóm ng</a:t>
            </a:r>
            <a:r>
              <a:rPr lang="" altLang="en-US" sz="2800" b="1">
                <a:solidFill>
                  <a:schemeClr val="bg1"/>
                </a:solidFill>
                <a:latin typeface="Times New Roman" panose="02020603050405020304" charset="0"/>
                <a:cs typeface="Times New Roman" panose="02020603050405020304" charset="0"/>
              </a:rPr>
              <a:t>ư</a:t>
            </a:r>
            <a:r>
              <a:rPr lang="en-US" altLang="en-US" sz="2800" b="1">
                <a:solidFill>
                  <a:schemeClr val="bg1"/>
                </a:solidFill>
                <a:latin typeface="Times New Roman" panose="02020603050405020304" charset="0"/>
                <a:cs typeface="Times New Roman" panose="02020603050405020304" charset="0"/>
              </a:rPr>
              <a:t>ời dùng chính: Ng</a:t>
            </a:r>
            <a:r>
              <a:rPr lang="" altLang="en-US" sz="2800" b="1">
                <a:solidFill>
                  <a:schemeClr val="bg1"/>
                </a:solidFill>
                <a:latin typeface="Times New Roman" panose="02020603050405020304" charset="0"/>
                <a:cs typeface="Times New Roman" panose="02020603050405020304" charset="0"/>
              </a:rPr>
              <a:t>ư</a:t>
            </a:r>
            <a:r>
              <a:rPr lang="en-US" altLang="en-US" sz="2800" b="1">
                <a:solidFill>
                  <a:schemeClr val="bg1"/>
                </a:solidFill>
                <a:latin typeface="Times New Roman" panose="02020603050405020304" charset="0"/>
                <a:cs typeface="Times New Roman" panose="02020603050405020304" charset="0"/>
              </a:rPr>
              <a:t>ời dùng và Quản trị viên. </a:t>
            </a:r>
            <a:endParaRPr lang="en-US" altLang="en-US" sz="2800" b="1">
              <a:solidFill>
                <a:schemeClr val="bg1"/>
              </a:solidFill>
              <a:latin typeface="Times New Roman" panose="02020603050405020304" charset="0"/>
              <a:cs typeface="Times New Roman" panose="02020603050405020304" charset="0"/>
            </a:endParaRPr>
          </a:p>
          <a:p>
            <a:r>
              <a:rPr lang="en-US" altLang="en-US" sz="2800" b="1">
                <a:solidFill>
                  <a:schemeClr val="bg1"/>
                </a:solidFill>
                <a:latin typeface="Times New Roman" panose="02020603050405020304" charset="0"/>
                <a:cs typeface="Times New Roman" panose="02020603050405020304" charset="0"/>
              </a:rPr>
              <a:t>Ng</a:t>
            </a:r>
            <a:r>
              <a:rPr lang="" altLang="en-US" sz="2800" b="1">
                <a:solidFill>
                  <a:schemeClr val="bg1"/>
                </a:solidFill>
                <a:latin typeface="Times New Roman" panose="02020603050405020304" charset="0"/>
                <a:cs typeface="Times New Roman" panose="02020603050405020304" charset="0"/>
              </a:rPr>
              <a:t>ư</a:t>
            </a:r>
            <a:r>
              <a:rPr lang="en-US" altLang="en-US" sz="2800" b="1">
                <a:solidFill>
                  <a:schemeClr val="bg1"/>
                </a:solidFill>
                <a:latin typeface="Times New Roman" panose="02020603050405020304" charset="0"/>
                <a:cs typeface="Times New Roman" panose="02020603050405020304" charset="0"/>
              </a:rPr>
              <a:t>ời dùng có thể </a:t>
            </a:r>
            <a:r>
              <a:rPr lang="" altLang="en-US" sz="2800" b="1">
                <a:solidFill>
                  <a:schemeClr val="bg1"/>
                </a:solidFill>
                <a:latin typeface="Times New Roman" panose="02020603050405020304" charset="0"/>
                <a:cs typeface="Times New Roman" panose="02020603050405020304" charset="0"/>
              </a:rPr>
              <a:t>đă</a:t>
            </a:r>
            <a:r>
              <a:rPr lang="en-US" altLang="en-US" sz="2800" b="1">
                <a:solidFill>
                  <a:schemeClr val="bg1"/>
                </a:solidFill>
                <a:latin typeface="Times New Roman" panose="02020603050405020304" charset="0"/>
                <a:cs typeface="Times New Roman" panose="02020603050405020304" charset="0"/>
              </a:rPr>
              <a:t>ng k</a:t>
            </a:r>
            <a:r>
              <a:rPr lang="" altLang="en-US" sz="2800" b="1">
                <a:solidFill>
                  <a:schemeClr val="bg1"/>
                </a:solidFill>
                <a:latin typeface="Times New Roman" panose="02020603050405020304" charset="0"/>
                <a:cs typeface="Times New Roman" panose="02020603050405020304" charset="0"/>
              </a:rPr>
              <a:t>ý</a:t>
            </a:r>
            <a:r>
              <a:rPr lang="en-US" altLang="en-US" sz="2800" b="1">
                <a:solidFill>
                  <a:schemeClr val="bg1"/>
                </a:solidFill>
                <a:latin typeface="Times New Roman" panose="02020603050405020304" charset="0"/>
                <a:cs typeface="Times New Roman" panose="02020603050405020304" charset="0"/>
              </a:rPr>
              <a:t>, </a:t>
            </a:r>
            <a:r>
              <a:rPr lang="" altLang="en-US" sz="2800" b="1">
                <a:solidFill>
                  <a:schemeClr val="bg1"/>
                </a:solidFill>
                <a:latin typeface="Times New Roman" panose="02020603050405020304" charset="0"/>
                <a:cs typeface="Times New Roman" panose="02020603050405020304" charset="0"/>
              </a:rPr>
              <a:t>đă</a:t>
            </a:r>
            <a:r>
              <a:rPr lang="en-US" altLang="en-US" sz="2800" b="1">
                <a:solidFill>
                  <a:schemeClr val="bg1"/>
                </a:solidFill>
                <a:latin typeface="Times New Roman" panose="02020603050405020304" charset="0"/>
                <a:cs typeface="Times New Roman" panose="02020603050405020304" charset="0"/>
              </a:rPr>
              <a:t>ng nhập tài khoản, xem thông tin cá nhân, vay vốn, thực hiện giao dịch và gửi tiết kiệm. </a:t>
            </a:r>
            <a:endParaRPr lang="en-US" altLang="en-US" sz="2800" b="1">
              <a:solidFill>
                <a:schemeClr val="bg1"/>
              </a:solidFill>
              <a:latin typeface="Times New Roman" panose="02020603050405020304" charset="0"/>
              <a:cs typeface="Times New Roman" panose="02020603050405020304" charset="0"/>
            </a:endParaRPr>
          </a:p>
        </p:txBody>
      </p:sp>
      <p:pic>
        <p:nvPicPr>
          <p:cNvPr id="40" name="Picture 39" descr="Avocado Moody Foodies"/>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924319" y="7104233"/>
            <a:ext cx="1048770" cy="1048770"/>
          </a:xfrm>
          <a:prstGeom prst="rect">
            <a:avLst/>
          </a:prstGeom>
        </p:spPr>
      </p:pic>
      <p:pic>
        <p:nvPicPr>
          <p:cNvPr id="41" name="Picture 40" descr="Pear Moody Foodies"/>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461527" y="7371431"/>
            <a:ext cx="834962" cy="834962"/>
          </a:xfrm>
          <a:prstGeom prst="rect">
            <a:avLst/>
          </a:prstGeom>
        </p:spPr>
      </p:pic>
      <p:pic>
        <p:nvPicPr>
          <p:cNvPr id="42" name="Picture 41" descr="Apple Moody Foodies"/>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121738" y="7101829"/>
            <a:ext cx="1066988" cy="1066988"/>
          </a:xfrm>
          <a:prstGeom prst="rect">
            <a:avLst/>
          </a:prstGeom>
        </p:spPr>
      </p:pic>
      <p:pic>
        <p:nvPicPr>
          <p:cNvPr id="47" name="Picture 46" descr="Watermelon Moody Foodies"/>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200809" y="7254488"/>
            <a:ext cx="937775" cy="937775"/>
          </a:xfrm>
          <a:prstGeom prst="rect">
            <a:avLst/>
          </a:prstGeom>
        </p:spPr>
      </p:pic>
      <p:pic>
        <p:nvPicPr>
          <p:cNvPr id="50" name="Picture 49" descr="Banana Moody Foodies"/>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1298607" y="7262912"/>
            <a:ext cx="920929" cy="9209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80"/>
                                  </p:iterate>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89" name="Rectangle 88"/>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90" name="TextBox 89"/>
          <p:cNvSpPr txBox="1"/>
          <p:nvPr/>
        </p:nvSpPr>
        <p:spPr>
          <a:xfrm>
            <a:off x="224808" y="241282"/>
            <a:ext cx="2863591" cy="783590"/>
          </a:xfrm>
          <a:prstGeom prst="rect">
            <a:avLst/>
          </a:prstGeom>
          <a:noFill/>
        </p:spPr>
        <p:txBody>
          <a:bodyPr wrap="square" rtlCol="0">
            <a:spAutoFit/>
          </a:bodyPr>
          <a:lstStyle/>
          <a:p>
            <a:pPr algn="ctr"/>
            <a:r>
              <a:rPr lang="vi-VN" altLang="en-PH" sz="36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3600" b="1">
                <a:solidFill>
                  <a:srgbClr val="4285F4"/>
                </a:solidFill>
                <a:latin typeface="Times New Roman" panose="02020603050405020304" charset="0"/>
                <a:cs typeface="Times New Roman" panose="02020603050405020304" charset="0"/>
                <a:sym typeface="+mn-ea"/>
              </a:rPr>
              <a:t> </a:t>
            </a:r>
            <a:r>
              <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36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900" dirty="0">
              <a:latin typeface="Times New Roman" panose="02020603050405020304" charset="0"/>
              <a:cs typeface="Times New Roman" panose="02020603050405020304" charset="0"/>
            </a:endParaRPr>
          </a:p>
        </p:txBody>
      </p:sp>
      <p:sp>
        <p:nvSpPr>
          <p:cNvPr id="91" name="Oval 90"/>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2" name="Oval 91"/>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93" name="Oval 92"/>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nvGrpSpPr>
          <p:cNvPr id="94" name="Group 93"/>
          <p:cNvGrpSpPr/>
          <p:nvPr/>
        </p:nvGrpSpPr>
        <p:grpSpPr>
          <a:xfrm>
            <a:off x="3065043" y="346935"/>
            <a:ext cx="6654018" cy="550671"/>
            <a:chOff x="2768991" y="3077691"/>
            <a:chExt cx="6654018" cy="550671"/>
          </a:xfrm>
        </p:grpSpPr>
        <p:sp>
          <p:nvSpPr>
            <p:cNvPr id="95" name="Rectangle: Rounded Corners 94"/>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96" name="Picture 95"/>
            <p:cNvPicPr>
              <a:picLocks noChangeAspect="1"/>
            </p:cNvPicPr>
            <p:nvPr/>
          </p:nvPicPr>
          <p:blipFill>
            <a:blip r:embed="rId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p:cNvSpPr txBox="1"/>
          <p:nvPr/>
        </p:nvSpPr>
        <p:spPr>
          <a:xfrm>
            <a:off x="3709886" y="436727"/>
            <a:ext cx="5300471" cy="368300"/>
          </a:xfrm>
          <a:prstGeom prst="rect">
            <a:avLst/>
          </a:prstGeom>
          <a:noFill/>
        </p:spPr>
        <p:txBody>
          <a:bodyPr wrap="square" rtlCol="0">
            <a:spAutoFit/>
          </a:bodyPr>
          <a:lstStyle/>
          <a:p>
            <a:r>
              <a:rPr lang="vi-VN" altLang="en-US">
                <a:solidFill>
                  <a:schemeClr val="bg1">
                    <a:lumMod val="50000"/>
                  </a:schemeClr>
                </a:solidFill>
                <a:latin typeface="Times New Roman" panose="02020603050405020304" charset="0"/>
                <a:cs typeface="Times New Roman" panose="02020603050405020304" charset="0"/>
                <a:sym typeface="+mn-ea"/>
              </a:rPr>
              <a:t>Ứng dụng quản lý ngân hàng</a:t>
            </a:r>
            <a:endParaRPr lang="vi-VN" altLang="en-US">
              <a:solidFill>
                <a:schemeClr val="bg1">
                  <a:lumMod val="50000"/>
                </a:schemeClr>
              </a:solidFill>
              <a:latin typeface="Times New Roman" panose="02020603050405020304" charset="0"/>
              <a:cs typeface="Times New Roman" panose="02020603050405020304" charset="0"/>
              <a:sym typeface="+mn-ea"/>
            </a:endParaRPr>
          </a:p>
        </p:txBody>
      </p:sp>
      <p:pic>
        <p:nvPicPr>
          <p:cNvPr id="104" name="Picture 103"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9828722" y="386390"/>
            <a:ext cx="609591" cy="494614"/>
          </a:xfrm>
          <a:prstGeom prst="rect">
            <a:avLst/>
          </a:prstGeom>
        </p:spPr>
      </p:pic>
      <p:sp>
        <p:nvSpPr>
          <p:cNvPr id="34" name="Rectangle: Folded Corner 33"/>
          <p:cNvSpPr/>
          <p:nvPr/>
        </p:nvSpPr>
        <p:spPr>
          <a:xfrm rot="16200000">
            <a:off x="-7808448" y="-592695"/>
            <a:ext cx="5382485" cy="9031045"/>
          </a:xfrm>
          <a:prstGeom prst="foldedCorner">
            <a:avLst>
              <a:gd name="adj" fmla="val 15730"/>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6" name="TextBox 35"/>
          <p:cNvSpPr txBox="1"/>
          <p:nvPr/>
        </p:nvSpPr>
        <p:spPr>
          <a:xfrm>
            <a:off x="407428" y="2190234"/>
            <a:ext cx="2275418" cy="583565"/>
          </a:xfrm>
          <a:prstGeom prst="rect">
            <a:avLst/>
          </a:prstGeom>
          <a:noFill/>
        </p:spPr>
        <p:txBody>
          <a:bodyPr wrap="square" rtlCol="0">
            <a:spAutoFit/>
          </a:bodyPr>
          <a:lstStyle/>
          <a:p>
            <a:r>
              <a:rPr lang="vi-VN" altLang="en-PH" sz="3200" b="1">
                <a:solidFill>
                  <a:schemeClr val="bg1"/>
                </a:solidFill>
                <a:latin typeface="Times New Roman" panose="02020603050405020304" charset="0"/>
                <a:cs typeface="Times New Roman" panose="02020603050405020304" charset="0"/>
              </a:rPr>
              <a:t>Tổng kết</a:t>
            </a:r>
            <a:endParaRPr lang="vi-VN" altLang="en-PH" sz="3200" b="1">
              <a:solidFill>
                <a:schemeClr val="bg1"/>
              </a:solidFill>
              <a:latin typeface="Times New Roman" panose="02020603050405020304" charset="0"/>
              <a:cs typeface="Times New Roman" panose="02020603050405020304" charset="0"/>
            </a:endParaRPr>
          </a:p>
        </p:txBody>
      </p:sp>
      <p:pic>
        <p:nvPicPr>
          <p:cNvPr id="37" name="Graphic 36" descr="Director's Chair with solid fill"/>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8463" y="5751383"/>
            <a:ext cx="759345" cy="759345"/>
          </a:xfrm>
          <a:prstGeom prst="rect">
            <a:avLst/>
          </a:prstGeom>
        </p:spPr>
      </p:pic>
      <p:pic>
        <p:nvPicPr>
          <p:cNvPr id="38" name="Graphic 37" descr="DVD player with solid fill"/>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77021" y="1177208"/>
            <a:ext cx="759345" cy="759345"/>
          </a:xfrm>
          <a:prstGeom prst="rect">
            <a:avLst/>
          </a:prstGeom>
        </p:spPr>
      </p:pic>
      <p:pic>
        <p:nvPicPr>
          <p:cNvPr id="43" name="Graphic 42" descr="3d Glasses with solid fill"/>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378262" y="5751383"/>
            <a:ext cx="759345" cy="759345"/>
          </a:xfrm>
          <a:prstGeom prst="rect">
            <a:avLst/>
          </a:prstGeom>
        </p:spPr>
      </p:pic>
      <p:pic>
        <p:nvPicPr>
          <p:cNvPr id="44" name="Graphic 43" descr="Film reel with solid fill"/>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36167" y="5761724"/>
            <a:ext cx="759345" cy="759345"/>
          </a:xfrm>
          <a:prstGeom prst="rect">
            <a:avLst/>
          </a:prstGeom>
        </p:spPr>
      </p:pic>
      <p:pic>
        <p:nvPicPr>
          <p:cNvPr id="45" name="Graphic 44" descr="Optical disc with solid fill"/>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635548" y="1189462"/>
            <a:ext cx="759345" cy="759345"/>
          </a:xfrm>
          <a:prstGeom prst="rect">
            <a:avLst/>
          </a:prstGeom>
        </p:spPr>
      </p:pic>
      <p:pic>
        <p:nvPicPr>
          <p:cNvPr id="46" name="Graphic 45" descr="Film strip with solid fill"/>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220354">
            <a:off x="449919" y="1115861"/>
            <a:ext cx="759345" cy="882040"/>
          </a:xfrm>
          <a:prstGeom prst="rect">
            <a:avLst/>
          </a:prstGeom>
        </p:spPr>
      </p:pic>
      <p:pic>
        <p:nvPicPr>
          <p:cNvPr id="48" name="Graphic 47" descr="Theatre with solid fill"/>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765097" y="5751383"/>
            <a:ext cx="759345" cy="759345"/>
          </a:xfrm>
          <a:prstGeom prst="rect">
            <a:avLst/>
          </a:prstGeom>
        </p:spPr>
      </p:pic>
      <p:pic>
        <p:nvPicPr>
          <p:cNvPr id="49" name="Graphic 48" descr="Drama with solid fill"/>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539216" y="1141808"/>
            <a:ext cx="759345" cy="759345"/>
          </a:xfrm>
          <a:prstGeom prst="rect">
            <a:avLst/>
          </a:prstGeom>
        </p:spPr>
      </p:pic>
      <p:grpSp>
        <p:nvGrpSpPr>
          <p:cNvPr id="29" name="Group 28"/>
          <p:cNvGrpSpPr/>
          <p:nvPr/>
        </p:nvGrpSpPr>
        <p:grpSpPr>
          <a:xfrm rot="5400000" flipV="1">
            <a:off x="-3375115" y="3352257"/>
            <a:ext cx="6858002" cy="153487"/>
            <a:chOff x="-1" y="6732587"/>
            <a:chExt cx="12192000" cy="127731"/>
          </a:xfrm>
        </p:grpSpPr>
        <p:sp>
          <p:nvSpPr>
            <p:cNvPr id="30" name="Rectangle 29"/>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1" name="Rectangle 30"/>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2" name="Rectangle 31"/>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3" name="Rectangle 32"/>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pic>
        <p:nvPicPr>
          <p:cNvPr id="35" name="Picture 34" descr="Avocado Moody Foodies"/>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924319" y="5511911"/>
            <a:ext cx="1048770" cy="1048770"/>
          </a:xfrm>
          <a:prstGeom prst="rect">
            <a:avLst/>
          </a:prstGeom>
        </p:spPr>
      </p:pic>
      <p:pic>
        <p:nvPicPr>
          <p:cNvPr id="40" name="Picture 39" descr="Pear Moody Foodies"/>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461527" y="5779109"/>
            <a:ext cx="834962" cy="834962"/>
          </a:xfrm>
          <a:prstGeom prst="rect">
            <a:avLst/>
          </a:prstGeom>
        </p:spPr>
      </p:pic>
      <p:pic>
        <p:nvPicPr>
          <p:cNvPr id="41" name="Picture 40" descr="Apple Moody Foodies"/>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121738" y="5509507"/>
            <a:ext cx="1066988" cy="1066988"/>
          </a:xfrm>
          <a:prstGeom prst="rect">
            <a:avLst/>
          </a:prstGeom>
        </p:spPr>
      </p:pic>
      <p:pic>
        <p:nvPicPr>
          <p:cNvPr id="42" name="Picture 41" descr="Watermelon Moody Foodies"/>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200809" y="5662166"/>
            <a:ext cx="937775" cy="937775"/>
          </a:xfrm>
          <a:prstGeom prst="rect">
            <a:avLst/>
          </a:prstGeom>
        </p:spPr>
      </p:pic>
      <p:pic>
        <p:nvPicPr>
          <p:cNvPr id="47" name="Picture 46" descr="Banana Moody Foodies"/>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1298607" y="5670590"/>
            <a:ext cx="920929" cy="920929"/>
          </a:xfrm>
          <a:prstGeom prst="rect">
            <a:avLst/>
          </a:prstGeom>
        </p:spPr>
      </p:pic>
      <p:sp>
        <p:nvSpPr>
          <p:cNvPr id="50" name="Oval 49"/>
          <p:cNvSpPr/>
          <p:nvPr/>
        </p:nvSpPr>
        <p:spPr>
          <a:xfrm>
            <a:off x="-2821509" y="2775009"/>
            <a:ext cx="995680" cy="971973"/>
          </a:xfrm>
          <a:prstGeom prst="ellipse">
            <a:avLst/>
          </a:prstGeom>
          <a:blipFill dpi="0" rotWithShape="1">
            <a:blip r:embed="rId26">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1" name="Oval 50"/>
          <p:cNvSpPr/>
          <p:nvPr/>
        </p:nvSpPr>
        <p:spPr>
          <a:xfrm>
            <a:off x="-273032" y="-1785839"/>
            <a:ext cx="995680" cy="971973"/>
          </a:xfrm>
          <a:prstGeom prst="ellipse">
            <a:avLst/>
          </a:prstGeom>
          <a:blipFill dpi="0" rotWithShape="1">
            <a:blip r:embed="rId26">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2" name="Oval 51"/>
          <p:cNvSpPr/>
          <p:nvPr/>
        </p:nvSpPr>
        <p:spPr>
          <a:xfrm>
            <a:off x="14173439" y="2550860"/>
            <a:ext cx="995680" cy="971973"/>
          </a:xfrm>
          <a:prstGeom prst="ellipse">
            <a:avLst/>
          </a:prstGeom>
          <a:blipFill dpi="0" rotWithShape="1">
            <a:blip r:embed="rId26">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53" name="Oval 52"/>
          <p:cNvSpPr/>
          <p:nvPr/>
        </p:nvSpPr>
        <p:spPr>
          <a:xfrm>
            <a:off x="7769417" y="-1672285"/>
            <a:ext cx="995680" cy="971973"/>
          </a:xfrm>
          <a:prstGeom prst="ellipse">
            <a:avLst/>
          </a:prstGeom>
          <a:blipFill dpi="0" rotWithShape="1">
            <a:blip r:embed="rId26">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2" name="Text Box 1"/>
          <p:cNvSpPr txBox="1"/>
          <p:nvPr/>
        </p:nvSpPr>
        <p:spPr>
          <a:xfrm>
            <a:off x="3048000" y="1908810"/>
            <a:ext cx="8896350" cy="3538220"/>
          </a:xfrm>
          <a:prstGeom prst="rect">
            <a:avLst/>
          </a:prstGeom>
          <a:noFill/>
        </p:spPr>
        <p:txBody>
          <a:bodyPr wrap="square" rtlCol="0" anchor="t">
            <a:spAutoFit/>
          </a:bodyPr>
          <a:p>
            <a:r>
              <a:rPr lang="en-US" altLang="en-US" sz="2800" b="1">
                <a:solidFill>
                  <a:schemeClr val="bg1"/>
                </a:solidFill>
                <a:latin typeface="Times New Roman" panose="02020603050405020304" charset="0"/>
                <a:cs typeface="Times New Roman" panose="02020603050405020304" charset="0"/>
                <a:sym typeface="+mn-ea"/>
              </a:rPr>
              <a:t>Trong khi đó, Quản trị viên có quyền giám sát giao dịch, xác nhận khoản vay, theo dõi tiết kiệm, thống kê và xem thông tin tài khoản người dùng.</a:t>
            </a:r>
            <a:endParaRPr lang="en-US" altLang="en-US" sz="2800" b="1">
              <a:solidFill>
                <a:schemeClr val="bg1"/>
              </a:solidFill>
              <a:latin typeface="Times New Roman" panose="02020603050405020304" charset="0"/>
              <a:cs typeface="Times New Roman" panose="02020603050405020304" charset="0"/>
              <a:sym typeface="+mn-ea"/>
            </a:endParaRPr>
          </a:p>
          <a:p>
            <a:r>
              <a:rPr lang="en-US" altLang="en-US" sz="2800" b="1">
                <a:solidFill>
                  <a:schemeClr val="bg1"/>
                </a:solidFill>
                <a:latin typeface="Times New Roman" panose="02020603050405020304" charset="0"/>
                <a:cs typeface="Times New Roman" panose="02020603050405020304" charset="0"/>
                <a:sym typeface="+mn-ea"/>
              </a:rPr>
              <a:t> Hệ thống phân quyền rõ ràng giữa hai nhóm giúp bảo mật dữ liệu và tăng cường hiệu quả quản lý. </a:t>
            </a:r>
            <a:endParaRPr lang="en-US" altLang="en-US" sz="2800" b="1">
              <a:solidFill>
                <a:schemeClr val="bg1"/>
              </a:solidFill>
              <a:latin typeface="Times New Roman" panose="02020603050405020304" charset="0"/>
              <a:cs typeface="Times New Roman" panose="02020603050405020304" charset="0"/>
              <a:sym typeface="+mn-ea"/>
            </a:endParaRPr>
          </a:p>
          <a:p>
            <a:r>
              <a:rPr lang="en-US" altLang="en-US" sz="2800" b="1">
                <a:solidFill>
                  <a:schemeClr val="bg1"/>
                </a:solidFill>
                <a:latin typeface="Times New Roman" panose="02020603050405020304" charset="0"/>
                <a:cs typeface="Times New Roman" panose="02020603050405020304" charset="0"/>
                <a:sym typeface="+mn-ea"/>
              </a:rPr>
              <a:t>Chương trình này mang lại lợi ích cả về mặt tiện lợi cho khách hàng và khả năng giám sát, quản lý hiệu quả cho ngân hàng.</a:t>
            </a:r>
            <a:endParaRPr lang="en-US" altLang="en-US" sz="2800" b="1">
              <a:solidFill>
                <a:schemeClr val="bg1"/>
              </a:solidFill>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grpSp>
        <p:nvGrpSpPr>
          <p:cNvPr id="3" name="Group 2"/>
          <p:cNvGrpSpPr/>
          <p:nvPr/>
        </p:nvGrpSpPr>
        <p:grpSpPr>
          <a:xfrm>
            <a:off x="-1" y="6732588"/>
            <a:ext cx="12192001" cy="130049"/>
            <a:chOff x="-1" y="6732588"/>
            <a:chExt cx="12192001" cy="130049"/>
          </a:xfrm>
        </p:grpSpPr>
        <p:sp>
          <p:nvSpPr>
            <p:cNvPr id="12" name="Rectangle 11"/>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3" name="Rectangle 12"/>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4" name="Rectangle 13"/>
            <p:cNvSpPr/>
            <p:nvPr/>
          </p:nvSpPr>
          <p:spPr>
            <a:xfrm>
              <a:off x="6096000" y="6732588"/>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15" name="Rectangle 14"/>
            <p:cNvSpPr/>
            <p:nvPr/>
          </p:nvSpPr>
          <p:spPr>
            <a:xfrm>
              <a:off x="8947052" y="6732588"/>
              <a:ext cx="3244948" cy="130049"/>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grpSp>
      <p:sp>
        <p:nvSpPr>
          <p:cNvPr id="16" name="TextBox 15"/>
          <p:cNvSpPr txBox="1"/>
          <p:nvPr/>
        </p:nvSpPr>
        <p:spPr>
          <a:xfrm>
            <a:off x="3004764" y="2479985"/>
            <a:ext cx="6182472" cy="1630045"/>
          </a:xfrm>
          <a:prstGeom prst="rect">
            <a:avLst/>
          </a:prstGeom>
          <a:noFill/>
        </p:spPr>
        <p:txBody>
          <a:bodyPr wrap="square" rtlCol="0">
            <a:spAutoFit/>
          </a:bodyPr>
          <a:lstStyle/>
          <a:p>
            <a:pPr algn="ctr"/>
            <a:r>
              <a:rPr lang="vi-VN" altLang="en-PH" sz="8000" b="1">
                <a:gradFill>
                  <a:gsLst>
                    <a:gs pos="0">
                      <a:srgbClr val="FBFB11"/>
                    </a:gs>
                    <a:gs pos="100000">
                      <a:srgbClr val="838309"/>
                    </a:gs>
                  </a:gsLst>
                  <a:lin scaled="0"/>
                </a:gradFill>
                <a:latin typeface="Times New Roman" panose="02020603050405020304" charset="0"/>
                <a:cs typeface="Times New Roman" panose="02020603050405020304" charset="0"/>
                <a:sym typeface="+mn-ea"/>
              </a:rPr>
              <a:t>Nhóm</a:t>
            </a:r>
            <a:r>
              <a:rPr lang="vi-VN" altLang="en-PH" sz="8000" b="1">
                <a:solidFill>
                  <a:srgbClr val="4285F4"/>
                </a:solidFill>
                <a:latin typeface="Times New Roman" panose="02020603050405020304" charset="0"/>
                <a:cs typeface="Times New Roman" panose="02020603050405020304" charset="0"/>
                <a:sym typeface="+mn-ea"/>
              </a:rPr>
              <a:t> </a:t>
            </a:r>
            <a:r>
              <a:rPr lang="vi-VN" altLang="en-PH" sz="8000" b="1">
                <a:gradFill>
                  <a:gsLst>
                    <a:gs pos="0">
                      <a:srgbClr val="14CD68"/>
                    </a:gs>
                    <a:gs pos="100000">
                      <a:srgbClr val="0B6E38"/>
                    </a:gs>
                  </a:gsLst>
                  <a:lin scaled="0"/>
                </a:gradFill>
                <a:latin typeface="Times New Roman" panose="02020603050405020304" charset="0"/>
                <a:cs typeface="Times New Roman" panose="02020603050405020304" charset="0"/>
                <a:sym typeface="+mn-ea"/>
              </a:rPr>
              <a:t>10</a:t>
            </a:r>
            <a:endParaRPr lang="vi-VN" altLang="en-PH" sz="8000" b="1">
              <a:gradFill>
                <a:gsLst>
                  <a:gs pos="0">
                    <a:srgbClr val="14CD68"/>
                  </a:gs>
                  <a:gs pos="100000">
                    <a:srgbClr val="0B6E38"/>
                  </a:gs>
                </a:gsLst>
                <a:lin scaled="0"/>
              </a:gradFill>
              <a:latin typeface="Times New Roman" panose="02020603050405020304" charset="0"/>
              <a:cs typeface="Times New Roman" panose="02020603050405020304" charset="0"/>
            </a:endParaRPr>
          </a:p>
          <a:p>
            <a:pPr algn="ctr"/>
            <a:endParaRPr lang="en-PH" sz="2000" dirty="0">
              <a:latin typeface="Times New Roman" panose="02020603050405020304" charset="0"/>
              <a:cs typeface="Times New Roman" panose="02020603050405020304" charset="0"/>
            </a:endParaRPr>
          </a:p>
        </p:txBody>
      </p:sp>
      <p:grpSp>
        <p:nvGrpSpPr>
          <p:cNvPr id="18" name="Group 17"/>
          <p:cNvGrpSpPr/>
          <p:nvPr/>
        </p:nvGrpSpPr>
        <p:grpSpPr>
          <a:xfrm>
            <a:off x="-8538373" y="346935"/>
            <a:ext cx="6654018" cy="550671"/>
            <a:chOff x="2768991" y="3077691"/>
            <a:chExt cx="6654018" cy="550671"/>
          </a:xfrm>
        </p:grpSpPr>
        <p:sp>
          <p:nvSpPr>
            <p:cNvPr id="19" name="Rectangle: Rounded Corners 18"/>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20" name="Picture 19"/>
            <p:cNvPicPr>
              <a:picLocks noChangeAspect="1"/>
            </p:cNvPicPr>
            <p:nvPr/>
          </p:nvPicPr>
          <p:blipFill>
            <a:blip r:embed="rId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21" name="Picture 20" descr="Icon&#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23" name="TextBox 22"/>
          <p:cNvSpPr txBox="1"/>
          <p:nvPr/>
        </p:nvSpPr>
        <p:spPr>
          <a:xfrm>
            <a:off x="-7893530" y="436727"/>
            <a:ext cx="5300471" cy="369332"/>
          </a:xfrm>
          <a:prstGeom prst="rect">
            <a:avLst/>
          </a:prstGeom>
          <a:noFill/>
        </p:spPr>
        <p:txBody>
          <a:bodyPr wrap="square" rtlCol="0">
            <a:spAutoFit/>
          </a:bodyPr>
          <a:lstStyle/>
          <a:p>
            <a:r>
              <a:rPr lang="en-US">
                <a:solidFill>
                  <a:schemeClr val="bg1">
                    <a:lumMod val="50000"/>
                  </a:schemeClr>
                </a:solidFill>
                <a:latin typeface="Times New Roman" panose="02020603050405020304" charset="0"/>
                <a:cs typeface="Times New Roman" panose="02020603050405020304" charset="0"/>
              </a:rPr>
              <a:t>Chủ đề nội dung </a:t>
            </a:r>
            <a:endParaRPr lang="en-US">
              <a:solidFill>
                <a:schemeClr val="bg1">
                  <a:lumMod val="50000"/>
                </a:schemeClr>
              </a:solidFill>
              <a:latin typeface="Times New Roman" panose="02020603050405020304" charset="0"/>
              <a:cs typeface="Times New Roman" panose="02020603050405020304" charset="0"/>
            </a:endParaRPr>
          </a:p>
        </p:txBody>
      </p:sp>
      <p:pic>
        <p:nvPicPr>
          <p:cNvPr id="24" name="Picture 23" descr="Chart, logo, company name, bubble chart&#10;&#10;Description automatically generated"/>
          <p:cNvPicPr>
            <a:picLocks noChangeAspect="1"/>
          </p:cNvPicPr>
          <p:nvPr/>
        </p:nvPicPr>
        <p:blipFill rotWithShape="1">
          <a:blip r:embed="rId3">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a:fillRect/>
          </a:stretch>
        </p:blipFill>
        <p:spPr>
          <a:xfrm>
            <a:off x="-1774694" y="386390"/>
            <a:ext cx="609591" cy="494614"/>
          </a:xfrm>
          <a:prstGeom prst="rect">
            <a:avLst/>
          </a:prstGeom>
        </p:spPr>
      </p:pic>
      <p:pic>
        <p:nvPicPr>
          <p:cNvPr id="25" name="Graphic 24" descr="DVD player with solid fill"/>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20195" y="1177208"/>
            <a:ext cx="759345" cy="759345"/>
          </a:xfrm>
          <a:prstGeom prst="rect">
            <a:avLst/>
          </a:prstGeom>
        </p:spPr>
      </p:pic>
      <p:pic>
        <p:nvPicPr>
          <p:cNvPr id="29" name="Graphic 28" descr="Optical disc with solid fill"/>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61668" y="1189462"/>
            <a:ext cx="759345" cy="759345"/>
          </a:xfrm>
          <a:prstGeom prst="rect">
            <a:avLst/>
          </a:prstGeom>
        </p:spPr>
      </p:pic>
      <p:pic>
        <p:nvPicPr>
          <p:cNvPr id="30" name="Graphic 29" descr="Film strip with solid fill"/>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9220354">
            <a:off x="-4847297" y="1115861"/>
            <a:ext cx="759345" cy="882040"/>
          </a:xfrm>
          <a:prstGeom prst="rect">
            <a:avLst/>
          </a:prstGeom>
        </p:spPr>
      </p:pic>
      <p:pic>
        <p:nvPicPr>
          <p:cNvPr id="31" name="Graphic 30" descr="Drama with solid fill"/>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758000" y="1141808"/>
            <a:ext cx="759345" cy="759345"/>
          </a:xfrm>
          <a:prstGeom prst="rect">
            <a:avLst/>
          </a:prstGeom>
        </p:spPr>
      </p:pic>
      <p:pic>
        <p:nvPicPr>
          <p:cNvPr id="32" name="Graphic 31" descr="Director's Chair with solid fill"/>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208463" y="7895499"/>
            <a:ext cx="759345" cy="759345"/>
          </a:xfrm>
          <a:prstGeom prst="rect">
            <a:avLst/>
          </a:prstGeom>
        </p:spPr>
      </p:pic>
      <p:pic>
        <p:nvPicPr>
          <p:cNvPr id="33" name="Graphic 32" descr="3d Glasses with solid fill"/>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78262" y="7895499"/>
            <a:ext cx="759345" cy="759345"/>
          </a:xfrm>
          <a:prstGeom prst="rect">
            <a:avLst/>
          </a:prstGeom>
        </p:spPr>
      </p:pic>
      <p:pic>
        <p:nvPicPr>
          <p:cNvPr id="34" name="Graphic 33" descr="Film reel with solid fill"/>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136167" y="7905840"/>
            <a:ext cx="759345" cy="759345"/>
          </a:xfrm>
          <a:prstGeom prst="rect">
            <a:avLst/>
          </a:prstGeom>
        </p:spPr>
      </p:pic>
      <p:pic>
        <p:nvPicPr>
          <p:cNvPr id="35" name="Graphic 34" descr="Theatre with solid fill"/>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765097" y="7895499"/>
            <a:ext cx="759345" cy="759345"/>
          </a:xfrm>
          <a:prstGeom prst="rect">
            <a:avLst/>
          </a:prstGeom>
        </p:spPr>
      </p:pic>
      <p:sp>
        <p:nvSpPr>
          <p:cNvPr id="36" name="Oval 35"/>
          <p:cNvSpPr/>
          <p:nvPr/>
        </p:nvSpPr>
        <p:spPr>
          <a:xfrm>
            <a:off x="10817067" y="-738629"/>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7" name="Oval 36"/>
          <p:cNvSpPr/>
          <p:nvPr/>
        </p:nvSpPr>
        <p:spPr>
          <a:xfrm>
            <a:off x="11257230" y="-734769"/>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sp>
        <p:nvSpPr>
          <p:cNvPr id="38" name="Oval 37"/>
          <p:cNvSpPr/>
          <p:nvPr/>
        </p:nvSpPr>
        <p:spPr>
          <a:xfrm>
            <a:off x="11668510" y="-738629"/>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charset="0"/>
              <a:cs typeface="Times New Roman" panose="02020603050405020304" charset="0"/>
            </a:endParaRPr>
          </a:p>
        </p:txBody>
      </p:sp>
      <p:pic>
        <p:nvPicPr>
          <p:cNvPr id="39" name="Picture 38" descr="Avocado Moody Foodies"/>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642499" y="4646320"/>
            <a:ext cx="1048770" cy="1048770"/>
          </a:xfrm>
          <a:prstGeom prst="rect">
            <a:avLst/>
          </a:prstGeom>
        </p:spPr>
      </p:pic>
      <p:pic>
        <p:nvPicPr>
          <p:cNvPr id="40" name="Picture 39" descr="Pear Moody Foodies"/>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256974" y="5754532"/>
            <a:ext cx="834962" cy="834962"/>
          </a:xfrm>
          <a:prstGeom prst="rect">
            <a:avLst/>
          </a:prstGeom>
        </p:spPr>
      </p:pic>
      <p:pic>
        <p:nvPicPr>
          <p:cNvPr id="41" name="Picture 40" descr="Apple Moody Foodies"/>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82984" y="5373459"/>
            <a:ext cx="1066988" cy="1066988"/>
          </a:xfrm>
          <a:prstGeom prst="rect">
            <a:avLst/>
          </a:prstGeom>
        </p:spPr>
      </p:pic>
      <p:pic>
        <p:nvPicPr>
          <p:cNvPr id="42" name="Picture 41" descr="Watermelon Moody Foodies"/>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7292172" y="4969178"/>
            <a:ext cx="937775" cy="937775"/>
          </a:xfrm>
          <a:prstGeom prst="rect">
            <a:avLst/>
          </a:prstGeom>
        </p:spPr>
      </p:pic>
      <p:pic>
        <p:nvPicPr>
          <p:cNvPr id="43" name="Picture 42" descr="Banana Moody Foodies"/>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4354392" y="5294068"/>
            <a:ext cx="920929" cy="920929"/>
          </a:xfrm>
          <a:prstGeom prst="rect">
            <a:avLst/>
          </a:prstGeom>
        </p:spPr>
      </p:pic>
      <p:sp>
        <p:nvSpPr>
          <p:cNvPr id="44" name="TextBox 43"/>
          <p:cNvSpPr txBox="1"/>
          <p:nvPr/>
        </p:nvSpPr>
        <p:spPr>
          <a:xfrm>
            <a:off x="2762885" y="3739515"/>
            <a:ext cx="6600825" cy="521970"/>
          </a:xfrm>
          <a:prstGeom prst="rect">
            <a:avLst/>
          </a:prstGeom>
          <a:noFill/>
        </p:spPr>
        <p:txBody>
          <a:bodyPr wrap="square" rtlCol="0">
            <a:spAutoFit/>
          </a:bodyPr>
          <a:lstStyle/>
          <a:p>
            <a:pPr algn="ctr"/>
            <a:r>
              <a:rPr lang="vi-VN" altLang="en-US" sz="2800" b="1">
                <a:solidFill>
                  <a:schemeClr val="bg1"/>
                </a:solidFill>
                <a:latin typeface="Times New Roman" panose="02020603050405020304" charset="0"/>
                <a:cs typeface="Times New Roman" panose="02020603050405020304" charset="0"/>
              </a:rPr>
              <a:t>Cảm ơn cô và các bạn đã lắng nghe</a:t>
            </a:r>
            <a:r>
              <a:rPr lang="en-US" sz="2800" b="1">
                <a:solidFill>
                  <a:schemeClr val="bg1"/>
                </a:solidFill>
                <a:latin typeface="Times New Roman" panose="02020603050405020304" charset="0"/>
                <a:cs typeface="Times New Roman" panose="02020603050405020304" charset="0"/>
              </a:rPr>
              <a:t>!</a:t>
            </a:r>
            <a:endParaRPr lang="vi-VN" sz="2800" b="1">
              <a:solidFill>
                <a:schemeClr val="bg1"/>
              </a:solidFill>
              <a:latin typeface="Times New Roman" panose="02020603050405020304" charset="0"/>
              <a:cs typeface="Times New Roman" panose="02020603050405020304" charset="0"/>
            </a:endParaRPr>
          </a:p>
        </p:txBody>
      </p:sp>
      <p:sp>
        <p:nvSpPr>
          <p:cNvPr id="45" name="Oval 44"/>
          <p:cNvSpPr/>
          <p:nvPr/>
        </p:nvSpPr>
        <p:spPr>
          <a:xfrm>
            <a:off x="729411" y="2323619"/>
            <a:ext cx="995680" cy="971973"/>
          </a:xfrm>
          <a:prstGeom prst="ellipse">
            <a:avLst/>
          </a:prstGeom>
          <a:blipFill dpi="0" rotWithShape="1">
            <a:blip r:embed="rId26">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6" name="Oval 45"/>
          <p:cNvSpPr/>
          <p:nvPr/>
        </p:nvSpPr>
        <p:spPr>
          <a:xfrm>
            <a:off x="3072776" y="686346"/>
            <a:ext cx="995680" cy="971973"/>
          </a:xfrm>
          <a:prstGeom prst="ellipse">
            <a:avLst/>
          </a:prstGeom>
          <a:blipFill dpi="0" rotWithShape="1">
            <a:blip r:embed="rId26">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7" name="Oval 46"/>
          <p:cNvSpPr/>
          <p:nvPr/>
        </p:nvSpPr>
        <p:spPr>
          <a:xfrm>
            <a:off x="10515839" y="2323620"/>
            <a:ext cx="995680" cy="971973"/>
          </a:xfrm>
          <a:prstGeom prst="ellipse">
            <a:avLst/>
          </a:prstGeom>
          <a:blipFill dpi="0" rotWithShape="1">
            <a:blip r:embed="rId26">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
        <p:nvSpPr>
          <p:cNvPr id="48" name="Oval 47"/>
          <p:cNvSpPr/>
          <p:nvPr/>
        </p:nvSpPr>
        <p:spPr>
          <a:xfrm>
            <a:off x="7369693" y="719458"/>
            <a:ext cx="995680" cy="971973"/>
          </a:xfrm>
          <a:prstGeom prst="ellipse">
            <a:avLst/>
          </a:prstGeom>
          <a:blipFill dpi="0" rotWithShape="1">
            <a:blip r:embed="rId26">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80"/>
                                  </p:iterate>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3960</Words>
  <Application>WPS Presentation</Application>
  <PresentationFormat>Widescreen</PresentationFormat>
  <Paragraphs>283</Paragraphs>
  <Slides>17</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17</vt:i4>
      </vt:variant>
    </vt:vector>
  </HeadingPairs>
  <TitlesOfParts>
    <vt:vector size="33" baseType="lpstr">
      <vt:lpstr>Arial</vt:lpstr>
      <vt:lpstr>SimSun</vt:lpstr>
      <vt:lpstr>Wingdings</vt:lpstr>
      <vt:lpstr>Product Sans</vt:lpstr>
      <vt:lpstr>Yu Gothic UI Semilight</vt:lpstr>
      <vt:lpstr>SVN-Product Sans</vt:lpstr>
      <vt:lpstr>Calibri</vt:lpstr>
      <vt:lpstr>Microsoft YaHei</vt:lpstr>
      <vt:lpstr>Arial Unicode MS</vt:lpstr>
      <vt:lpstr>Calibri Light</vt:lpstr>
      <vt:lpstr>Times New Roman</vt:lpstr>
      <vt:lpstr>Arial Rounded MT Bold</vt:lpstr>
      <vt:lpstr>Arial Black</vt:lpstr>
      <vt:lpstr>Algerian</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Rachel Ann Catipon</dc:creator>
  <cp:lastModifiedBy>Thế Dương Đào</cp:lastModifiedBy>
  <cp:revision>71</cp:revision>
  <dcterms:created xsi:type="dcterms:W3CDTF">2021-04-09T16:30:00Z</dcterms:created>
  <dcterms:modified xsi:type="dcterms:W3CDTF">2024-11-21T16:21:49Z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8E3130BD0B6F44A5A032E33B6E8D63EA_13</vt:lpwstr>
  </property>
  <property fmtid="{D5CDD505-2E9C-101B-9397-08002B2CF9AE}" pid="3" name="KSOProductBuildVer">
    <vt:lpwstr>1033-12.2.0.18911</vt:lpwstr>
  </property>
</Properties>
</file>